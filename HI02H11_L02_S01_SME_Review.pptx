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84" r:id="rId7"/>
    <p:sldId id="285" r:id="rId8"/>
    <p:sldId id="261" r:id="rId9"/>
    <p:sldId id="286" r:id="rId10"/>
    <p:sldId id="262" r:id="rId11"/>
    <p:sldId id="263" r:id="rId12"/>
    <p:sldId id="278" r:id="rId13"/>
    <p:sldId id="279" r:id="rId14"/>
    <p:sldId id="266" r:id="rId15"/>
    <p:sldId id="280" r:id="rId16"/>
    <p:sldId id="282" r:id="rId17"/>
    <p:sldId id="287" r:id="rId18"/>
    <p:sldId id="283" r:id="rId19"/>
    <p:sldId id="27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750" autoAdjust="0"/>
  </p:normalViewPr>
  <p:slideViewPr>
    <p:cSldViewPr snapToGrid="0" snapToObjects="1">
      <p:cViewPr varScale="1">
        <p:scale>
          <a:sx n="67" d="100"/>
          <a:sy n="67" d="100"/>
        </p:scale>
        <p:origin x="62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A1DEE7-C219-46D7-930C-F6F8693ED615}" type="datetimeFigureOut">
              <a:rPr lang="en-IN" smtClean="0"/>
              <a:t>16-09-2026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8D0E46-8C9D-41DC-B81C-31859D5EE714}" type="slidenum">
              <a:rPr lang="en-IN" smtClean="0"/>
              <a:t>‹#›</a:t>
            </a:fld>
            <a:endParaRPr lang="en-IN"/>
          </a:p>
        </p:txBody>
      </p:sp>
    </p:spTree>
    <p:extLst>
      <p:ext uri="{BB962C8B-B14F-4D97-AF65-F5344CB8AC3E}">
        <p14:creationId xmlns:p14="http://schemas.microsoft.com/office/powerpoint/2010/main" val="1658638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New Heading:</a:t>
            </a:r>
            <a:br>
              <a:rPr lang="en-IN" dirty="0"/>
            </a:br>
            <a:r>
              <a:rPr lang="hi-IN" b="1" dirty="0"/>
              <a:t>मात्राओं की रेल</a:t>
            </a:r>
            <a:endParaRPr lang="hi-IN" dirty="0"/>
          </a:p>
          <a:p>
            <a:r>
              <a:rPr lang="en-IN" b="1" dirty="0"/>
              <a:t>Screen Changes:</a:t>
            </a:r>
            <a:endParaRPr lang="en-IN" dirty="0"/>
          </a:p>
          <a:p>
            <a:pPr>
              <a:buFont typeface="Arial" panose="020B0604020202020204" pitchFamily="34" charset="0"/>
              <a:buChar char="•"/>
            </a:pPr>
            <a:r>
              <a:rPr lang="en-IN" dirty="0"/>
              <a:t>Remove all extra text that is not required. </a:t>
            </a:r>
          </a:p>
          <a:p>
            <a:pPr>
              <a:buFont typeface="Arial" panose="020B0604020202020204" pitchFamily="34" charset="0"/>
              <a:buChar char="•"/>
            </a:pPr>
            <a:r>
              <a:rPr lang="en-IN" dirty="0"/>
              <a:t>Keep the screen clean and minimal. </a:t>
            </a:r>
          </a:p>
          <a:p>
            <a:pPr>
              <a:buFont typeface="Arial" panose="020B0604020202020204" pitchFamily="34" charset="0"/>
              <a:buChar char="•"/>
            </a:pPr>
            <a:r>
              <a:rPr lang="en-IN" dirty="0"/>
              <a:t>Show only three </a:t>
            </a:r>
            <a:r>
              <a:rPr lang="en-IN" dirty="0" err="1"/>
              <a:t>matra</a:t>
            </a:r>
            <a:r>
              <a:rPr lang="en-IN" dirty="0"/>
              <a:t> boxes/cards: </a:t>
            </a:r>
          </a:p>
          <a:p>
            <a:pPr marL="742950" lvl="1" indent="-285750">
              <a:buFont typeface="Arial" panose="020B0604020202020204" pitchFamily="34" charset="0"/>
              <a:buChar char="•"/>
            </a:pPr>
            <a:r>
              <a:rPr lang="en-IN" b="1" dirty="0"/>
              <a:t>1st box:</a:t>
            </a:r>
            <a:r>
              <a:rPr lang="en-IN" dirty="0"/>
              <a:t> </a:t>
            </a:r>
            <a:r>
              <a:rPr lang="hi-IN" dirty="0"/>
              <a:t>ा </a:t>
            </a:r>
          </a:p>
          <a:p>
            <a:pPr marL="742950" lvl="1" indent="-285750">
              <a:buFont typeface="Arial" panose="020B0604020202020204" pitchFamily="34" charset="0"/>
              <a:buChar char="•"/>
            </a:pPr>
            <a:r>
              <a:rPr lang="hi-IN" b="1" dirty="0"/>
              <a:t>2</a:t>
            </a:r>
            <a:r>
              <a:rPr lang="en-IN" b="1" dirty="0" err="1"/>
              <a:t>nd</a:t>
            </a:r>
            <a:r>
              <a:rPr lang="en-IN" b="1" dirty="0"/>
              <a:t> box:</a:t>
            </a:r>
            <a:r>
              <a:rPr lang="en-IN" dirty="0"/>
              <a:t> </a:t>
            </a:r>
            <a:r>
              <a:rPr lang="hi-IN" dirty="0"/>
              <a:t>ि </a:t>
            </a:r>
          </a:p>
          <a:p>
            <a:pPr marL="742950" lvl="1" indent="-285750">
              <a:buFont typeface="Arial" panose="020B0604020202020204" pitchFamily="34" charset="0"/>
              <a:buChar char="•"/>
            </a:pPr>
            <a:r>
              <a:rPr lang="hi-IN" b="1" dirty="0"/>
              <a:t>3</a:t>
            </a:r>
            <a:r>
              <a:rPr lang="en-IN" b="1" dirty="0" err="1"/>
              <a:t>rd</a:t>
            </a:r>
            <a:r>
              <a:rPr lang="en-IN" b="1" dirty="0"/>
              <a:t> box:</a:t>
            </a:r>
            <a:r>
              <a:rPr lang="en-IN" dirty="0"/>
              <a:t> </a:t>
            </a:r>
            <a:r>
              <a:rPr lang="hi-IN" dirty="0"/>
              <a:t>ी </a:t>
            </a:r>
          </a:p>
          <a:p>
            <a:pPr>
              <a:buFont typeface="Arial" panose="020B0604020202020204" pitchFamily="34" charset="0"/>
              <a:buChar char="•"/>
            </a:pPr>
            <a:r>
              <a:rPr lang="en-IN" dirty="0"/>
              <a:t>Keep the existing mascot and overall UI/UX style unchanged. </a:t>
            </a:r>
          </a:p>
          <a:p>
            <a:r>
              <a:rPr lang="en-IN" b="1" dirty="0"/>
              <a:t>Animation:</a:t>
            </a:r>
            <a:endParaRPr lang="en-IN" dirty="0"/>
          </a:p>
          <a:p>
            <a:pPr>
              <a:buFont typeface="Arial" panose="020B0604020202020204" pitchFamily="34" charset="0"/>
              <a:buChar char="•"/>
            </a:pPr>
            <a:r>
              <a:rPr lang="en-IN" dirty="0"/>
              <a:t>If possible, bring the train onto the screen with a smooth </a:t>
            </a:r>
            <a:r>
              <a:rPr lang="en-IN" b="1" dirty="0"/>
              <a:t>right-to-left animation</a:t>
            </a:r>
            <a:r>
              <a:rPr lang="en-IN" dirty="0"/>
              <a:t>. </a:t>
            </a:r>
          </a:p>
          <a:p>
            <a:pPr>
              <a:buFont typeface="Arial" panose="020B0604020202020204" pitchFamily="34" charset="0"/>
              <a:buChar char="•"/>
            </a:pPr>
            <a:r>
              <a:rPr lang="en-IN" dirty="0"/>
              <a:t>The three </a:t>
            </a:r>
            <a:r>
              <a:rPr lang="en-IN" dirty="0" err="1"/>
              <a:t>matra</a:t>
            </a:r>
            <a:r>
              <a:rPr lang="en-IN" dirty="0"/>
              <a:t> boxes can appear one by one with a soft pop/fade animation. </a:t>
            </a:r>
          </a:p>
          <a:p>
            <a:pPr>
              <a:buFont typeface="Arial" panose="020B0604020202020204" pitchFamily="34" charset="0"/>
              <a:buChar char="•"/>
            </a:pPr>
            <a:r>
              <a:rPr lang="en-IN" dirty="0"/>
              <a:t>Keep animations subtle and child-friendly. </a:t>
            </a:r>
          </a:p>
          <a:p>
            <a:r>
              <a:rPr lang="en-IN" b="1" dirty="0"/>
              <a:t>SFX:</a:t>
            </a:r>
            <a:endParaRPr lang="en-IN" dirty="0"/>
          </a:p>
          <a:p>
            <a:pPr>
              <a:buFont typeface="Arial" panose="020B0604020202020204" pitchFamily="34" charset="0"/>
              <a:buChar char="•"/>
            </a:pPr>
            <a:r>
              <a:rPr lang="en-IN" dirty="0"/>
              <a:t>Add a soft </a:t>
            </a:r>
            <a:r>
              <a:rPr lang="en-IN" b="1" dirty="0"/>
              <a:t>train arrival / whistle SFX</a:t>
            </a:r>
            <a:r>
              <a:rPr lang="en-IN" dirty="0"/>
              <a:t> when the train enters. </a:t>
            </a:r>
          </a:p>
          <a:p>
            <a:pPr>
              <a:buFont typeface="Arial" panose="020B0604020202020204" pitchFamily="34" charset="0"/>
              <a:buChar char="•"/>
            </a:pPr>
            <a:r>
              <a:rPr lang="en-IN" dirty="0"/>
              <a:t>Add a light sparkle/pop SFX when each </a:t>
            </a:r>
            <a:r>
              <a:rPr lang="en-IN" dirty="0" err="1"/>
              <a:t>matra</a:t>
            </a:r>
            <a:r>
              <a:rPr lang="en-IN" dirty="0"/>
              <a:t> appears. </a:t>
            </a:r>
          </a:p>
          <a:p>
            <a:r>
              <a:rPr lang="en-IN" b="1" dirty="0"/>
              <a:t>VO:</a:t>
            </a:r>
            <a:br>
              <a:rPr lang="en-IN" dirty="0"/>
            </a:br>
            <a:r>
              <a:rPr lang="en-IN" b="1" dirty="0"/>
              <a:t>“</a:t>
            </a:r>
            <a:r>
              <a:rPr lang="hi-IN" b="1" dirty="0"/>
              <a:t>हेलो दोस्त! मैं हूँ स्विफ्टी। आज हम मात्राओं के बारे में जानेंगे।”</a:t>
            </a:r>
            <a:endParaRPr lang="hi-IN" dirty="0"/>
          </a:p>
          <a:p>
            <a:r>
              <a:rPr lang="en-IN" dirty="0"/>
              <a:t>After this VO, the three </a:t>
            </a:r>
            <a:r>
              <a:rPr lang="en-IN" dirty="0" err="1"/>
              <a:t>matras</a:t>
            </a:r>
            <a:r>
              <a:rPr lang="en-IN" dirty="0"/>
              <a:t> </a:t>
            </a:r>
            <a:r>
              <a:rPr lang="hi-IN" b="1" dirty="0"/>
              <a:t>ा, ि, ी</a:t>
            </a:r>
            <a:r>
              <a:rPr lang="hi-IN" dirty="0"/>
              <a:t> </a:t>
            </a:r>
            <a:r>
              <a:rPr lang="en-IN" dirty="0"/>
              <a:t>can appear one by one on screen.</a:t>
            </a:r>
          </a:p>
          <a:p>
            <a:endParaRPr lang="en-IN" dirty="0"/>
          </a:p>
        </p:txBody>
      </p:sp>
      <p:sp>
        <p:nvSpPr>
          <p:cNvPr id="4" name="Slide Number Placeholder 3"/>
          <p:cNvSpPr>
            <a:spLocks noGrp="1"/>
          </p:cNvSpPr>
          <p:nvPr>
            <p:ph type="sldNum" sz="quarter" idx="5"/>
          </p:nvPr>
        </p:nvSpPr>
        <p:spPr/>
        <p:txBody>
          <a:bodyPr/>
          <a:lstStyle/>
          <a:p>
            <a:fld id="{2E8D0E46-8C9D-41DC-B81C-31859D5EE714}" type="slidenum">
              <a:rPr lang="en-IN" smtClean="0"/>
              <a:t>3</a:t>
            </a:fld>
            <a:endParaRPr lang="en-IN"/>
          </a:p>
        </p:txBody>
      </p:sp>
    </p:spTree>
    <p:extLst>
      <p:ext uri="{BB962C8B-B14F-4D97-AF65-F5344CB8AC3E}">
        <p14:creationId xmlns:p14="http://schemas.microsoft.com/office/powerpoint/2010/main" val="4749011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Recommendation</a:t>
            </a:r>
            <a:endParaRPr lang="en-GB" dirty="0"/>
          </a:p>
          <a:p>
            <a:r>
              <a:rPr lang="en-GB" b="1" dirty="0"/>
              <a:t>VO:</a:t>
            </a:r>
            <a:br>
              <a:rPr lang="en-GB" dirty="0"/>
            </a:br>
            <a:r>
              <a:rPr lang="en-GB" dirty="0"/>
              <a:t>“</a:t>
            </a:r>
            <a:r>
              <a:rPr lang="en-GB" dirty="0" err="1"/>
              <a:t>आज</a:t>
            </a:r>
            <a:r>
              <a:rPr lang="en-GB" dirty="0"/>
              <a:t> </a:t>
            </a:r>
            <a:r>
              <a:rPr lang="en-GB" dirty="0" err="1"/>
              <a:t>हम</a:t>
            </a:r>
            <a:r>
              <a:rPr lang="en-GB" dirty="0"/>
              <a:t> </a:t>
            </a:r>
            <a:r>
              <a:rPr lang="en-GB" dirty="0" err="1"/>
              <a:t>बड़ी</a:t>
            </a:r>
            <a:r>
              <a:rPr lang="en-GB" dirty="0"/>
              <a:t> आ </a:t>
            </a:r>
            <a:r>
              <a:rPr lang="en-GB" dirty="0" err="1"/>
              <a:t>की</a:t>
            </a:r>
            <a:r>
              <a:rPr lang="en-GB" dirty="0"/>
              <a:t> </a:t>
            </a:r>
            <a:r>
              <a:rPr lang="en-GB" dirty="0" err="1"/>
              <a:t>मात्रा</a:t>
            </a:r>
            <a:r>
              <a:rPr lang="en-GB" dirty="0"/>
              <a:t>, </a:t>
            </a:r>
            <a:r>
              <a:rPr lang="en-GB" dirty="0" err="1"/>
              <a:t>छोटी</a:t>
            </a:r>
            <a:r>
              <a:rPr lang="en-GB" dirty="0"/>
              <a:t> इ </a:t>
            </a:r>
            <a:r>
              <a:rPr lang="en-GB" dirty="0" err="1"/>
              <a:t>की</a:t>
            </a:r>
            <a:r>
              <a:rPr lang="en-GB" dirty="0"/>
              <a:t> </a:t>
            </a:r>
            <a:r>
              <a:rPr lang="en-GB" dirty="0" err="1"/>
              <a:t>मात्रा</a:t>
            </a:r>
            <a:r>
              <a:rPr lang="en-GB" dirty="0"/>
              <a:t> </a:t>
            </a:r>
            <a:r>
              <a:rPr lang="en-GB" dirty="0" err="1"/>
              <a:t>और</a:t>
            </a:r>
            <a:r>
              <a:rPr lang="en-GB" dirty="0"/>
              <a:t> </a:t>
            </a:r>
            <a:r>
              <a:rPr lang="en-GB" dirty="0" err="1"/>
              <a:t>बड़ी</a:t>
            </a:r>
            <a:r>
              <a:rPr lang="en-GB" dirty="0"/>
              <a:t> ई </a:t>
            </a:r>
            <a:r>
              <a:rPr lang="en-GB" dirty="0" err="1"/>
              <a:t>की</a:t>
            </a:r>
            <a:r>
              <a:rPr lang="en-GB" dirty="0"/>
              <a:t> </a:t>
            </a:r>
            <a:r>
              <a:rPr lang="en-GB" dirty="0" err="1"/>
              <a:t>मात्रा</a:t>
            </a:r>
            <a:r>
              <a:rPr lang="en-GB" dirty="0"/>
              <a:t> </a:t>
            </a:r>
            <a:r>
              <a:rPr lang="en-GB" dirty="0" err="1"/>
              <a:t>वाले</a:t>
            </a:r>
            <a:r>
              <a:rPr lang="en-GB" dirty="0"/>
              <a:t> </a:t>
            </a:r>
            <a:r>
              <a:rPr lang="en-GB" dirty="0" err="1"/>
              <a:t>शब्द</a:t>
            </a:r>
            <a:r>
              <a:rPr lang="en-GB" dirty="0"/>
              <a:t> </a:t>
            </a:r>
            <a:r>
              <a:rPr lang="en-GB" dirty="0" err="1"/>
              <a:t>पढ़ेंगे</a:t>
            </a:r>
            <a:r>
              <a:rPr lang="en-GB" dirty="0"/>
              <a:t>।” (removing </a:t>
            </a:r>
            <a:r>
              <a:rPr lang="en-GB" dirty="0" err="1"/>
              <a:t>chota</a:t>
            </a:r>
            <a:r>
              <a:rPr lang="en-GB" dirty="0"/>
              <a:t> or </a:t>
            </a:r>
            <a:r>
              <a:rPr lang="en-GB" dirty="0" err="1"/>
              <a:t>bada</a:t>
            </a:r>
            <a:r>
              <a:rPr lang="en-GB" dirty="0"/>
              <a:t>)</a:t>
            </a:r>
          </a:p>
          <a:p>
            <a:r>
              <a:rPr lang="en-GB" b="1" dirty="0"/>
              <a:t>On Screen:</a:t>
            </a:r>
            <a:endParaRPr lang="en-GB" dirty="0"/>
          </a:p>
          <a:p>
            <a:pPr>
              <a:buFont typeface="Arial" panose="020B0604020202020204" pitchFamily="34" charset="0"/>
              <a:buChar char="•"/>
            </a:pPr>
            <a:r>
              <a:rPr lang="en-GB" dirty="0"/>
              <a:t>Remove the current heading text from the top. </a:t>
            </a:r>
          </a:p>
          <a:p>
            <a:pPr>
              <a:buFont typeface="Arial" panose="020B0604020202020204" pitchFamily="34" charset="0"/>
              <a:buChar char="•"/>
            </a:pPr>
            <a:r>
              <a:rPr lang="en-GB" dirty="0"/>
              <a:t>Show the </a:t>
            </a:r>
            <a:r>
              <a:rPr lang="en-GB" b="1" dirty="0"/>
              <a:t>letter and its corresponding </a:t>
            </a:r>
            <a:r>
              <a:rPr lang="en-GB" b="1" dirty="0" err="1"/>
              <a:t>matra</a:t>
            </a:r>
            <a:r>
              <a:rPr lang="en-GB" b="1" dirty="0"/>
              <a:t> symbol as a pair</a:t>
            </a:r>
            <a:r>
              <a:rPr lang="en-GB" dirty="0"/>
              <a:t>, one by one. </a:t>
            </a:r>
          </a:p>
          <a:p>
            <a:pPr>
              <a:buFont typeface="Arial" panose="020B0604020202020204" pitchFamily="34" charset="0"/>
              <a:buChar char="•"/>
            </a:pPr>
            <a:r>
              <a:rPr lang="en-GB" dirty="0"/>
              <a:t>Each pair should </a:t>
            </a:r>
            <a:r>
              <a:rPr lang="en-GB" b="1" dirty="0"/>
              <a:t>light up/highlight</a:t>
            </a:r>
            <a:r>
              <a:rPr lang="en-GB" dirty="0"/>
              <a:t> when its VO plays. </a:t>
            </a:r>
          </a:p>
          <a:p>
            <a:pPr>
              <a:buFont typeface="Arial" panose="020B0604020202020204" pitchFamily="34" charset="0"/>
              <a:buChar char="•"/>
            </a:pPr>
            <a:r>
              <a:rPr lang="en-GB" dirty="0"/>
              <a:t>Keep only one pair active at a time. </a:t>
            </a:r>
          </a:p>
          <a:p>
            <a:r>
              <a:rPr lang="en-GB" b="1" dirty="0"/>
              <a:t>Sequence:</a:t>
            </a:r>
            <a:endParaRPr lang="en-GB" dirty="0"/>
          </a:p>
          <a:p>
            <a:pPr>
              <a:buFont typeface="Arial" panose="020B0604020202020204" pitchFamily="34" charset="0"/>
              <a:buChar char="•"/>
            </a:pPr>
            <a:r>
              <a:rPr lang="en-GB" b="1" dirty="0"/>
              <a:t>आ → ा</a:t>
            </a:r>
            <a:r>
              <a:rPr lang="en-GB" dirty="0"/>
              <a:t> </a:t>
            </a:r>
          </a:p>
          <a:p>
            <a:pPr>
              <a:buFont typeface="Arial" panose="020B0604020202020204" pitchFamily="34" charset="0"/>
              <a:buChar char="•"/>
            </a:pPr>
            <a:r>
              <a:rPr lang="en-GB" b="1" dirty="0"/>
              <a:t>इ → ि</a:t>
            </a:r>
            <a:r>
              <a:rPr lang="en-GB" dirty="0"/>
              <a:t> </a:t>
            </a:r>
          </a:p>
          <a:p>
            <a:pPr>
              <a:buFont typeface="Arial" panose="020B0604020202020204" pitchFamily="34" charset="0"/>
              <a:buChar char="•"/>
            </a:pPr>
            <a:r>
              <a:rPr lang="en-GB" b="1" dirty="0"/>
              <a:t>ई → ी</a:t>
            </a:r>
            <a:r>
              <a:rPr lang="en-GB" dirty="0"/>
              <a:t> </a:t>
            </a:r>
          </a:p>
          <a:p>
            <a:r>
              <a:rPr lang="en-GB" b="1" dirty="0"/>
              <a:t>Animation:</a:t>
            </a:r>
            <a:endParaRPr lang="en-GB" dirty="0"/>
          </a:p>
          <a:p>
            <a:pPr>
              <a:buFont typeface="Arial" panose="020B0604020202020204" pitchFamily="34" charset="0"/>
              <a:buChar char="•"/>
            </a:pPr>
            <a:r>
              <a:rPr lang="en-GB" dirty="0"/>
              <a:t>First </a:t>
            </a:r>
            <a:r>
              <a:rPr lang="en-GB" b="1" dirty="0"/>
              <a:t>आ</a:t>
            </a:r>
            <a:r>
              <a:rPr lang="en-GB" dirty="0"/>
              <a:t> appears, then </a:t>
            </a:r>
            <a:r>
              <a:rPr lang="en-GB" b="1" dirty="0"/>
              <a:t>ा</a:t>
            </a:r>
            <a:r>
              <a:rPr lang="en-GB" dirty="0"/>
              <a:t> appears beside it with a soft glow. </a:t>
            </a:r>
          </a:p>
          <a:p>
            <a:pPr>
              <a:buFont typeface="Arial" panose="020B0604020202020204" pitchFamily="34" charset="0"/>
              <a:buChar char="•"/>
            </a:pPr>
            <a:r>
              <a:rPr lang="en-GB" dirty="0"/>
              <a:t>Then both fade slightly and </a:t>
            </a:r>
            <a:r>
              <a:rPr lang="en-GB" b="1" dirty="0"/>
              <a:t>इ → ि</a:t>
            </a:r>
            <a:r>
              <a:rPr lang="en-GB" dirty="0"/>
              <a:t> appears. </a:t>
            </a:r>
          </a:p>
          <a:p>
            <a:pPr>
              <a:buFont typeface="Arial" panose="020B0604020202020204" pitchFamily="34" charset="0"/>
              <a:buChar char="•"/>
            </a:pPr>
            <a:r>
              <a:rPr lang="en-GB" dirty="0"/>
              <a:t>Finally </a:t>
            </a:r>
            <a:r>
              <a:rPr lang="en-GB" b="1" dirty="0"/>
              <a:t>ई → ी</a:t>
            </a:r>
            <a:r>
              <a:rPr lang="en-GB" dirty="0"/>
              <a:t> appears. </a:t>
            </a:r>
          </a:p>
          <a:p>
            <a:pPr>
              <a:buFont typeface="Arial" panose="020B0604020202020204" pitchFamily="34" charset="0"/>
              <a:buChar char="•"/>
            </a:pPr>
            <a:r>
              <a:rPr lang="en-GB" dirty="0"/>
              <a:t>Use a simple pop/fade animation; no extra decorative elements. </a:t>
            </a:r>
          </a:p>
          <a:p>
            <a:r>
              <a:rPr lang="en-GB" b="1" dirty="0"/>
              <a:t>SFX:</a:t>
            </a:r>
            <a:endParaRPr lang="en-GB" dirty="0"/>
          </a:p>
          <a:p>
            <a:pPr>
              <a:buFont typeface="Arial" panose="020B0604020202020204" pitchFamily="34" charset="0"/>
              <a:buChar char="•"/>
            </a:pPr>
            <a:r>
              <a:rPr lang="en-GB" dirty="0"/>
              <a:t>Add a soft pop/chime when each </a:t>
            </a:r>
            <a:r>
              <a:rPr lang="en-GB" dirty="0" err="1"/>
              <a:t>matra</a:t>
            </a:r>
            <a:r>
              <a:rPr lang="en-GB" dirty="0"/>
              <a:t> symbol appears. </a:t>
            </a:r>
          </a:p>
          <a:p>
            <a:pPr>
              <a:buFont typeface="Arial" panose="020B0604020202020204" pitchFamily="34" charset="0"/>
              <a:buChar char="•"/>
            </a:pPr>
            <a:r>
              <a:rPr lang="en-GB" dirty="0"/>
              <a:t>Keep SFX subtle so the VO remains clear. </a:t>
            </a:r>
          </a:p>
          <a:p>
            <a:r>
              <a:rPr lang="en-GB" b="1" dirty="0"/>
              <a:t>Next Button:</a:t>
            </a:r>
            <a:endParaRPr lang="en-GB" dirty="0"/>
          </a:p>
          <a:p>
            <a:pPr>
              <a:buFont typeface="Arial" panose="020B0604020202020204" pitchFamily="34" charset="0"/>
              <a:buChar char="•"/>
            </a:pPr>
            <a:r>
              <a:rPr lang="en-GB" dirty="0"/>
              <a:t>Keep the </a:t>
            </a:r>
            <a:r>
              <a:rPr lang="en-GB" b="1" dirty="0"/>
              <a:t>Next</a:t>
            </a:r>
            <a:r>
              <a:rPr lang="en-GB" dirty="0"/>
              <a:t> button disabled during the sequence. </a:t>
            </a:r>
          </a:p>
          <a:p>
            <a:pPr>
              <a:buFont typeface="Arial" panose="020B0604020202020204" pitchFamily="34" charset="0"/>
              <a:buChar char="•"/>
            </a:pPr>
            <a:r>
              <a:rPr lang="en-GB" dirty="0"/>
              <a:t>Activate it only after all three pairs have been shown and spoken.</a:t>
            </a:r>
          </a:p>
          <a:p>
            <a:endParaRPr lang="en-IN" dirty="0"/>
          </a:p>
        </p:txBody>
      </p:sp>
      <p:sp>
        <p:nvSpPr>
          <p:cNvPr id="4" name="Slide Number Placeholder 3"/>
          <p:cNvSpPr>
            <a:spLocks noGrp="1"/>
          </p:cNvSpPr>
          <p:nvPr>
            <p:ph type="sldNum" sz="quarter" idx="5"/>
          </p:nvPr>
        </p:nvSpPr>
        <p:spPr/>
        <p:txBody>
          <a:bodyPr/>
          <a:lstStyle/>
          <a:p>
            <a:fld id="{2E8D0E46-8C9D-41DC-B81C-31859D5EE714}" type="slidenum">
              <a:rPr lang="en-IN" smtClean="0"/>
              <a:t>4</a:t>
            </a:fld>
            <a:endParaRPr lang="en-IN"/>
          </a:p>
        </p:txBody>
      </p:sp>
    </p:spTree>
    <p:extLst>
      <p:ext uri="{BB962C8B-B14F-4D97-AF65-F5344CB8AC3E}">
        <p14:creationId xmlns:p14="http://schemas.microsoft.com/office/powerpoint/2010/main" val="10923838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Recommendation</a:t>
            </a:r>
          </a:p>
          <a:p>
            <a:r>
              <a:rPr lang="en-IN" b="1" dirty="0"/>
              <a:t>VO:</a:t>
            </a:r>
            <a:endParaRPr lang="en-IN" dirty="0"/>
          </a:p>
          <a:p>
            <a:r>
              <a:rPr lang="en-IN" dirty="0"/>
              <a:t>“</a:t>
            </a:r>
            <a:r>
              <a:rPr lang="hi-IN" dirty="0"/>
              <a:t>आइए, देखें कि आ की मात्रा लगने से शब्द की आवाज़ कैसे बदलती है।”</a:t>
            </a:r>
          </a:p>
          <a:p>
            <a:r>
              <a:rPr lang="hi-IN" dirty="0"/>
              <a:t>पहले:</a:t>
            </a:r>
          </a:p>
          <a:p>
            <a:r>
              <a:rPr lang="hi-IN" b="1" dirty="0"/>
              <a:t>“यह शब्द है — जल।”</a:t>
            </a:r>
            <a:endParaRPr lang="hi-IN" dirty="0"/>
          </a:p>
          <a:p>
            <a:r>
              <a:rPr lang="hi-IN" dirty="0"/>
              <a:t>फिर:</a:t>
            </a:r>
          </a:p>
          <a:p>
            <a:r>
              <a:rPr lang="hi-IN" b="1" dirty="0"/>
              <a:t>“ज में आ की मात्रा लगाने पर — जा बनता है।”</a:t>
            </a:r>
            <a:endParaRPr lang="hi-IN" dirty="0"/>
          </a:p>
          <a:p>
            <a:r>
              <a:rPr lang="hi-IN" dirty="0"/>
              <a:t>अंत में:</a:t>
            </a:r>
          </a:p>
          <a:p>
            <a:r>
              <a:rPr lang="hi-IN" b="1" dirty="0"/>
              <a:t>“अब जल में आ की मात्रा लगाने पर — जाल बनता है।”</a:t>
            </a:r>
            <a:endParaRPr lang="hi-IN" dirty="0"/>
          </a:p>
          <a:p>
            <a:r>
              <a:rPr lang="en-IN" b="1" dirty="0"/>
              <a:t>On Screen:</a:t>
            </a:r>
            <a:endParaRPr lang="en-IN" dirty="0"/>
          </a:p>
          <a:p>
            <a:pPr>
              <a:buFont typeface="Arial" panose="020B0604020202020204" pitchFamily="34" charset="0"/>
              <a:buChar char="•"/>
            </a:pPr>
            <a:r>
              <a:rPr lang="en-IN" dirty="0"/>
              <a:t>Keep the screen focused on only one transformation. </a:t>
            </a:r>
          </a:p>
          <a:p>
            <a:pPr>
              <a:buFont typeface="Arial" panose="020B0604020202020204" pitchFamily="34" charset="0"/>
              <a:buChar char="•"/>
            </a:pPr>
            <a:r>
              <a:rPr lang="en-IN" dirty="0"/>
              <a:t>First show </a:t>
            </a:r>
            <a:r>
              <a:rPr lang="hi-IN" b="1" dirty="0"/>
              <a:t>जल</a:t>
            </a:r>
            <a:r>
              <a:rPr lang="hi-IN" dirty="0"/>
              <a:t> </a:t>
            </a:r>
            <a:r>
              <a:rPr lang="en-IN" dirty="0"/>
              <a:t>clearly on the left. </a:t>
            </a:r>
          </a:p>
          <a:p>
            <a:pPr>
              <a:buFont typeface="Arial" panose="020B0604020202020204" pitchFamily="34" charset="0"/>
              <a:buChar char="•"/>
            </a:pPr>
            <a:r>
              <a:rPr lang="en-IN" dirty="0"/>
              <a:t>Then show the transformation in the centre:</a:t>
            </a:r>
            <a:br>
              <a:rPr lang="en-IN" dirty="0"/>
            </a:br>
            <a:r>
              <a:rPr lang="hi-IN" b="1" dirty="0"/>
              <a:t>ज + ा = जा</a:t>
            </a:r>
            <a:r>
              <a:rPr lang="hi-IN" dirty="0"/>
              <a:t> </a:t>
            </a:r>
          </a:p>
          <a:p>
            <a:pPr>
              <a:buFont typeface="Arial" panose="020B0604020202020204" pitchFamily="34" charset="0"/>
              <a:buChar char="•"/>
            </a:pPr>
            <a:r>
              <a:rPr lang="en-IN" dirty="0"/>
              <a:t>After that, complete the word as:</a:t>
            </a:r>
            <a:br>
              <a:rPr lang="en-IN" dirty="0"/>
            </a:br>
            <a:r>
              <a:rPr lang="hi-IN" b="1" dirty="0"/>
              <a:t>जाल</a:t>
            </a:r>
            <a:r>
              <a:rPr lang="hi-IN" dirty="0"/>
              <a:t> </a:t>
            </a:r>
          </a:p>
          <a:p>
            <a:pPr>
              <a:buFont typeface="Arial" panose="020B0604020202020204" pitchFamily="34" charset="0"/>
              <a:buChar char="•"/>
            </a:pPr>
            <a:r>
              <a:rPr lang="en-IN" dirty="0"/>
              <a:t>Highlight only the </a:t>
            </a:r>
            <a:r>
              <a:rPr lang="hi-IN" b="1" dirty="0"/>
              <a:t>ा</a:t>
            </a:r>
            <a:r>
              <a:rPr lang="hi-IN" dirty="0"/>
              <a:t> </a:t>
            </a:r>
            <a:r>
              <a:rPr lang="en-IN" dirty="0" err="1"/>
              <a:t>matra</a:t>
            </a:r>
            <a:r>
              <a:rPr lang="en-IN" dirty="0"/>
              <a:t> when it is introduced. </a:t>
            </a:r>
          </a:p>
          <a:p>
            <a:pPr>
              <a:buFont typeface="Arial" panose="020B0604020202020204" pitchFamily="34" charset="0"/>
              <a:buChar char="•"/>
            </a:pPr>
            <a:r>
              <a:rPr lang="en-IN" dirty="0"/>
              <a:t>A simple relevant image can support the final word </a:t>
            </a:r>
            <a:r>
              <a:rPr lang="hi-IN" b="1" dirty="0"/>
              <a:t>जाल</a:t>
            </a:r>
            <a:r>
              <a:rPr lang="hi-IN" dirty="0"/>
              <a:t>. </a:t>
            </a:r>
          </a:p>
          <a:p>
            <a:r>
              <a:rPr lang="en-IN" b="1" dirty="0"/>
              <a:t>Sequence:</a:t>
            </a:r>
            <a:endParaRPr lang="en-IN" dirty="0"/>
          </a:p>
          <a:p>
            <a:pPr>
              <a:buFont typeface="+mj-lt"/>
              <a:buAutoNum type="arabicPeriod"/>
            </a:pPr>
            <a:r>
              <a:rPr lang="hi-IN" b="1" dirty="0"/>
              <a:t>जल</a:t>
            </a:r>
            <a:r>
              <a:rPr lang="hi-IN" dirty="0"/>
              <a:t> </a:t>
            </a:r>
            <a:r>
              <a:rPr lang="en-IN" dirty="0"/>
              <a:t>appears. </a:t>
            </a:r>
          </a:p>
          <a:p>
            <a:pPr>
              <a:buFont typeface="+mj-lt"/>
              <a:buAutoNum type="arabicPeriod"/>
            </a:pPr>
            <a:r>
              <a:rPr lang="en-IN" dirty="0"/>
              <a:t>VO reads: </a:t>
            </a:r>
            <a:r>
              <a:rPr lang="en-IN" b="1" dirty="0"/>
              <a:t>“</a:t>
            </a:r>
            <a:r>
              <a:rPr lang="hi-IN" b="1" dirty="0"/>
              <a:t>जल”</a:t>
            </a:r>
            <a:r>
              <a:rPr lang="hi-IN" dirty="0"/>
              <a:t>. </a:t>
            </a:r>
          </a:p>
          <a:p>
            <a:pPr>
              <a:buFont typeface="+mj-lt"/>
              <a:buAutoNum type="arabicPeriod"/>
            </a:pPr>
            <a:r>
              <a:rPr lang="en-IN" dirty="0"/>
              <a:t>The letter </a:t>
            </a:r>
            <a:r>
              <a:rPr lang="hi-IN" b="1" dirty="0"/>
              <a:t>ज</a:t>
            </a:r>
            <a:r>
              <a:rPr lang="hi-IN" dirty="0"/>
              <a:t> </a:t>
            </a:r>
            <a:r>
              <a:rPr lang="en-IN" dirty="0"/>
              <a:t>is highlighted. </a:t>
            </a:r>
          </a:p>
          <a:p>
            <a:pPr>
              <a:buFont typeface="+mj-lt"/>
              <a:buAutoNum type="arabicPeriod"/>
            </a:pPr>
            <a:r>
              <a:rPr lang="hi-IN" b="1" dirty="0"/>
              <a:t>ा</a:t>
            </a:r>
            <a:r>
              <a:rPr lang="hi-IN" dirty="0"/>
              <a:t> </a:t>
            </a:r>
            <a:r>
              <a:rPr lang="en-IN" dirty="0"/>
              <a:t>appears beside </a:t>
            </a:r>
            <a:r>
              <a:rPr lang="hi-IN" b="1" dirty="0"/>
              <a:t>ज</a:t>
            </a:r>
            <a:r>
              <a:rPr lang="hi-IN" dirty="0"/>
              <a:t>. </a:t>
            </a:r>
          </a:p>
          <a:p>
            <a:pPr>
              <a:buFont typeface="+mj-lt"/>
              <a:buAutoNum type="arabicPeriod"/>
            </a:pPr>
            <a:r>
              <a:rPr lang="en-IN" dirty="0"/>
              <a:t>Show:</a:t>
            </a:r>
            <a:br>
              <a:rPr lang="en-IN" dirty="0"/>
            </a:br>
            <a:r>
              <a:rPr lang="hi-IN" b="1" dirty="0"/>
              <a:t>ज + ा = जा</a:t>
            </a:r>
            <a:r>
              <a:rPr lang="hi-IN" dirty="0"/>
              <a:t> </a:t>
            </a:r>
          </a:p>
          <a:p>
            <a:pPr>
              <a:buFont typeface="+mj-lt"/>
              <a:buAutoNum type="arabicPeriod"/>
            </a:pPr>
            <a:r>
              <a:rPr lang="en-IN" dirty="0"/>
              <a:t>Play the sound difference clearly:</a:t>
            </a:r>
            <a:br>
              <a:rPr lang="en-IN" dirty="0"/>
            </a:br>
            <a:r>
              <a:rPr lang="en-IN" b="1" dirty="0"/>
              <a:t>“</a:t>
            </a:r>
            <a:r>
              <a:rPr lang="hi-IN" b="1" dirty="0"/>
              <a:t>ज” → “जा”</a:t>
            </a:r>
            <a:r>
              <a:rPr lang="hi-IN" dirty="0"/>
              <a:t> </a:t>
            </a:r>
          </a:p>
          <a:p>
            <a:pPr>
              <a:buFont typeface="+mj-lt"/>
              <a:buAutoNum type="arabicPeriod"/>
            </a:pPr>
            <a:r>
              <a:rPr lang="en-IN" dirty="0"/>
              <a:t>Then </a:t>
            </a:r>
            <a:r>
              <a:rPr lang="hi-IN" b="1" dirty="0"/>
              <a:t>ल</a:t>
            </a:r>
            <a:r>
              <a:rPr lang="hi-IN" dirty="0"/>
              <a:t> </a:t>
            </a:r>
            <a:r>
              <a:rPr lang="en-IN" dirty="0"/>
              <a:t>joins. </a:t>
            </a:r>
          </a:p>
          <a:p>
            <a:pPr>
              <a:buFont typeface="+mj-lt"/>
              <a:buAutoNum type="arabicPeriod"/>
            </a:pPr>
            <a:r>
              <a:rPr lang="en-IN" dirty="0"/>
              <a:t>Final word appears:</a:t>
            </a:r>
            <a:br>
              <a:rPr lang="en-IN" dirty="0"/>
            </a:br>
            <a:r>
              <a:rPr lang="hi-IN" b="1" dirty="0"/>
              <a:t>जाल</a:t>
            </a:r>
            <a:r>
              <a:rPr lang="hi-IN" dirty="0"/>
              <a:t> </a:t>
            </a:r>
          </a:p>
          <a:p>
            <a:pPr>
              <a:buFont typeface="+mj-lt"/>
              <a:buAutoNum type="arabicPeriod"/>
            </a:pPr>
            <a:r>
              <a:rPr lang="en-IN" dirty="0"/>
              <a:t>Highlight </a:t>
            </a:r>
            <a:r>
              <a:rPr lang="hi-IN" b="1" dirty="0"/>
              <a:t>ा</a:t>
            </a:r>
            <a:r>
              <a:rPr lang="hi-IN" dirty="0"/>
              <a:t> </a:t>
            </a:r>
            <a:r>
              <a:rPr lang="en-IN" dirty="0"/>
              <a:t>inside </a:t>
            </a:r>
            <a:r>
              <a:rPr lang="hi-IN" b="1" dirty="0"/>
              <a:t>जाल</a:t>
            </a:r>
            <a:r>
              <a:rPr lang="hi-IN" dirty="0"/>
              <a:t>. </a:t>
            </a:r>
          </a:p>
          <a:p>
            <a:pPr>
              <a:buFont typeface="+mj-lt"/>
              <a:buAutoNum type="arabicPeriod"/>
            </a:pPr>
            <a:r>
              <a:rPr lang="en-IN" dirty="0"/>
              <a:t>Final image appears. </a:t>
            </a:r>
          </a:p>
          <a:p>
            <a:r>
              <a:rPr lang="en-IN" b="1" dirty="0"/>
              <a:t>Animation:</a:t>
            </a:r>
            <a:endParaRPr lang="en-IN" dirty="0"/>
          </a:p>
          <a:p>
            <a:pPr>
              <a:buFont typeface="Arial" panose="020B0604020202020204" pitchFamily="34" charset="0"/>
              <a:buChar char="•"/>
            </a:pPr>
            <a:r>
              <a:rPr lang="en-IN" dirty="0"/>
              <a:t>Use simple step-by-step animation. </a:t>
            </a:r>
          </a:p>
          <a:p>
            <a:pPr>
              <a:buFont typeface="Arial" panose="020B0604020202020204" pitchFamily="34" charset="0"/>
              <a:buChar char="•"/>
            </a:pPr>
            <a:r>
              <a:rPr lang="hi-IN" b="1" dirty="0"/>
              <a:t>जल</a:t>
            </a:r>
            <a:r>
              <a:rPr lang="hi-IN" dirty="0"/>
              <a:t> </a:t>
            </a:r>
            <a:r>
              <a:rPr lang="en-IN" dirty="0"/>
              <a:t>should appear first. </a:t>
            </a:r>
          </a:p>
          <a:p>
            <a:pPr>
              <a:buFont typeface="Arial" panose="020B0604020202020204" pitchFamily="34" charset="0"/>
              <a:buChar char="•"/>
            </a:pPr>
            <a:r>
              <a:rPr lang="en-IN" dirty="0"/>
              <a:t>Then isolate or highlight </a:t>
            </a:r>
            <a:r>
              <a:rPr lang="hi-IN" b="1" dirty="0"/>
              <a:t>ज</a:t>
            </a:r>
            <a:r>
              <a:rPr lang="hi-IN" dirty="0"/>
              <a:t>. </a:t>
            </a:r>
          </a:p>
          <a:p>
            <a:pPr>
              <a:buFont typeface="Arial" panose="020B0604020202020204" pitchFamily="34" charset="0"/>
              <a:buChar char="•"/>
            </a:pPr>
            <a:r>
              <a:rPr lang="en-IN" dirty="0"/>
              <a:t>The </a:t>
            </a:r>
            <a:r>
              <a:rPr lang="hi-IN" b="1" dirty="0"/>
              <a:t>ा</a:t>
            </a:r>
            <a:r>
              <a:rPr lang="hi-IN" dirty="0"/>
              <a:t> </a:t>
            </a:r>
            <a:r>
              <a:rPr lang="en-IN" dirty="0" err="1"/>
              <a:t>matra</a:t>
            </a:r>
            <a:r>
              <a:rPr lang="en-IN" dirty="0"/>
              <a:t> should slide/pop into place beside </a:t>
            </a:r>
            <a:r>
              <a:rPr lang="hi-IN" b="1" dirty="0"/>
              <a:t>ज</a:t>
            </a:r>
            <a:r>
              <a:rPr lang="hi-IN" dirty="0"/>
              <a:t>. </a:t>
            </a:r>
          </a:p>
          <a:p>
            <a:pPr>
              <a:buFont typeface="Arial" panose="020B0604020202020204" pitchFamily="34" charset="0"/>
              <a:buChar char="•"/>
            </a:pPr>
            <a:r>
              <a:rPr lang="en-IN" dirty="0"/>
              <a:t>As soon as it joins, </a:t>
            </a:r>
            <a:r>
              <a:rPr lang="hi-IN" b="1" dirty="0"/>
              <a:t>ज</a:t>
            </a:r>
            <a:r>
              <a:rPr lang="hi-IN" dirty="0"/>
              <a:t> </a:t>
            </a:r>
            <a:r>
              <a:rPr lang="en-IN" dirty="0"/>
              <a:t>visually transforms into </a:t>
            </a:r>
            <a:r>
              <a:rPr lang="hi-IN" b="1" dirty="0"/>
              <a:t>जा</a:t>
            </a:r>
            <a:r>
              <a:rPr lang="hi-IN" dirty="0"/>
              <a:t>. </a:t>
            </a:r>
          </a:p>
          <a:p>
            <a:pPr>
              <a:buFont typeface="Arial" panose="020B0604020202020204" pitchFamily="34" charset="0"/>
              <a:buChar char="•"/>
            </a:pPr>
            <a:r>
              <a:rPr lang="en-IN" dirty="0"/>
              <a:t>Then </a:t>
            </a:r>
            <a:r>
              <a:rPr lang="hi-IN" b="1" dirty="0"/>
              <a:t>ल</a:t>
            </a:r>
            <a:r>
              <a:rPr lang="hi-IN" dirty="0"/>
              <a:t> </a:t>
            </a:r>
            <a:r>
              <a:rPr lang="en-IN" dirty="0"/>
              <a:t>joins to form </a:t>
            </a:r>
            <a:r>
              <a:rPr lang="hi-IN" b="1" dirty="0"/>
              <a:t>जाल</a:t>
            </a:r>
            <a:r>
              <a:rPr lang="hi-IN" dirty="0"/>
              <a:t>. </a:t>
            </a:r>
          </a:p>
          <a:p>
            <a:pPr>
              <a:buFont typeface="Arial" panose="020B0604020202020204" pitchFamily="34" charset="0"/>
              <a:buChar char="•"/>
            </a:pPr>
            <a:r>
              <a:rPr lang="en-IN" dirty="0"/>
              <a:t>Keep the sound transformation synced with the visual:</a:t>
            </a:r>
            <a:br>
              <a:rPr lang="en-IN" dirty="0"/>
            </a:br>
            <a:r>
              <a:rPr lang="hi-IN" b="1" dirty="0"/>
              <a:t>ज → जा → जाल</a:t>
            </a:r>
            <a:r>
              <a:rPr lang="hi-IN" dirty="0"/>
              <a:t> </a:t>
            </a:r>
          </a:p>
          <a:p>
            <a:pPr>
              <a:buFont typeface="Arial" panose="020B0604020202020204" pitchFamily="34" charset="0"/>
              <a:buChar char="•"/>
            </a:pPr>
            <a:r>
              <a:rPr lang="en-IN" dirty="0"/>
              <a:t>Avoid showing all stages together at the start. </a:t>
            </a:r>
          </a:p>
          <a:p>
            <a:r>
              <a:rPr lang="en-IN" b="1" dirty="0"/>
              <a:t>Sound Differentiation:</a:t>
            </a:r>
            <a:endParaRPr lang="en-IN" dirty="0"/>
          </a:p>
          <a:p>
            <a:pPr>
              <a:buFont typeface="Arial" panose="020B0604020202020204" pitchFamily="34" charset="0"/>
              <a:buChar char="•"/>
            </a:pPr>
            <a:r>
              <a:rPr lang="en-IN" dirty="0"/>
              <a:t>Make the difference between the sounds very clear: </a:t>
            </a:r>
          </a:p>
          <a:p>
            <a:pPr marL="742950" lvl="1" indent="-285750">
              <a:buFont typeface="Arial" panose="020B0604020202020204" pitchFamily="34" charset="0"/>
              <a:buChar char="•"/>
            </a:pPr>
            <a:r>
              <a:rPr lang="hi-IN" b="1" dirty="0"/>
              <a:t>ज</a:t>
            </a:r>
            <a:r>
              <a:rPr lang="hi-IN" dirty="0"/>
              <a:t> </a:t>
            </a:r>
          </a:p>
          <a:p>
            <a:pPr marL="742950" lvl="1" indent="-285750">
              <a:buFont typeface="Arial" panose="020B0604020202020204" pitchFamily="34" charset="0"/>
              <a:buChar char="•"/>
            </a:pPr>
            <a:r>
              <a:rPr lang="hi-IN" b="1" dirty="0"/>
              <a:t>जा</a:t>
            </a:r>
            <a:r>
              <a:rPr lang="hi-IN" dirty="0"/>
              <a:t> </a:t>
            </a:r>
          </a:p>
          <a:p>
            <a:pPr marL="742950" lvl="1" indent="-285750">
              <a:buFont typeface="Arial" panose="020B0604020202020204" pitchFamily="34" charset="0"/>
              <a:buChar char="•"/>
            </a:pPr>
            <a:r>
              <a:rPr lang="hi-IN" b="1" dirty="0"/>
              <a:t>जाल</a:t>
            </a:r>
            <a:r>
              <a:rPr lang="hi-IN" dirty="0"/>
              <a:t> </a:t>
            </a:r>
          </a:p>
          <a:p>
            <a:pPr>
              <a:buFont typeface="Arial" panose="020B0604020202020204" pitchFamily="34" charset="0"/>
              <a:buChar char="•"/>
            </a:pPr>
            <a:r>
              <a:rPr lang="en-IN" dirty="0"/>
              <a:t>Give a small pause between each sound so the child can hear the change. </a:t>
            </a:r>
          </a:p>
          <a:p>
            <a:pPr>
              <a:buFont typeface="Arial" panose="020B0604020202020204" pitchFamily="34" charset="0"/>
              <a:buChar char="•"/>
            </a:pPr>
            <a:r>
              <a:rPr lang="en-IN" dirty="0"/>
              <a:t>The main learning focus should be:</a:t>
            </a:r>
            <a:br>
              <a:rPr lang="en-IN" dirty="0"/>
            </a:br>
            <a:r>
              <a:rPr lang="hi-IN" b="1" dirty="0"/>
              <a:t>आ की मात्रा जुड़ने पर ज की आवाज़ “जा” हो जाती है।</a:t>
            </a:r>
            <a:r>
              <a:rPr lang="hi-IN" dirty="0"/>
              <a:t> </a:t>
            </a:r>
          </a:p>
          <a:p>
            <a:r>
              <a:rPr lang="en-IN" b="1" dirty="0"/>
              <a:t>SFX:</a:t>
            </a:r>
            <a:endParaRPr lang="en-IN" dirty="0"/>
          </a:p>
          <a:p>
            <a:pPr>
              <a:buFont typeface="Arial" panose="020B0604020202020204" pitchFamily="34" charset="0"/>
              <a:buChar char="•"/>
            </a:pPr>
            <a:r>
              <a:rPr lang="en-IN" dirty="0"/>
              <a:t>Soft pop when </a:t>
            </a:r>
            <a:r>
              <a:rPr lang="hi-IN" b="1" dirty="0"/>
              <a:t>ा</a:t>
            </a:r>
            <a:r>
              <a:rPr lang="hi-IN" dirty="0"/>
              <a:t> </a:t>
            </a:r>
            <a:r>
              <a:rPr lang="en-IN" dirty="0"/>
              <a:t>appears. </a:t>
            </a:r>
          </a:p>
          <a:p>
            <a:pPr>
              <a:buFont typeface="Arial" panose="020B0604020202020204" pitchFamily="34" charset="0"/>
              <a:buChar char="•"/>
            </a:pPr>
            <a:r>
              <a:rPr lang="en-IN" dirty="0"/>
              <a:t>Light chime when </a:t>
            </a:r>
            <a:r>
              <a:rPr lang="hi-IN" b="1" dirty="0"/>
              <a:t>ज</a:t>
            </a:r>
            <a:r>
              <a:rPr lang="hi-IN" dirty="0"/>
              <a:t> </a:t>
            </a:r>
            <a:r>
              <a:rPr lang="en-IN" dirty="0"/>
              <a:t>changes to </a:t>
            </a:r>
            <a:r>
              <a:rPr lang="hi-IN" b="1" dirty="0"/>
              <a:t>जा</a:t>
            </a:r>
            <a:r>
              <a:rPr lang="hi-IN" dirty="0"/>
              <a:t>. </a:t>
            </a:r>
          </a:p>
          <a:p>
            <a:pPr>
              <a:buFont typeface="Arial" panose="020B0604020202020204" pitchFamily="34" charset="0"/>
              <a:buChar char="•"/>
            </a:pPr>
            <a:r>
              <a:rPr lang="en-IN" dirty="0"/>
              <a:t>Small success sound when </a:t>
            </a:r>
            <a:r>
              <a:rPr lang="hi-IN" b="1" dirty="0"/>
              <a:t>जाल</a:t>
            </a:r>
            <a:r>
              <a:rPr lang="hi-IN" dirty="0"/>
              <a:t> </a:t>
            </a:r>
            <a:r>
              <a:rPr lang="en-IN" dirty="0"/>
              <a:t>is completed. </a:t>
            </a:r>
          </a:p>
          <a:p>
            <a:pPr>
              <a:buFont typeface="Arial" panose="020B0604020202020204" pitchFamily="34" charset="0"/>
              <a:buChar char="•"/>
            </a:pPr>
            <a:r>
              <a:rPr lang="en-IN" dirty="0"/>
              <a:t>Keep SFX subtle so the pronunciation remains clear. </a:t>
            </a:r>
          </a:p>
          <a:p>
            <a:r>
              <a:rPr lang="en-IN" b="1" dirty="0"/>
              <a:t>Next Button:</a:t>
            </a:r>
            <a:endParaRPr lang="en-IN" dirty="0"/>
          </a:p>
          <a:p>
            <a:pPr>
              <a:buFont typeface="Arial" panose="020B0604020202020204" pitchFamily="34" charset="0"/>
              <a:buChar char="•"/>
            </a:pPr>
            <a:r>
              <a:rPr lang="en-IN" dirty="0"/>
              <a:t>Keep </a:t>
            </a:r>
            <a:r>
              <a:rPr lang="en-IN" b="1" dirty="0"/>
              <a:t>Next</a:t>
            </a:r>
            <a:r>
              <a:rPr lang="en-IN" dirty="0"/>
              <a:t> disabled while the transformation is playing. </a:t>
            </a:r>
          </a:p>
          <a:p>
            <a:pPr>
              <a:buFont typeface="Arial" panose="020B0604020202020204" pitchFamily="34" charset="0"/>
              <a:buChar char="•"/>
            </a:pPr>
            <a:r>
              <a:rPr lang="en-IN" dirty="0"/>
              <a:t>Activate it only after </a:t>
            </a:r>
            <a:r>
              <a:rPr lang="hi-IN" b="1" dirty="0"/>
              <a:t>ज → जा → जाल</a:t>
            </a:r>
            <a:r>
              <a:rPr lang="hi-IN" dirty="0"/>
              <a:t> </a:t>
            </a:r>
            <a:r>
              <a:rPr lang="en-IN" dirty="0"/>
              <a:t>is fully demonstrated. </a:t>
            </a:r>
          </a:p>
          <a:p>
            <a:r>
              <a:rPr lang="en-IN" b="1" dirty="0"/>
              <a:t>Note:</a:t>
            </a:r>
            <a:endParaRPr lang="en-IN" dirty="0"/>
          </a:p>
          <a:p>
            <a:pPr>
              <a:buFont typeface="Arial" panose="020B0604020202020204" pitchFamily="34" charset="0"/>
              <a:buChar char="•"/>
            </a:pPr>
            <a:r>
              <a:rPr lang="en-IN" dirty="0"/>
              <a:t>Keep the screen clean and minimal. </a:t>
            </a:r>
          </a:p>
          <a:p>
            <a:pPr>
              <a:buFont typeface="Arial" panose="020B0604020202020204" pitchFamily="34" charset="0"/>
              <a:buChar char="•"/>
            </a:pPr>
            <a:r>
              <a:rPr lang="en-IN" dirty="0"/>
              <a:t>Do not add extra explanatory text. </a:t>
            </a:r>
          </a:p>
          <a:p>
            <a:pPr>
              <a:buFont typeface="Arial" panose="020B0604020202020204" pitchFamily="34" charset="0"/>
              <a:buChar char="•"/>
            </a:pPr>
            <a:r>
              <a:rPr lang="en-IN" dirty="0"/>
              <a:t>Focus on the </a:t>
            </a:r>
            <a:r>
              <a:rPr lang="en-IN" b="1" dirty="0"/>
              <a:t>before-</a:t>
            </a:r>
            <a:r>
              <a:rPr lang="en-IN" b="1" dirty="0" err="1"/>
              <a:t>matra</a:t>
            </a:r>
            <a:r>
              <a:rPr lang="en-IN" b="1" dirty="0"/>
              <a:t> and after-</a:t>
            </a:r>
            <a:r>
              <a:rPr lang="en-IN" b="1" dirty="0" err="1"/>
              <a:t>matra</a:t>
            </a:r>
            <a:r>
              <a:rPr lang="en-IN" b="1" dirty="0"/>
              <a:t> sound difference</a:t>
            </a:r>
            <a:r>
              <a:rPr lang="en-IN" dirty="0"/>
              <a:t>. </a:t>
            </a:r>
          </a:p>
          <a:p>
            <a:pPr>
              <a:buFont typeface="Arial" panose="020B0604020202020204" pitchFamily="34" charset="0"/>
              <a:buChar char="•"/>
            </a:pPr>
            <a:r>
              <a:rPr lang="en-IN" dirty="0"/>
              <a:t>The key visual learning should be: </a:t>
            </a:r>
          </a:p>
          <a:p>
            <a:r>
              <a:rPr lang="hi-IN" b="1" dirty="0"/>
              <a:t>जल → ज + ा = जा → जाल</a:t>
            </a:r>
            <a:endParaRPr lang="hi-IN" dirty="0"/>
          </a:p>
        </p:txBody>
      </p:sp>
      <p:sp>
        <p:nvSpPr>
          <p:cNvPr id="4" name="Slide Number Placeholder 3"/>
          <p:cNvSpPr>
            <a:spLocks noGrp="1"/>
          </p:cNvSpPr>
          <p:nvPr>
            <p:ph type="sldNum" sz="quarter" idx="5"/>
          </p:nvPr>
        </p:nvSpPr>
        <p:spPr/>
        <p:txBody>
          <a:bodyPr/>
          <a:lstStyle/>
          <a:p>
            <a:fld id="{2E8D0E46-8C9D-41DC-B81C-31859D5EE714}" type="slidenum">
              <a:rPr lang="en-IN" smtClean="0"/>
              <a:t>5</a:t>
            </a:fld>
            <a:endParaRPr lang="en-IN"/>
          </a:p>
        </p:txBody>
      </p:sp>
    </p:spTree>
    <p:extLst>
      <p:ext uri="{BB962C8B-B14F-4D97-AF65-F5344CB8AC3E}">
        <p14:creationId xmlns:p14="http://schemas.microsoft.com/office/powerpoint/2010/main" val="2771802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provide recommendation </a:t>
            </a:r>
            <a:r>
              <a:rPr lang="en-GB" b="1" dirty="0" err="1"/>
              <a:t>Recommendation</a:t>
            </a:r>
            <a:endParaRPr lang="en-GB" dirty="0"/>
          </a:p>
          <a:p>
            <a:r>
              <a:rPr lang="en-GB" b="1" dirty="0"/>
              <a:t>VO:</a:t>
            </a:r>
            <a:endParaRPr lang="en-GB" dirty="0"/>
          </a:p>
          <a:p>
            <a:r>
              <a:rPr lang="en-GB" dirty="0"/>
              <a:t>“</a:t>
            </a:r>
            <a:r>
              <a:rPr lang="en-GB" dirty="0" err="1"/>
              <a:t>आइए</a:t>
            </a:r>
            <a:r>
              <a:rPr lang="en-GB" dirty="0"/>
              <a:t>, आ </a:t>
            </a:r>
            <a:r>
              <a:rPr lang="en-GB" dirty="0" err="1"/>
              <a:t>की</a:t>
            </a:r>
            <a:r>
              <a:rPr lang="en-GB" dirty="0"/>
              <a:t> </a:t>
            </a:r>
            <a:r>
              <a:rPr lang="en-GB" dirty="0" err="1"/>
              <a:t>मात्रा</a:t>
            </a:r>
            <a:r>
              <a:rPr lang="en-GB" dirty="0"/>
              <a:t> </a:t>
            </a:r>
            <a:r>
              <a:rPr lang="en-GB" dirty="0" err="1"/>
              <a:t>वाले</a:t>
            </a:r>
            <a:r>
              <a:rPr lang="en-GB" dirty="0"/>
              <a:t> </a:t>
            </a:r>
            <a:r>
              <a:rPr lang="en-GB" dirty="0" err="1"/>
              <a:t>कुछ</a:t>
            </a:r>
            <a:r>
              <a:rPr lang="en-GB" dirty="0"/>
              <a:t> </a:t>
            </a:r>
            <a:r>
              <a:rPr lang="en-GB" dirty="0" err="1"/>
              <a:t>शब्द</a:t>
            </a:r>
            <a:r>
              <a:rPr lang="en-GB" dirty="0"/>
              <a:t> </a:t>
            </a:r>
            <a:r>
              <a:rPr lang="en-GB" dirty="0" err="1"/>
              <a:t>देखें</a:t>
            </a:r>
            <a:r>
              <a:rPr lang="en-GB" dirty="0"/>
              <a:t>।”</a:t>
            </a:r>
          </a:p>
          <a:p>
            <a:r>
              <a:rPr lang="en-GB" dirty="0" err="1"/>
              <a:t>पहले</a:t>
            </a:r>
            <a:r>
              <a:rPr lang="en-GB" dirty="0"/>
              <a:t>:</a:t>
            </a:r>
          </a:p>
          <a:p>
            <a:r>
              <a:rPr lang="en-GB" b="1" dirty="0"/>
              <a:t>“</a:t>
            </a:r>
            <a:r>
              <a:rPr lang="en-GB" b="1" dirty="0" err="1"/>
              <a:t>नाक</a:t>
            </a:r>
            <a:br>
              <a:rPr lang="en-GB" b="1" dirty="0"/>
            </a:br>
            <a:r>
              <a:rPr lang="en-GB" b="1" dirty="0"/>
              <a:t>— </a:t>
            </a:r>
            <a:r>
              <a:rPr lang="en-GB" b="1" dirty="0" err="1"/>
              <a:t>बोलकर</a:t>
            </a:r>
            <a:br>
              <a:rPr lang="en-GB" b="1" dirty="0"/>
            </a:br>
            <a:r>
              <a:rPr lang="en-GB" b="1" dirty="0" err="1"/>
              <a:t>देखिए</a:t>
            </a:r>
            <a:r>
              <a:rPr lang="en-GB" b="1" dirty="0"/>
              <a:t>।</a:t>
            </a:r>
            <a:br>
              <a:rPr lang="en-GB" b="1" dirty="0"/>
            </a:br>
            <a:r>
              <a:rPr lang="en-GB" b="1" dirty="0" err="1"/>
              <a:t>इसमें</a:t>
            </a:r>
            <a:br>
              <a:rPr lang="en-GB" b="1" dirty="0"/>
            </a:br>
            <a:r>
              <a:rPr lang="en-GB" b="1" dirty="0"/>
              <a:t>न </a:t>
            </a:r>
            <a:r>
              <a:rPr lang="en-GB" b="1" dirty="0" err="1"/>
              <a:t>पर</a:t>
            </a:r>
            <a:br>
              <a:rPr lang="en-GB" b="1" dirty="0"/>
            </a:br>
            <a:r>
              <a:rPr lang="en-GB" b="1" dirty="0" err="1"/>
              <a:t>बड़ी</a:t>
            </a:r>
            <a:br>
              <a:rPr lang="en-GB" b="1" dirty="0"/>
            </a:br>
            <a:r>
              <a:rPr lang="en-GB" b="1" dirty="0"/>
              <a:t>आ </a:t>
            </a:r>
            <a:r>
              <a:rPr lang="en-GB" b="1" dirty="0" err="1"/>
              <a:t>की</a:t>
            </a:r>
            <a:br>
              <a:rPr lang="en-GB" b="1" dirty="0"/>
            </a:br>
            <a:r>
              <a:rPr lang="en-GB" b="1" dirty="0" err="1"/>
              <a:t>मात्रा</a:t>
            </a:r>
            <a:br>
              <a:rPr lang="en-GB" b="1" dirty="0"/>
            </a:br>
            <a:r>
              <a:rPr lang="en-GB" b="1" dirty="0" err="1"/>
              <a:t>लगी</a:t>
            </a:r>
            <a:br>
              <a:rPr lang="en-GB" b="1" dirty="0"/>
            </a:br>
            <a:r>
              <a:rPr lang="en-GB" b="1" dirty="0" err="1"/>
              <a:t>है</a:t>
            </a:r>
            <a:r>
              <a:rPr lang="en-GB" b="1" dirty="0"/>
              <a:t>।”</a:t>
            </a:r>
            <a:endParaRPr lang="en-GB" dirty="0"/>
          </a:p>
          <a:p>
            <a:r>
              <a:rPr lang="en-GB" dirty="0" err="1"/>
              <a:t>फिर</a:t>
            </a:r>
            <a:r>
              <a:rPr lang="en-GB" dirty="0"/>
              <a:t>:</a:t>
            </a:r>
          </a:p>
          <a:p>
            <a:r>
              <a:rPr lang="en-GB" b="1" dirty="0"/>
              <a:t>“</a:t>
            </a:r>
            <a:r>
              <a:rPr lang="en-GB" b="1" dirty="0" err="1"/>
              <a:t>मटका</a:t>
            </a:r>
            <a:br>
              <a:rPr lang="en-GB" b="1" dirty="0"/>
            </a:br>
            <a:r>
              <a:rPr lang="en-GB" b="1" dirty="0"/>
              <a:t>— </a:t>
            </a:r>
            <a:r>
              <a:rPr lang="en-GB" b="1" dirty="0" err="1"/>
              <a:t>बोलकर</a:t>
            </a:r>
            <a:br>
              <a:rPr lang="en-GB" b="1" dirty="0"/>
            </a:br>
            <a:r>
              <a:rPr lang="en-GB" b="1" dirty="0" err="1"/>
              <a:t>देखिए</a:t>
            </a:r>
            <a:r>
              <a:rPr lang="en-GB" b="1" dirty="0"/>
              <a:t>।</a:t>
            </a:r>
            <a:br>
              <a:rPr lang="en-GB" b="1" dirty="0"/>
            </a:br>
            <a:r>
              <a:rPr lang="en-GB" b="1" dirty="0" err="1"/>
              <a:t>इसमें</a:t>
            </a:r>
            <a:br>
              <a:rPr lang="en-GB" b="1" dirty="0"/>
            </a:br>
            <a:r>
              <a:rPr lang="en-GB" b="1" dirty="0"/>
              <a:t>क</a:t>
            </a:r>
            <a:br>
              <a:rPr lang="en-GB" b="1" dirty="0"/>
            </a:br>
            <a:r>
              <a:rPr lang="en-GB" b="1" dirty="0" err="1"/>
              <a:t>पर</a:t>
            </a:r>
            <a:br>
              <a:rPr lang="en-GB" b="1" dirty="0"/>
            </a:br>
            <a:r>
              <a:rPr lang="en-GB" b="1" dirty="0" err="1"/>
              <a:t>बड़ी</a:t>
            </a:r>
            <a:br>
              <a:rPr lang="en-GB" b="1" dirty="0"/>
            </a:br>
            <a:r>
              <a:rPr lang="en-GB" b="1" dirty="0"/>
              <a:t>आ </a:t>
            </a:r>
            <a:r>
              <a:rPr lang="en-GB" b="1" dirty="0" err="1"/>
              <a:t>की</a:t>
            </a:r>
            <a:br>
              <a:rPr lang="en-GB" b="1" dirty="0"/>
            </a:br>
            <a:r>
              <a:rPr lang="en-GB" b="1" dirty="0" err="1"/>
              <a:t>मात्रा</a:t>
            </a:r>
            <a:br>
              <a:rPr lang="en-GB" b="1" dirty="0"/>
            </a:br>
            <a:r>
              <a:rPr lang="en-GB" b="1" dirty="0" err="1"/>
              <a:t>लगी</a:t>
            </a:r>
            <a:br>
              <a:rPr lang="en-GB" b="1" dirty="0"/>
            </a:br>
            <a:r>
              <a:rPr lang="en-GB" b="1" dirty="0" err="1"/>
              <a:t>है</a:t>
            </a:r>
            <a:r>
              <a:rPr lang="en-GB" b="1" dirty="0"/>
              <a:t>।”</a:t>
            </a:r>
            <a:endParaRPr lang="en-GB" dirty="0"/>
          </a:p>
          <a:p>
            <a:r>
              <a:rPr lang="en-GB" b="1" dirty="0"/>
              <a:t>On Screen:</a:t>
            </a:r>
            <a:endParaRPr lang="en-GB" dirty="0"/>
          </a:p>
          <a:p>
            <a:r>
              <a:rPr lang="en-GB" dirty="0"/>
              <a:t>•Keep one example visible at a time.</a:t>
            </a:r>
          </a:p>
          <a:p>
            <a:r>
              <a:rPr lang="en-GB" dirty="0"/>
              <a:t>•First show </a:t>
            </a:r>
            <a:r>
              <a:rPr lang="en-GB" b="1" dirty="0" err="1"/>
              <a:t>नाक</a:t>
            </a:r>
            <a:r>
              <a:rPr lang="en-GB" dirty="0"/>
              <a:t> with the </a:t>
            </a:r>
            <a:r>
              <a:rPr lang="en-GB" b="1" dirty="0"/>
              <a:t>nose image</a:t>
            </a:r>
            <a:r>
              <a:rPr lang="en-GB" dirty="0"/>
              <a:t>.</a:t>
            </a:r>
          </a:p>
          <a:p>
            <a:r>
              <a:rPr lang="en-GB" dirty="0"/>
              <a:t>•Highlight only the </a:t>
            </a:r>
            <a:r>
              <a:rPr lang="en-GB" b="1" dirty="0"/>
              <a:t>ा</a:t>
            </a:r>
            <a:r>
              <a:rPr lang="en-GB" dirty="0"/>
              <a:t> </a:t>
            </a:r>
            <a:r>
              <a:rPr lang="en-GB" dirty="0" err="1"/>
              <a:t>matra</a:t>
            </a:r>
            <a:r>
              <a:rPr lang="en-GB" dirty="0"/>
              <a:t> in the word </a:t>
            </a:r>
            <a:r>
              <a:rPr lang="en-GB" b="1" dirty="0" err="1"/>
              <a:t>नाक</a:t>
            </a:r>
            <a:r>
              <a:rPr lang="en-GB" dirty="0"/>
              <a:t>.</a:t>
            </a:r>
          </a:p>
          <a:p>
            <a:r>
              <a:rPr lang="en-GB" dirty="0"/>
              <a:t>•After that, show the second example </a:t>
            </a:r>
            <a:r>
              <a:rPr lang="en-GB" b="1" dirty="0" err="1"/>
              <a:t>मटका</a:t>
            </a:r>
            <a:r>
              <a:rPr lang="en-GB" dirty="0"/>
              <a:t> with a </a:t>
            </a:r>
            <a:r>
              <a:rPr lang="en-GB" b="1" dirty="0"/>
              <a:t>clay pot image</a:t>
            </a:r>
            <a:r>
              <a:rPr lang="en-GB" dirty="0"/>
              <a:t>.</a:t>
            </a:r>
          </a:p>
          <a:p>
            <a:r>
              <a:rPr lang="en-GB" dirty="0"/>
              <a:t>•Highlight the </a:t>
            </a:r>
            <a:r>
              <a:rPr lang="en-GB" b="1" dirty="0"/>
              <a:t>ा</a:t>
            </a:r>
            <a:r>
              <a:rPr lang="en-GB" dirty="0"/>
              <a:t> </a:t>
            </a:r>
            <a:r>
              <a:rPr lang="en-GB" dirty="0" err="1"/>
              <a:t>matra</a:t>
            </a:r>
            <a:r>
              <a:rPr lang="en-GB" dirty="0"/>
              <a:t> in </a:t>
            </a:r>
            <a:r>
              <a:rPr lang="en-GB" b="1" dirty="0" err="1"/>
              <a:t>मटका</a:t>
            </a:r>
            <a:r>
              <a:rPr lang="en-GB" dirty="0"/>
              <a:t> as well.</a:t>
            </a:r>
          </a:p>
          <a:p>
            <a:r>
              <a:rPr lang="en-GB" b="1" dirty="0"/>
              <a:t>Sequence:</a:t>
            </a:r>
            <a:endParaRPr lang="en-GB" dirty="0"/>
          </a:p>
          <a:p>
            <a:r>
              <a:rPr lang="en-GB" dirty="0"/>
              <a:t>1.</a:t>
            </a:r>
            <a:r>
              <a:rPr lang="en-GB" b="1" dirty="0"/>
              <a:t>नाक</a:t>
            </a:r>
            <a:r>
              <a:rPr lang="en-GB" dirty="0"/>
              <a:t> word appears</a:t>
            </a:r>
          </a:p>
          <a:p>
            <a:r>
              <a:rPr lang="en-GB" dirty="0"/>
              <a:t>2.Nose image appears</a:t>
            </a:r>
          </a:p>
          <a:p>
            <a:r>
              <a:rPr lang="en-GB" dirty="0"/>
              <a:t>3.The </a:t>
            </a:r>
            <a:r>
              <a:rPr lang="en-GB" b="1" dirty="0"/>
              <a:t>ा</a:t>
            </a:r>
            <a:r>
              <a:rPr lang="en-GB" dirty="0"/>
              <a:t> </a:t>
            </a:r>
            <a:r>
              <a:rPr lang="en-GB" dirty="0" err="1"/>
              <a:t>matra</a:t>
            </a:r>
            <a:r>
              <a:rPr lang="en-GB" dirty="0"/>
              <a:t> in </a:t>
            </a:r>
            <a:r>
              <a:rPr lang="en-GB" b="1" dirty="0" err="1"/>
              <a:t>नाक</a:t>
            </a:r>
            <a:r>
              <a:rPr lang="en-GB" dirty="0"/>
              <a:t> gets highlighted</a:t>
            </a:r>
          </a:p>
          <a:p>
            <a:r>
              <a:rPr lang="en-GB" dirty="0"/>
              <a:t>4.Then move to </a:t>
            </a:r>
            <a:r>
              <a:rPr lang="en-GB" b="1" dirty="0" err="1"/>
              <a:t>मटका</a:t>
            </a:r>
            <a:endParaRPr lang="en-GB" dirty="0"/>
          </a:p>
          <a:p>
            <a:r>
              <a:rPr lang="en-GB" dirty="0"/>
              <a:t>5.</a:t>
            </a:r>
            <a:r>
              <a:rPr lang="en-GB" b="1" dirty="0"/>
              <a:t>मटका</a:t>
            </a:r>
            <a:r>
              <a:rPr lang="en-GB" dirty="0"/>
              <a:t> word appears</a:t>
            </a:r>
          </a:p>
          <a:p>
            <a:r>
              <a:rPr lang="en-GB" dirty="0"/>
              <a:t>6.Clay pot image appears</a:t>
            </a:r>
          </a:p>
          <a:p>
            <a:r>
              <a:rPr lang="en-GB" dirty="0"/>
              <a:t>7.The </a:t>
            </a:r>
            <a:r>
              <a:rPr lang="en-GB" b="1" dirty="0"/>
              <a:t>ा</a:t>
            </a:r>
            <a:r>
              <a:rPr lang="en-GB" dirty="0"/>
              <a:t> </a:t>
            </a:r>
            <a:r>
              <a:rPr lang="en-GB" dirty="0" err="1"/>
              <a:t>matra</a:t>
            </a:r>
            <a:r>
              <a:rPr lang="en-GB" dirty="0"/>
              <a:t> in </a:t>
            </a:r>
            <a:r>
              <a:rPr lang="en-GB" b="1" dirty="0" err="1"/>
              <a:t>मटका</a:t>
            </a:r>
            <a:r>
              <a:rPr lang="en-GB" dirty="0"/>
              <a:t> gets highlighted</a:t>
            </a:r>
          </a:p>
          <a:p>
            <a:r>
              <a:rPr lang="en-GB" b="1" dirty="0"/>
              <a:t>Animation:</a:t>
            </a:r>
            <a:endParaRPr lang="en-GB" dirty="0"/>
          </a:p>
          <a:p>
            <a:r>
              <a:rPr lang="en-GB" dirty="0"/>
              <a:t>•Word should appear first, then image should appear.</a:t>
            </a:r>
          </a:p>
          <a:p>
            <a:r>
              <a:rPr lang="en-GB" dirty="0"/>
              <a:t>•Use simple </a:t>
            </a:r>
            <a:r>
              <a:rPr lang="en-GB" b="1" dirty="0"/>
              <a:t>fade / pop-in animation</a:t>
            </a:r>
            <a:r>
              <a:rPr lang="en-GB" dirty="0"/>
              <a:t>.</a:t>
            </a:r>
          </a:p>
          <a:p>
            <a:r>
              <a:rPr lang="en-GB" dirty="0"/>
              <a:t>•When VO says the </a:t>
            </a:r>
            <a:r>
              <a:rPr lang="en-GB" dirty="0" err="1"/>
              <a:t>matra</a:t>
            </a:r>
            <a:r>
              <a:rPr lang="en-GB" dirty="0"/>
              <a:t> part, the </a:t>
            </a:r>
            <a:r>
              <a:rPr lang="en-GB" b="1" dirty="0"/>
              <a:t>ा</a:t>
            </a:r>
            <a:r>
              <a:rPr lang="en-GB" dirty="0"/>
              <a:t> should glow/highlight.</a:t>
            </a:r>
          </a:p>
          <a:p>
            <a:r>
              <a:rPr lang="en-GB" dirty="0"/>
              <a:t>•Keep animation one by one, not all together.</a:t>
            </a:r>
          </a:p>
          <a:p>
            <a:r>
              <a:rPr lang="en-GB" b="1" dirty="0"/>
              <a:t>SFX:</a:t>
            </a:r>
            <a:endParaRPr lang="en-GB" dirty="0"/>
          </a:p>
          <a:p>
            <a:r>
              <a:rPr lang="en-GB" dirty="0"/>
              <a:t>•Soft pop sound when word/image appears</a:t>
            </a:r>
          </a:p>
          <a:p>
            <a:r>
              <a:rPr lang="en-GB" dirty="0"/>
              <a:t>•Soft highlight chime when </a:t>
            </a:r>
            <a:r>
              <a:rPr lang="en-GB" dirty="0" err="1"/>
              <a:t>matra</a:t>
            </a:r>
            <a:r>
              <a:rPr lang="en-GB" dirty="0"/>
              <a:t> glows</a:t>
            </a:r>
          </a:p>
          <a:p>
            <a:r>
              <a:rPr lang="en-GB" dirty="0"/>
              <a:t>•Keep SFX subtle</a:t>
            </a:r>
          </a:p>
          <a:p>
            <a:r>
              <a:rPr lang="en-GB" b="1" dirty="0"/>
              <a:t>Next Button:</a:t>
            </a:r>
            <a:endParaRPr lang="en-GB" dirty="0"/>
          </a:p>
          <a:p>
            <a:r>
              <a:rPr lang="en-GB" dirty="0"/>
              <a:t>•Keep </a:t>
            </a:r>
            <a:r>
              <a:rPr lang="en-GB" b="1" dirty="0"/>
              <a:t>Next</a:t>
            </a:r>
            <a:r>
              <a:rPr lang="en-GB" dirty="0"/>
              <a:t> button disabled during the explanation</a:t>
            </a:r>
          </a:p>
          <a:p>
            <a:r>
              <a:rPr lang="en-GB" dirty="0"/>
              <a:t>•Activate it only after both examples are shown completely</a:t>
            </a:r>
          </a:p>
          <a:p>
            <a:r>
              <a:rPr lang="en-GB" b="1" dirty="0"/>
              <a:t>Note:</a:t>
            </a:r>
            <a:endParaRPr lang="en-GB" dirty="0"/>
          </a:p>
          <a:p>
            <a:r>
              <a:rPr lang="en-GB" dirty="0"/>
              <a:t>•Keep screen clean</a:t>
            </a:r>
          </a:p>
          <a:p>
            <a:r>
              <a:rPr lang="en-GB" dirty="0"/>
              <a:t>•No extra text other than the example heading/content required for the explanation</a:t>
            </a:r>
          </a:p>
          <a:p>
            <a:r>
              <a:rPr lang="en-GB" dirty="0"/>
              <a:t>•Focus on clearly showing that </a:t>
            </a:r>
            <a:r>
              <a:rPr lang="en-GB" b="1" dirty="0"/>
              <a:t>आ </a:t>
            </a:r>
            <a:r>
              <a:rPr lang="en-GB" b="1" dirty="0" err="1"/>
              <a:t>की</a:t>
            </a:r>
            <a:r>
              <a:rPr lang="en-GB" b="1" dirty="0"/>
              <a:t> </a:t>
            </a:r>
            <a:r>
              <a:rPr lang="en-GB" b="1" dirty="0" err="1"/>
              <a:t>मात्रा</a:t>
            </a:r>
            <a:r>
              <a:rPr lang="en-GB" dirty="0"/>
              <a:t> is highlighted in both words</a:t>
            </a:r>
          </a:p>
          <a:p>
            <a:r>
              <a:rPr lang="en-GB" dirty="0" err="1"/>
              <a:t>i</a:t>
            </a:r>
            <a:r>
              <a:rPr lang="en-GB" dirty="0"/>
              <a:t> am attaching previous recommendation</a:t>
            </a:r>
          </a:p>
          <a:p>
            <a:endParaRPr lang="en-IN" dirty="0"/>
          </a:p>
        </p:txBody>
      </p:sp>
      <p:sp>
        <p:nvSpPr>
          <p:cNvPr id="4" name="Slide Number Placeholder 3"/>
          <p:cNvSpPr>
            <a:spLocks noGrp="1"/>
          </p:cNvSpPr>
          <p:nvPr>
            <p:ph type="sldNum" sz="quarter" idx="5"/>
          </p:nvPr>
        </p:nvSpPr>
        <p:spPr/>
        <p:txBody>
          <a:bodyPr/>
          <a:lstStyle/>
          <a:p>
            <a:fld id="{2E8D0E46-8C9D-41DC-B81C-31859D5EE714}" type="slidenum">
              <a:rPr lang="en-IN" smtClean="0"/>
              <a:t>6</a:t>
            </a:fld>
            <a:endParaRPr lang="en-IN"/>
          </a:p>
        </p:txBody>
      </p:sp>
    </p:spTree>
    <p:extLst>
      <p:ext uri="{BB962C8B-B14F-4D97-AF65-F5344CB8AC3E}">
        <p14:creationId xmlns:p14="http://schemas.microsoft.com/office/powerpoint/2010/main" val="6299589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Recommendation</a:t>
            </a:r>
          </a:p>
          <a:p>
            <a:r>
              <a:rPr lang="en-GB" b="1" dirty="0"/>
              <a:t>VO</a:t>
            </a:r>
          </a:p>
          <a:p>
            <a:r>
              <a:rPr lang="en-GB" dirty="0"/>
              <a:t>“</a:t>
            </a:r>
            <a:r>
              <a:rPr lang="en-GB" dirty="0" err="1"/>
              <a:t>आइए</a:t>
            </a:r>
            <a:r>
              <a:rPr lang="en-GB" dirty="0"/>
              <a:t>, </a:t>
            </a:r>
            <a:r>
              <a:rPr lang="en-GB" dirty="0" err="1"/>
              <a:t>देखें</a:t>
            </a:r>
            <a:r>
              <a:rPr lang="en-GB" dirty="0"/>
              <a:t> </a:t>
            </a:r>
            <a:r>
              <a:rPr lang="en-GB" dirty="0" err="1"/>
              <a:t>कि</a:t>
            </a:r>
            <a:r>
              <a:rPr lang="en-GB" dirty="0"/>
              <a:t> </a:t>
            </a:r>
            <a:r>
              <a:rPr lang="en-GB" dirty="0" err="1"/>
              <a:t>छोटी</a:t>
            </a:r>
            <a:r>
              <a:rPr lang="en-GB" dirty="0"/>
              <a:t> इ </a:t>
            </a:r>
            <a:r>
              <a:rPr lang="en-GB" dirty="0" err="1"/>
              <a:t>की</a:t>
            </a:r>
            <a:r>
              <a:rPr lang="en-GB" dirty="0"/>
              <a:t> </a:t>
            </a:r>
            <a:r>
              <a:rPr lang="en-GB" dirty="0" err="1"/>
              <a:t>मात्रा</a:t>
            </a:r>
            <a:r>
              <a:rPr lang="en-GB" dirty="0"/>
              <a:t> </a:t>
            </a:r>
            <a:r>
              <a:rPr lang="en-GB" dirty="0" err="1"/>
              <a:t>लगाने</a:t>
            </a:r>
            <a:r>
              <a:rPr lang="en-GB" dirty="0"/>
              <a:t> </a:t>
            </a:r>
            <a:r>
              <a:rPr lang="en-GB" dirty="0" err="1"/>
              <a:t>से</a:t>
            </a:r>
            <a:r>
              <a:rPr lang="en-GB" dirty="0"/>
              <a:t> </a:t>
            </a:r>
            <a:r>
              <a:rPr lang="en-GB" dirty="0" err="1"/>
              <a:t>शब्द</a:t>
            </a:r>
            <a:r>
              <a:rPr lang="en-GB" dirty="0"/>
              <a:t> </a:t>
            </a:r>
            <a:r>
              <a:rPr lang="en-GB" dirty="0" err="1"/>
              <a:t>की</a:t>
            </a:r>
            <a:r>
              <a:rPr lang="en-GB" dirty="0"/>
              <a:t> </a:t>
            </a:r>
            <a:r>
              <a:rPr lang="en-GB" dirty="0" err="1"/>
              <a:t>आवाज़</a:t>
            </a:r>
            <a:r>
              <a:rPr lang="en-GB" dirty="0"/>
              <a:t> </a:t>
            </a:r>
            <a:r>
              <a:rPr lang="en-GB" dirty="0" err="1"/>
              <a:t>कैसे</a:t>
            </a:r>
            <a:r>
              <a:rPr lang="en-GB" dirty="0"/>
              <a:t> </a:t>
            </a:r>
            <a:r>
              <a:rPr lang="en-GB" dirty="0" err="1"/>
              <a:t>बदलती</a:t>
            </a:r>
            <a:r>
              <a:rPr lang="en-GB" dirty="0"/>
              <a:t> </a:t>
            </a:r>
            <a:r>
              <a:rPr lang="en-GB" dirty="0" err="1"/>
              <a:t>है</a:t>
            </a:r>
            <a:r>
              <a:rPr lang="en-GB" dirty="0"/>
              <a:t>।”</a:t>
            </a:r>
          </a:p>
          <a:p>
            <a:r>
              <a:rPr lang="en-GB" dirty="0" err="1"/>
              <a:t>पहले</a:t>
            </a:r>
            <a:r>
              <a:rPr lang="en-GB" dirty="0"/>
              <a:t>:</a:t>
            </a:r>
          </a:p>
          <a:p>
            <a:r>
              <a:rPr lang="en-GB" b="1" dirty="0"/>
              <a:t>“</a:t>
            </a:r>
            <a:r>
              <a:rPr lang="en-GB" b="1" dirty="0" err="1"/>
              <a:t>यह</a:t>
            </a:r>
            <a:r>
              <a:rPr lang="en-GB" b="1" dirty="0"/>
              <a:t> </a:t>
            </a:r>
            <a:r>
              <a:rPr lang="en-GB" b="1" dirty="0" err="1"/>
              <a:t>शब्द</a:t>
            </a:r>
            <a:r>
              <a:rPr lang="en-GB" b="1" dirty="0"/>
              <a:t> </a:t>
            </a:r>
            <a:r>
              <a:rPr lang="en-GB" b="1" dirty="0" err="1"/>
              <a:t>है</a:t>
            </a:r>
            <a:r>
              <a:rPr lang="en-GB" b="1" dirty="0"/>
              <a:t> — </a:t>
            </a:r>
            <a:r>
              <a:rPr lang="en-GB" b="1" dirty="0" err="1"/>
              <a:t>बल</a:t>
            </a:r>
            <a:r>
              <a:rPr lang="en-GB" b="1" dirty="0"/>
              <a:t>।”</a:t>
            </a:r>
            <a:endParaRPr lang="en-GB" dirty="0"/>
          </a:p>
          <a:p>
            <a:r>
              <a:rPr lang="en-GB" dirty="0" err="1"/>
              <a:t>फिर</a:t>
            </a:r>
            <a:r>
              <a:rPr lang="en-GB" dirty="0"/>
              <a:t>:</a:t>
            </a:r>
          </a:p>
          <a:p>
            <a:r>
              <a:rPr lang="en-GB" b="1" dirty="0"/>
              <a:t>“ब </a:t>
            </a:r>
            <a:r>
              <a:rPr lang="en-GB" b="1" dirty="0" err="1"/>
              <a:t>में</a:t>
            </a:r>
            <a:r>
              <a:rPr lang="en-GB" b="1" dirty="0"/>
              <a:t> </a:t>
            </a:r>
            <a:r>
              <a:rPr lang="en-GB" b="1" dirty="0" err="1"/>
              <a:t>छोटी</a:t>
            </a:r>
            <a:r>
              <a:rPr lang="en-GB" b="1" dirty="0"/>
              <a:t> इ </a:t>
            </a:r>
            <a:r>
              <a:rPr lang="en-GB" b="1" dirty="0" err="1"/>
              <a:t>की</a:t>
            </a:r>
            <a:r>
              <a:rPr lang="en-GB" b="1" dirty="0"/>
              <a:t> </a:t>
            </a:r>
            <a:r>
              <a:rPr lang="en-GB" b="1" dirty="0" err="1"/>
              <a:t>मात्रा</a:t>
            </a:r>
            <a:r>
              <a:rPr lang="en-GB" b="1" dirty="0"/>
              <a:t> </a:t>
            </a:r>
            <a:r>
              <a:rPr lang="en-GB" b="1" dirty="0" err="1"/>
              <a:t>लगाने</a:t>
            </a:r>
            <a:r>
              <a:rPr lang="en-GB" b="1" dirty="0"/>
              <a:t> </a:t>
            </a:r>
            <a:r>
              <a:rPr lang="en-GB" b="1" dirty="0" err="1"/>
              <a:t>पर</a:t>
            </a:r>
            <a:r>
              <a:rPr lang="en-GB" b="1" dirty="0"/>
              <a:t> — </a:t>
            </a:r>
            <a:r>
              <a:rPr lang="en-GB" b="1" dirty="0" err="1"/>
              <a:t>बि</a:t>
            </a:r>
            <a:r>
              <a:rPr lang="en-GB" b="1" dirty="0"/>
              <a:t> </a:t>
            </a:r>
            <a:r>
              <a:rPr lang="en-GB" b="1" dirty="0" err="1"/>
              <a:t>बनता</a:t>
            </a:r>
            <a:r>
              <a:rPr lang="en-GB" b="1" dirty="0"/>
              <a:t> </a:t>
            </a:r>
            <a:r>
              <a:rPr lang="en-GB" b="1" dirty="0" err="1"/>
              <a:t>है</a:t>
            </a:r>
            <a:r>
              <a:rPr lang="en-GB" b="1" dirty="0"/>
              <a:t>।”</a:t>
            </a:r>
            <a:endParaRPr lang="en-GB" dirty="0"/>
          </a:p>
          <a:p>
            <a:r>
              <a:rPr lang="en-GB" dirty="0" err="1"/>
              <a:t>अंत</a:t>
            </a:r>
            <a:r>
              <a:rPr lang="en-GB" dirty="0"/>
              <a:t> </a:t>
            </a:r>
            <a:r>
              <a:rPr lang="en-GB" dirty="0" err="1"/>
              <a:t>में</a:t>
            </a:r>
            <a:r>
              <a:rPr lang="en-GB" dirty="0"/>
              <a:t>:</a:t>
            </a:r>
          </a:p>
          <a:p>
            <a:r>
              <a:rPr lang="en-GB" b="1" dirty="0"/>
              <a:t>“</a:t>
            </a:r>
            <a:r>
              <a:rPr lang="en-GB" b="1" dirty="0" err="1"/>
              <a:t>अब</a:t>
            </a:r>
            <a:r>
              <a:rPr lang="en-GB" b="1" dirty="0"/>
              <a:t> </a:t>
            </a:r>
            <a:r>
              <a:rPr lang="en-GB" b="1" dirty="0" err="1"/>
              <a:t>बल</a:t>
            </a:r>
            <a:r>
              <a:rPr lang="en-GB" b="1" dirty="0"/>
              <a:t> </a:t>
            </a:r>
            <a:r>
              <a:rPr lang="en-GB" b="1" dirty="0" err="1"/>
              <a:t>में</a:t>
            </a:r>
            <a:r>
              <a:rPr lang="en-GB" b="1" dirty="0"/>
              <a:t> </a:t>
            </a:r>
            <a:r>
              <a:rPr lang="en-GB" b="1" dirty="0" err="1"/>
              <a:t>छोटी</a:t>
            </a:r>
            <a:r>
              <a:rPr lang="en-GB" b="1" dirty="0"/>
              <a:t> इ </a:t>
            </a:r>
            <a:r>
              <a:rPr lang="en-GB" b="1" dirty="0" err="1"/>
              <a:t>की</a:t>
            </a:r>
            <a:r>
              <a:rPr lang="en-GB" b="1" dirty="0"/>
              <a:t> </a:t>
            </a:r>
            <a:r>
              <a:rPr lang="en-GB" b="1" dirty="0" err="1"/>
              <a:t>मात्रा</a:t>
            </a:r>
            <a:r>
              <a:rPr lang="en-GB" b="1" dirty="0"/>
              <a:t> </a:t>
            </a:r>
            <a:r>
              <a:rPr lang="en-GB" b="1" dirty="0" err="1"/>
              <a:t>लगाने</a:t>
            </a:r>
            <a:r>
              <a:rPr lang="en-GB" b="1" dirty="0"/>
              <a:t> </a:t>
            </a:r>
            <a:r>
              <a:rPr lang="en-GB" b="1" dirty="0" err="1"/>
              <a:t>पर</a:t>
            </a:r>
            <a:r>
              <a:rPr lang="en-GB" b="1" dirty="0"/>
              <a:t> — </a:t>
            </a:r>
            <a:r>
              <a:rPr lang="en-GB" b="1" dirty="0" err="1"/>
              <a:t>बिल</a:t>
            </a:r>
            <a:r>
              <a:rPr lang="en-GB" b="1" dirty="0"/>
              <a:t> </a:t>
            </a:r>
            <a:r>
              <a:rPr lang="en-GB" b="1" dirty="0" err="1"/>
              <a:t>बनता</a:t>
            </a:r>
            <a:r>
              <a:rPr lang="en-GB" b="1" dirty="0"/>
              <a:t> </a:t>
            </a:r>
            <a:r>
              <a:rPr lang="en-GB" b="1" dirty="0" err="1"/>
              <a:t>है</a:t>
            </a:r>
            <a:r>
              <a:rPr lang="en-GB" b="1" dirty="0"/>
              <a:t>।”</a:t>
            </a:r>
            <a:endParaRPr lang="en-GB" dirty="0"/>
          </a:p>
          <a:p>
            <a:r>
              <a:rPr lang="en-GB" b="1" dirty="0"/>
              <a:t>On Screen</a:t>
            </a:r>
          </a:p>
          <a:p>
            <a:pPr>
              <a:buFont typeface="Arial" panose="020B0604020202020204" pitchFamily="34" charset="0"/>
              <a:buChar char="•"/>
            </a:pPr>
            <a:r>
              <a:rPr lang="en-GB" dirty="0"/>
              <a:t>Keep only one transformation on the screen. </a:t>
            </a:r>
          </a:p>
          <a:p>
            <a:pPr>
              <a:buFont typeface="Arial" panose="020B0604020202020204" pitchFamily="34" charset="0"/>
              <a:buChar char="•"/>
            </a:pPr>
            <a:r>
              <a:rPr lang="en-GB" dirty="0"/>
              <a:t>First show </a:t>
            </a:r>
            <a:r>
              <a:rPr lang="en-GB" b="1" dirty="0" err="1"/>
              <a:t>बल</a:t>
            </a:r>
            <a:r>
              <a:rPr lang="en-GB" dirty="0"/>
              <a:t> with a simple visual. </a:t>
            </a:r>
          </a:p>
          <a:p>
            <a:pPr>
              <a:buFont typeface="Arial" panose="020B0604020202020204" pitchFamily="34" charset="0"/>
              <a:buChar char="•"/>
            </a:pPr>
            <a:r>
              <a:rPr lang="en-GB" dirty="0"/>
              <a:t>Then highlight </a:t>
            </a:r>
            <a:r>
              <a:rPr lang="en-GB" b="1" dirty="0"/>
              <a:t>ब</a:t>
            </a:r>
            <a:r>
              <a:rPr lang="en-GB" dirty="0"/>
              <a:t>. </a:t>
            </a:r>
          </a:p>
          <a:p>
            <a:pPr>
              <a:buFont typeface="Arial" panose="020B0604020202020204" pitchFamily="34" charset="0"/>
              <a:buChar char="•"/>
            </a:pPr>
            <a:r>
              <a:rPr lang="en-GB" dirty="0"/>
              <a:t>Show the transformation in the centre: </a:t>
            </a:r>
          </a:p>
          <a:p>
            <a:r>
              <a:rPr lang="en-GB" b="1" dirty="0"/>
              <a:t>ब + ि = </a:t>
            </a:r>
            <a:r>
              <a:rPr lang="en-GB" b="1" dirty="0" err="1"/>
              <a:t>बि</a:t>
            </a:r>
            <a:endParaRPr lang="en-GB" dirty="0"/>
          </a:p>
          <a:p>
            <a:pPr>
              <a:buFont typeface="Arial" panose="020B0604020202020204" pitchFamily="34" charset="0"/>
              <a:buChar char="•"/>
            </a:pPr>
            <a:r>
              <a:rPr lang="en-GB" dirty="0"/>
              <a:t>After that, complete the word as: </a:t>
            </a:r>
          </a:p>
          <a:p>
            <a:r>
              <a:rPr lang="en-GB" b="1" dirty="0" err="1"/>
              <a:t>बिल</a:t>
            </a:r>
            <a:endParaRPr lang="en-GB" dirty="0"/>
          </a:p>
          <a:p>
            <a:pPr>
              <a:buFont typeface="Arial" panose="020B0604020202020204" pitchFamily="34" charset="0"/>
              <a:buChar char="•"/>
            </a:pPr>
            <a:r>
              <a:rPr lang="en-GB" dirty="0"/>
              <a:t>Highlight only the </a:t>
            </a:r>
            <a:r>
              <a:rPr lang="en-GB" b="1" dirty="0"/>
              <a:t>ि</a:t>
            </a:r>
            <a:r>
              <a:rPr lang="en-GB" dirty="0"/>
              <a:t> </a:t>
            </a:r>
            <a:r>
              <a:rPr lang="en-GB" dirty="0" err="1"/>
              <a:t>मात्रा</a:t>
            </a:r>
            <a:r>
              <a:rPr lang="en-GB" dirty="0"/>
              <a:t> in </a:t>
            </a:r>
            <a:r>
              <a:rPr lang="en-GB" b="1" dirty="0" err="1"/>
              <a:t>बिल</a:t>
            </a:r>
            <a:r>
              <a:rPr lang="en-GB" dirty="0"/>
              <a:t>. </a:t>
            </a:r>
          </a:p>
          <a:p>
            <a:pPr>
              <a:buFont typeface="Arial" panose="020B0604020202020204" pitchFamily="34" charset="0"/>
              <a:buChar char="•"/>
            </a:pPr>
            <a:r>
              <a:rPr lang="en-GB" dirty="0"/>
              <a:t>Show a simple relevant image for </a:t>
            </a:r>
            <a:r>
              <a:rPr lang="en-GB" b="1" dirty="0" err="1"/>
              <a:t>बिल</a:t>
            </a:r>
            <a:r>
              <a:rPr lang="en-GB" dirty="0"/>
              <a:t> on the final side. </a:t>
            </a:r>
          </a:p>
          <a:p>
            <a:r>
              <a:rPr lang="en-GB" b="1" dirty="0"/>
              <a:t>Sequence</a:t>
            </a:r>
          </a:p>
          <a:p>
            <a:pPr>
              <a:buFont typeface="+mj-lt"/>
              <a:buAutoNum type="arabicPeriod"/>
            </a:pPr>
            <a:r>
              <a:rPr lang="en-GB" b="1" dirty="0" err="1"/>
              <a:t>बल</a:t>
            </a:r>
            <a:r>
              <a:rPr lang="en-GB" dirty="0"/>
              <a:t> appears. </a:t>
            </a:r>
          </a:p>
          <a:p>
            <a:pPr>
              <a:buFont typeface="+mj-lt"/>
              <a:buAutoNum type="arabicPeriod"/>
            </a:pPr>
            <a:r>
              <a:rPr lang="en-GB" dirty="0"/>
              <a:t>VO reads: </a:t>
            </a:r>
            <a:r>
              <a:rPr lang="en-GB" b="1" dirty="0"/>
              <a:t>“</a:t>
            </a:r>
            <a:r>
              <a:rPr lang="en-GB" b="1" dirty="0" err="1"/>
              <a:t>बल</a:t>
            </a:r>
            <a:r>
              <a:rPr lang="en-GB" b="1" dirty="0"/>
              <a:t>”</a:t>
            </a:r>
            <a:r>
              <a:rPr lang="en-GB" dirty="0"/>
              <a:t>. </a:t>
            </a:r>
          </a:p>
          <a:p>
            <a:pPr>
              <a:buFont typeface="+mj-lt"/>
              <a:buAutoNum type="arabicPeriod"/>
            </a:pPr>
            <a:r>
              <a:rPr lang="en-GB" b="1" dirty="0"/>
              <a:t>ब</a:t>
            </a:r>
            <a:r>
              <a:rPr lang="en-GB" dirty="0"/>
              <a:t> gets highlighted. </a:t>
            </a:r>
          </a:p>
          <a:p>
            <a:pPr>
              <a:buFont typeface="+mj-lt"/>
              <a:buAutoNum type="arabicPeriod"/>
            </a:pPr>
            <a:r>
              <a:rPr lang="en-GB" b="1" dirty="0"/>
              <a:t>ि</a:t>
            </a:r>
            <a:r>
              <a:rPr lang="en-GB" dirty="0"/>
              <a:t> appears and moves to its correct position before </a:t>
            </a:r>
            <a:r>
              <a:rPr lang="en-GB" b="1" dirty="0"/>
              <a:t>ब</a:t>
            </a:r>
            <a:r>
              <a:rPr lang="en-GB" dirty="0"/>
              <a:t>. </a:t>
            </a:r>
          </a:p>
          <a:p>
            <a:pPr>
              <a:buFont typeface="+mj-lt"/>
              <a:buAutoNum type="arabicPeriod"/>
            </a:pPr>
            <a:r>
              <a:rPr lang="en-GB" dirty="0"/>
              <a:t>Show: </a:t>
            </a:r>
            <a:r>
              <a:rPr lang="en-GB" b="1" dirty="0"/>
              <a:t>ब + ि = </a:t>
            </a:r>
            <a:r>
              <a:rPr lang="en-GB" b="1" dirty="0" err="1"/>
              <a:t>बि</a:t>
            </a:r>
            <a:r>
              <a:rPr lang="en-GB" dirty="0"/>
              <a:t> </a:t>
            </a:r>
          </a:p>
          <a:p>
            <a:pPr>
              <a:buFont typeface="+mj-lt"/>
              <a:buAutoNum type="arabicPeriod"/>
            </a:pPr>
            <a:r>
              <a:rPr lang="en-GB" dirty="0"/>
              <a:t>Play the sound clearly: </a:t>
            </a:r>
            <a:r>
              <a:rPr lang="en-GB" b="1" dirty="0"/>
              <a:t>“ब” → “</a:t>
            </a:r>
            <a:r>
              <a:rPr lang="en-GB" b="1" dirty="0" err="1"/>
              <a:t>बि</a:t>
            </a:r>
            <a:r>
              <a:rPr lang="en-GB" b="1" dirty="0"/>
              <a:t>”</a:t>
            </a:r>
            <a:r>
              <a:rPr lang="en-GB" dirty="0"/>
              <a:t> </a:t>
            </a:r>
          </a:p>
          <a:p>
            <a:pPr>
              <a:buFont typeface="+mj-lt"/>
              <a:buAutoNum type="arabicPeriod"/>
            </a:pPr>
            <a:r>
              <a:rPr lang="en-GB" b="1" dirty="0"/>
              <a:t>ल</a:t>
            </a:r>
            <a:r>
              <a:rPr lang="en-GB" dirty="0"/>
              <a:t> joins. </a:t>
            </a:r>
          </a:p>
          <a:p>
            <a:pPr>
              <a:buFont typeface="+mj-lt"/>
              <a:buAutoNum type="arabicPeriod"/>
            </a:pPr>
            <a:r>
              <a:rPr lang="en-GB" dirty="0"/>
              <a:t>Final word appears: </a:t>
            </a:r>
            <a:r>
              <a:rPr lang="en-GB" b="1" dirty="0" err="1"/>
              <a:t>बिल</a:t>
            </a:r>
            <a:r>
              <a:rPr lang="en-GB" dirty="0"/>
              <a:t> </a:t>
            </a:r>
          </a:p>
          <a:p>
            <a:pPr>
              <a:buFont typeface="+mj-lt"/>
              <a:buAutoNum type="arabicPeriod"/>
            </a:pPr>
            <a:r>
              <a:rPr lang="en-GB" dirty="0"/>
              <a:t>Highlight </a:t>
            </a:r>
            <a:r>
              <a:rPr lang="en-GB" b="1" dirty="0"/>
              <a:t>ि</a:t>
            </a:r>
            <a:r>
              <a:rPr lang="en-GB" dirty="0"/>
              <a:t> in </a:t>
            </a:r>
            <a:r>
              <a:rPr lang="en-GB" b="1" dirty="0" err="1"/>
              <a:t>बिल</a:t>
            </a:r>
            <a:r>
              <a:rPr lang="en-GB" dirty="0"/>
              <a:t>. </a:t>
            </a:r>
          </a:p>
          <a:p>
            <a:pPr>
              <a:buFont typeface="+mj-lt"/>
              <a:buAutoNum type="arabicPeriod"/>
            </a:pPr>
            <a:r>
              <a:rPr lang="en-GB" dirty="0"/>
              <a:t>Final image appears. </a:t>
            </a:r>
          </a:p>
          <a:p>
            <a:r>
              <a:rPr lang="en-GB" b="1" dirty="0"/>
              <a:t>Animation</a:t>
            </a:r>
          </a:p>
          <a:p>
            <a:pPr>
              <a:buFont typeface="Arial" panose="020B0604020202020204" pitchFamily="34" charset="0"/>
              <a:buChar char="•"/>
            </a:pPr>
            <a:r>
              <a:rPr lang="en-GB" dirty="0"/>
              <a:t>Use simple step-by-step animation. </a:t>
            </a:r>
          </a:p>
          <a:p>
            <a:pPr>
              <a:buFont typeface="Arial" panose="020B0604020202020204" pitchFamily="34" charset="0"/>
              <a:buChar char="•"/>
            </a:pPr>
            <a:r>
              <a:rPr lang="en-GB" dirty="0"/>
              <a:t>Do not show all stages together from the beginning. </a:t>
            </a:r>
          </a:p>
          <a:p>
            <a:pPr>
              <a:buFont typeface="Arial" panose="020B0604020202020204" pitchFamily="34" charset="0"/>
              <a:buChar char="•"/>
            </a:pPr>
            <a:r>
              <a:rPr lang="en-GB" dirty="0"/>
              <a:t>The </a:t>
            </a:r>
            <a:r>
              <a:rPr lang="en-GB" b="1" dirty="0"/>
              <a:t>ि</a:t>
            </a:r>
            <a:r>
              <a:rPr lang="en-GB" dirty="0"/>
              <a:t> </a:t>
            </a:r>
            <a:r>
              <a:rPr lang="en-GB" dirty="0" err="1"/>
              <a:t>मात्रा</a:t>
            </a:r>
            <a:r>
              <a:rPr lang="en-GB" dirty="0"/>
              <a:t> should visibly move to the </a:t>
            </a:r>
            <a:r>
              <a:rPr lang="en-GB" b="1" dirty="0"/>
              <a:t>left side of ब</a:t>
            </a:r>
            <a:r>
              <a:rPr lang="en-GB" dirty="0"/>
              <a:t>, so the child notices its written position. </a:t>
            </a:r>
          </a:p>
          <a:p>
            <a:pPr>
              <a:buFont typeface="Arial" panose="020B0604020202020204" pitchFamily="34" charset="0"/>
              <a:buChar char="•"/>
            </a:pPr>
            <a:r>
              <a:rPr lang="en-GB" dirty="0"/>
              <a:t>Sync the visual change with the VO:</a:t>
            </a:r>
            <a:br>
              <a:rPr lang="en-GB" dirty="0"/>
            </a:br>
            <a:r>
              <a:rPr lang="en-GB" b="1" dirty="0"/>
              <a:t>ब → </a:t>
            </a:r>
            <a:r>
              <a:rPr lang="en-GB" b="1" dirty="0" err="1"/>
              <a:t>बि</a:t>
            </a:r>
            <a:r>
              <a:rPr lang="en-GB" b="1" dirty="0"/>
              <a:t> → </a:t>
            </a:r>
            <a:r>
              <a:rPr lang="en-GB" b="1" dirty="0" err="1"/>
              <a:t>बिल</a:t>
            </a:r>
            <a:r>
              <a:rPr lang="en-GB" dirty="0"/>
              <a:t> </a:t>
            </a:r>
          </a:p>
          <a:p>
            <a:pPr>
              <a:buFont typeface="Arial" panose="020B0604020202020204" pitchFamily="34" charset="0"/>
              <a:buChar char="•"/>
            </a:pPr>
            <a:r>
              <a:rPr lang="en-GB" dirty="0"/>
              <a:t>Give a short pause between each sound. </a:t>
            </a:r>
          </a:p>
          <a:p>
            <a:r>
              <a:rPr lang="en-GB" b="1" dirty="0"/>
              <a:t>Sound Differentiation</a:t>
            </a:r>
          </a:p>
          <a:p>
            <a:r>
              <a:rPr lang="en-GB" dirty="0"/>
              <a:t>The key focus should be on the change in sound:</a:t>
            </a:r>
          </a:p>
          <a:p>
            <a:r>
              <a:rPr lang="en-GB" b="1" dirty="0"/>
              <a:t>ब → </a:t>
            </a:r>
            <a:r>
              <a:rPr lang="en-GB" b="1" dirty="0" err="1"/>
              <a:t>बि</a:t>
            </a:r>
            <a:r>
              <a:rPr lang="en-GB" b="1" dirty="0"/>
              <a:t> → </a:t>
            </a:r>
            <a:r>
              <a:rPr lang="en-GB" b="1" dirty="0" err="1"/>
              <a:t>बिल</a:t>
            </a:r>
            <a:endParaRPr lang="en-GB" dirty="0"/>
          </a:p>
          <a:p>
            <a:r>
              <a:rPr lang="en-GB" dirty="0"/>
              <a:t>Make the pronunciation slow and clear so the child can hear how </a:t>
            </a:r>
            <a:r>
              <a:rPr lang="en-GB" b="1" dirty="0" err="1"/>
              <a:t>छोटी</a:t>
            </a:r>
            <a:r>
              <a:rPr lang="en-GB" b="1" dirty="0"/>
              <a:t> इ </a:t>
            </a:r>
            <a:r>
              <a:rPr lang="en-GB" b="1" dirty="0" err="1"/>
              <a:t>की</a:t>
            </a:r>
            <a:r>
              <a:rPr lang="en-GB" b="1" dirty="0"/>
              <a:t> </a:t>
            </a:r>
            <a:r>
              <a:rPr lang="en-GB" b="1" dirty="0" err="1"/>
              <a:t>मात्रा</a:t>
            </a:r>
            <a:r>
              <a:rPr lang="en-GB" dirty="0"/>
              <a:t> changes the sound.</a:t>
            </a:r>
          </a:p>
          <a:p>
            <a:r>
              <a:rPr lang="en-GB" b="1" dirty="0"/>
              <a:t>SFX</a:t>
            </a:r>
          </a:p>
          <a:p>
            <a:pPr>
              <a:buFont typeface="Arial" panose="020B0604020202020204" pitchFamily="34" charset="0"/>
              <a:buChar char="•"/>
            </a:pPr>
            <a:r>
              <a:rPr lang="en-GB" dirty="0"/>
              <a:t>Soft pop when </a:t>
            </a:r>
            <a:r>
              <a:rPr lang="en-GB" b="1" dirty="0"/>
              <a:t>ि</a:t>
            </a:r>
            <a:r>
              <a:rPr lang="en-GB" dirty="0"/>
              <a:t> appears. </a:t>
            </a:r>
          </a:p>
          <a:p>
            <a:pPr>
              <a:buFont typeface="Arial" panose="020B0604020202020204" pitchFamily="34" charset="0"/>
              <a:buChar char="•"/>
            </a:pPr>
            <a:r>
              <a:rPr lang="en-GB" dirty="0"/>
              <a:t>Light chime when </a:t>
            </a:r>
            <a:r>
              <a:rPr lang="en-GB" b="1" dirty="0"/>
              <a:t>ब</a:t>
            </a:r>
            <a:r>
              <a:rPr lang="en-GB" dirty="0"/>
              <a:t> changes to </a:t>
            </a:r>
            <a:r>
              <a:rPr lang="en-GB" b="1" dirty="0" err="1"/>
              <a:t>बि</a:t>
            </a:r>
            <a:r>
              <a:rPr lang="en-GB" dirty="0"/>
              <a:t>. </a:t>
            </a:r>
          </a:p>
          <a:p>
            <a:pPr>
              <a:buFont typeface="Arial" panose="020B0604020202020204" pitchFamily="34" charset="0"/>
              <a:buChar char="•"/>
            </a:pPr>
            <a:r>
              <a:rPr lang="en-GB" dirty="0"/>
              <a:t>Small success chime when </a:t>
            </a:r>
            <a:r>
              <a:rPr lang="en-GB" b="1" dirty="0" err="1"/>
              <a:t>बिल</a:t>
            </a:r>
            <a:r>
              <a:rPr lang="en-GB" dirty="0"/>
              <a:t> is completed. </a:t>
            </a:r>
          </a:p>
          <a:p>
            <a:pPr>
              <a:buFont typeface="Arial" panose="020B0604020202020204" pitchFamily="34" charset="0"/>
              <a:buChar char="•"/>
            </a:pPr>
            <a:r>
              <a:rPr lang="en-GB" dirty="0"/>
              <a:t>Keep SFX subtle so the pronunciation remains clear. </a:t>
            </a:r>
          </a:p>
          <a:p>
            <a:r>
              <a:rPr lang="en-GB" b="1" dirty="0"/>
              <a:t>Next Button</a:t>
            </a:r>
          </a:p>
          <a:p>
            <a:pPr>
              <a:buFont typeface="Arial" panose="020B0604020202020204" pitchFamily="34" charset="0"/>
              <a:buChar char="•"/>
            </a:pPr>
            <a:r>
              <a:rPr lang="en-GB" dirty="0"/>
              <a:t>Keep </a:t>
            </a:r>
            <a:r>
              <a:rPr lang="en-GB" b="1" dirty="0"/>
              <a:t>Next</a:t>
            </a:r>
            <a:r>
              <a:rPr lang="en-GB" dirty="0"/>
              <a:t> disabled during the explanation. </a:t>
            </a:r>
          </a:p>
          <a:p>
            <a:pPr>
              <a:buFont typeface="Arial" panose="020B0604020202020204" pitchFamily="34" charset="0"/>
              <a:buChar char="•"/>
            </a:pPr>
            <a:r>
              <a:rPr lang="en-GB" dirty="0"/>
              <a:t>Activate it only after the full transformation </a:t>
            </a:r>
            <a:r>
              <a:rPr lang="en-GB" b="1" dirty="0" err="1"/>
              <a:t>बल</a:t>
            </a:r>
            <a:r>
              <a:rPr lang="en-GB" b="1" dirty="0"/>
              <a:t> → </a:t>
            </a:r>
            <a:r>
              <a:rPr lang="en-GB" b="1" dirty="0" err="1"/>
              <a:t>बि</a:t>
            </a:r>
            <a:r>
              <a:rPr lang="en-GB" b="1" dirty="0"/>
              <a:t> → </a:t>
            </a:r>
            <a:r>
              <a:rPr lang="en-GB" b="1" dirty="0" err="1"/>
              <a:t>बिल</a:t>
            </a:r>
            <a:r>
              <a:rPr lang="en-GB" dirty="0"/>
              <a:t> is completed. </a:t>
            </a:r>
          </a:p>
          <a:p>
            <a:r>
              <a:rPr lang="en-GB" b="1" dirty="0"/>
              <a:t>Note</a:t>
            </a:r>
          </a:p>
          <a:p>
            <a:pPr>
              <a:buFont typeface="Arial" panose="020B0604020202020204" pitchFamily="34" charset="0"/>
              <a:buChar char="•"/>
            </a:pPr>
            <a:r>
              <a:rPr lang="en-GB" dirty="0"/>
              <a:t>Keep the screen clean and minimal. </a:t>
            </a:r>
          </a:p>
          <a:p>
            <a:pPr>
              <a:buFont typeface="Arial" panose="020B0604020202020204" pitchFamily="34" charset="0"/>
              <a:buChar char="•"/>
            </a:pPr>
            <a:r>
              <a:rPr lang="en-GB" dirty="0"/>
              <a:t>Avoid extra explanatory text. </a:t>
            </a:r>
          </a:p>
          <a:p>
            <a:pPr>
              <a:buFont typeface="Arial" panose="020B0604020202020204" pitchFamily="34" charset="0"/>
              <a:buChar char="•"/>
            </a:pPr>
            <a:r>
              <a:rPr lang="en-GB" dirty="0"/>
              <a:t>The main learning should be the </a:t>
            </a:r>
            <a:r>
              <a:rPr lang="en-GB" b="1" dirty="0"/>
              <a:t>before and after sound difference</a:t>
            </a:r>
            <a:r>
              <a:rPr lang="en-GB" dirty="0"/>
              <a:t> and the special written position of </a:t>
            </a:r>
            <a:r>
              <a:rPr lang="en-GB" b="1" dirty="0"/>
              <a:t>ि</a:t>
            </a:r>
            <a:r>
              <a:rPr lang="en-GB" dirty="0"/>
              <a:t>.</a:t>
            </a:r>
          </a:p>
          <a:p>
            <a:endParaRPr lang="en-IN" dirty="0"/>
          </a:p>
        </p:txBody>
      </p:sp>
      <p:sp>
        <p:nvSpPr>
          <p:cNvPr id="4" name="Slide Number Placeholder 3"/>
          <p:cNvSpPr>
            <a:spLocks noGrp="1"/>
          </p:cNvSpPr>
          <p:nvPr>
            <p:ph type="sldNum" sz="quarter" idx="5"/>
          </p:nvPr>
        </p:nvSpPr>
        <p:spPr/>
        <p:txBody>
          <a:bodyPr/>
          <a:lstStyle/>
          <a:p>
            <a:fld id="{2E8D0E46-8C9D-41DC-B81C-31859D5EE714}" type="slidenum">
              <a:rPr lang="en-IN" smtClean="0"/>
              <a:t>7</a:t>
            </a:fld>
            <a:endParaRPr lang="en-IN"/>
          </a:p>
        </p:txBody>
      </p:sp>
    </p:spTree>
    <p:extLst>
      <p:ext uri="{BB962C8B-B14F-4D97-AF65-F5344CB8AC3E}">
        <p14:creationId xmlns:p14="http://schemas.microsoft.com/office/powerpoint/2010/main" val="39916920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Recommendation</a:t>
            </a:r>
            <a:endParaRPr lang="en-IN" dirty="0"/>
          </a:p>
          <a:p>
            <a:r>
              <a:rPr lang="en-IN" b="1" dirty="0"/>
              <a:t>VO:</a:t>
            </a:r>
            <a:br>
              <a:rPr lang="en-IN" dirty="0"/>
            </a:br>
            <a:r>
              <a:rPr lang="en-IN" dirty="0"/>
              <a:t>“</a:t>
            </a:r>
            <a:r>
              <a:rPr lang="hi-IN" dirty="0"/>
              <a:t>आइए, छोटी इ की मात्रा वाले कुछ शब्द देखें।”</a:t>
            </a:r>
          </a:p>
          <a:p>
            <a:r>
              <a:rPr lang="hi-IN" dirty="0"/>
              <a:t>पहले:</a:t>
            </a:r>
            <a:br>
              <a:rPr lang="hi-IN" dirty="0"/>
            </a:br>
            <a:r>
              <a:rPr lang="hi-IN" b="1" dirty="0"/>
              <a:t>“दिन — बोलकर देखिए। इसमें द पर छोटी इ की मात्रा लगी है।”</a:t>
            </a:r>
            <a:endParaRPr lang="hi-IN" dirty="0"/>
          </a:p>
          <a:p>
            <a:r>
              <a:rPr lang="hi-IN" dirty="0"/>
              <a:t>फिर:</a:t>
            </a:r>
            <a:br>
              <a:rPr lang="hi-IN" dirty="0"/>
            </a:br>
            <a:r>
              <a:rPr lang="hi-IN" b="1" dirty="0"/>
              <a:t>“गति — बोलकर देखिए। इसमें त पर छोटी इ की मात्रा लगी है।”</a:t>
            </a:r>
            <a:endParaRPr lang="hi-IN" dirty="0"/>
          </a:p>
          <a:p>
            <a:r>
              <a:rPr lang="en-IN" b="1" dirty="0"/>
              <a:t>On Screen:</a:t>
            </a:r>
            <a:endParaRPr lang="en-IN" dirty="0"/>
          </a:p>
          <a:p>
            <a:pPr>
              <a:buFont typeface="Arial" panose="020B0604020202020204" pitchFamily="34" charset="0"/>
              <a:buChar char="•"/>
            </a:pPr>
            <a:r>
              <a:rPr lang="en-IN" dirty="0"/>
              <a:t>Keep one example visible at a time. </a:t>
            </a:r>
          </a:p>
          <a:p>
            <a:pPr>
              <a:buFont typeface="Arial" panose="020B0604020202020204" pitchFamily="34" charset="0"/>
              <a:buChar char="•"/>
            </a:pPr>
            <a:r>
              <a:rPr lang="en-IN" dirty="0"/>
              <a:t>First show </a:t>
            </a:r>
            <a:r>
              <a:rPr lang="hi-IN" b="1" dirty="0"/>
              <a:t>दिन</a:t>
            </a:r>
            <a:r>
              <a:rPr lang="hi-IN" dirty="0"/>
              <a:t> </a:t>
            </a:r>
            <a:r>
              <a:rPr lang="en-IN" dirty="0"/>
              <a:t>with a simple </a:t>
            </a:r>
            <a:r>
              <a:rPr lang="en-IN" b="1" dirty="0"/>
              <a:t>day/sun image</a:t>
            </a:r>
            <a:r>
              <a:rPr lang="en-IN" dirty="0"/>
              <a:t>. </a:t>
            </a:r>
          </a:p>
          <a:p>
            <a:pPr>
              <a:buFont typeface="Arial" panose="020B0604020202020204" pitchFamily="34" charset="0"/>
              <a:buChar char="•"/>
            </a:pPr>
            <a:r>
              <a:rPr lang="en-IN" dirty="0"/>
              <a:t>Highlight only the </a:t>
            </a:r>
            <a:r>
              <a:rPr lang="hi-IN" b="1" dirty="0"/>
              <a:t>ि</a:t>
            </a:r>
            <a:r>
              <a:rPr lang="hi-IN" dirty="0"/>
              <a:t> </a:t>
            </a:r>
            <a:r>
              <a:rPr lang="en-IN" dirty="0" err="1"/>
              <a:t>matra</a:t>
            </a:r>
            <a:r>
              <a:rPr lang="en-IN" dirty="0"/>
              <a:t> in </a:t>
            </a:r>
            <a:r>
              <a:rPr lang="hi-IN" b="1" dirty="0"/>
              <a:t>दिन</a:t>
            </a:r>
            <a:r>
              <a:rPr lang="hi-IN" dirty="0"/>
              <a:t>. </a:t>
            </a:r>
          </a:p>
          <a:p>
            <a:pPr>
              <a:buFont typeface="Arial" panose="020B0604020202020204" pitchFamily="34" charset="0"/>
              <a:buChar char="•"/>
            </a:pPr>
            <a:r>
              <a:rPr lang="en-IN" dirty="0"/>
              <a:t>After that, show </a:t>
            </a:r>
            <a:r>
              <a:rPr lang="hi-IN" b="1" dirty="0"/>
              <a:t>गति</a:t>
            </a:r>
            <a:r>
              <a:rPr lang="hi-IN" dirty="0"/>
              <a:t> </a:t>
            </a:r>
            <a:r>
              <a:rPr lang="en-IN" dirty="0"/>
              <a:t>with a simple visual representing </a:t>
            </a:r>
            <a:r>
              <a:rPr lang="en-IN" b="1" dirty="0"/>
              <a:t>movement/motion</a:t>
            </a:r>
            <a:r>
              <a:rPr lang="en-IN" dirty="0"/>
              <a:t>. </a:t>
            </a:r>
          </a:p>
          <a:p>
            <a:pPr>
              <a:buFont typeface="Arial" panose="020B0604020202020204" pitchFamily="34" charset="0"/>
              <a:buChar char="•"/>
            </a:pPr>
            <a:r>
              <a:rPr lang="en-IN" dirty="0"/>
              <a:t>Highlight the </a:t>
            </a:r>
            <a:r>
              <a:rPr lang="hi-IN" b="1" dirty="0"/>
              <a:t>ि</a:t>
            </a:r>
            <a:r>
              <a:rPr lang="hi-IN" dirty="0"/>
              <a:t> </a:t>
            </a:r>
            <a:r>
              <a:rPr lang="en-IN" dirty="0" err="1"/>
              <a:t>matra</a:t>
            </a:r>
            <a:r>
              <a:rPr lang="en-IN" dirty="0"/>
              <a:t> in </a:t>
            </a:r>
            <a:r>
              <a:rPr lang="hi-IN" b="1" dirty="0"/>
              <a:t>गति</a:t>
            </a:r>
            <a:r>
              <a:rPr lang="hi-IN" dirty="0"/>
              <a:t> </a:t>
            </a:r>
            <a:r>
              <a:rPr lang="en-IN" dirty="0"/>
              <a:t>as well. </a:t>
            </a:r>
          </a:p>
          <a:p>
            <a:pPr>
              <a:buFont typeface="Arial" panose="020B0604020202020204" pitchFamily="34" charset="0"/>
              <a:buChar char="•"/>
            </a:pPr>
            <a:r>
              <a:rPr lang="en-IN" dirty="0"/>
              <a:t>Remove any extra explanatory text that is not required. </a:t>
            </a:r>
          </a:p>
          <a:p>
            <a:r>
              <a:rPr lang="en-IN" b="1" dirty="0"/>
              <a:t>Sequence:</a:t>
            </a:r>
            <a:endParaRPr lang="en-IN" dirty="0"/>
          </a:p>
          <a:p>
            <a:pPr>
              <a:buFont typeface="+mj-lt"/>
              <a:buAutoNum type="arabicPeriod"/>
            </a:pPr>
            <a:r>
              <a:rPr lang="hi-IN" b="1" dirty="0"/>
              <a:t>दिन</a:t>
            </a:r>
            <a:r>
              <a:rPr lang="hi-IN" dirty="0"/>
              <a:t> </a:t>
            </a:r>
            <a:r>
              <a:rPr lang="en-IN" dirty="0"/>
              <a:t>word appears </a:t>
            </a:r>
          </a:p>
          <a:p>
            <a:pPr>
              <a:buFont typeface="+mj-lt"/>
              <a:buAutoNum type="arabicPeriod"/>
            </a:pPr>
            <a:r>
              <a:rPr lang="en-IN" dirty="0"/>
              <a:t>Day/sun image appears </a:t>
            </a:r>
          </a:p>
          <a:p>
            <a:pPr>
              <a:buFont typeface="+mj-lt"/>
              <a:buAutoNum type="arabicPeriod"/>
            </a:pPr>
            <a:r>
              <a:rPr lang="hi-IN" b="1" dirty="0"/>
              <a:t>ि</a:t>
            </a:r>
            <a:r>
              <a:rPr lang="hi-IN" dirty="0"/>
              <a:t> </a:t>
            </a:r>
            <a:r>
              <a:rPr lang="en-IN" dirty="0" err="1"/>
              <a:t>matra</a:t>
            </a:r>
            <a:r>
              <a:rPr lang="en-IN" dirty="0"/>
              <a:t> in </a:t>
            </a:r>
            <a:r>
              <a:rPr lang="hi-IN" b="1" dirty="0"/>
              <a:t>दिन</a:t>
            </a:r>
            <a:r>
              <a:rPr lang="hi-IN" dirty="0"/>
              <a:t> </a:t>
            </a:r>
            <a:r>
              <a:rPr lang="en-IN" dirty="0"/>
              <a:t>highlights </a:t>
            </a:r>
          </a:p>
          <a:p>
            <a:pPr>
              <a:buFont typeface="+mj-lt"/>
              <a:buAutoNum type="arabicPeriod"/>
            </a:pPr>
            <a:r>
              <a:rPr lang="en-IN" dirty="0"/>
              <a:t>Then </a:t>
            </a:r>
            <a:r>
              <a:rPr lang="hi-IN" b="1" dirty="0"/>
              <a:t>गति</a:t>
            </a:r>
            <a:r>
              <a:rPr lang="hi-IN" dirty="0"/>
              <a:t> </a:t>
            </a:r>
            <a:r>
              <a:rPr lang="en-IN" dirty="0"/>
              <a:t>appears </a:t>
            </a:r>
          </a:p>
          <a:p>
            <a:pPr>
              <a:buFont typeface="+mj-lt"/>
              <a:buAutoNum type="arabicPeriod"/>
            </a:pPr>
            <a:r>
              <a:rPr lang="en-IN" dirty="0"/>
              <a:t>Motion/movement visual appears </a:t>
            </a:r>
          </a:p>
          <a:p>
            <a:pPr>
              <a:buFont typeface="+mj-lt"/>
              <a:buAutoNum type="arabicPeriod"/>
            </a:pPr>
            <a:r>
              <a:rPr lang="hi-IN" b="1" dirty="0"/>
              <a:t>ि</a:t>
            </a:r>
            <a:r>
              <a:rPr lang="hi-IN" dirty="0"/>
              <a:t> </a:t>
            </a:r>
            <a:r>
              <a:rPr lang="en-IN" dirty="0" err="1"/>
              <a:t>matra</a:t>
            </a:r>
            <a:r>
              <a:rPr lang="en-IN" dirty="0"/>
              <a:t> in </a:t>
            </a:r>
            <a:r>
              <a:rPr lang="hi-IN" b="1" dirty="0"/>
              <a:t>गति</a:t>
            </a:r>
            <a:r>
              <a:rPr lang="hi-IN" dirty="0"/>
              <a:t> </a:t>
            </a:r>
            <a:r>
              <a:rPr lang="en-IN" dirty="0"/>
              <a:t>highlights </a:t>
            </a:r>
          </a:p>
          <a:p>
            <a:r>
              <a:rPr lang="en-IN" b="1" dirty="0"/>
              <a:t>Animation:</a:t>
            </a:r>
            <a:endParaRPr lang="en-IN" dirty="0"/>
          </a:p>
          <a:p>
            <a:pPr>
              <a:buFont typeface="Arial" panose="020B0604020202020204" pitchFamily="34" charset="0"/>
              <a:buChar char="•"/>
            </a:pPr>
            <a:r>
              <a:rPr lang="en-IN" dirty="0"/>
              <a:t>Word appears first with a soft fade/pop. </a:t>
            </a:r>
          </a:p>
          <a:p>
            <a:pPr>
              <a:buFont typeface="Arial" panose="020B0604020202020204" pitchFamily="34" charset="0"/>
              <a:buChar char="•"/>
            </a:pPr>
            <a:r>
              <a:rPr lang="en-IN" dirty="0"/>
              <a:t>Image appears just after the word. </a:t>
            </a:r>
          </a:p>
          <a:p>
            <a:pPr>
              <a:buFont typeface="Arial" panose="020B0604020202020204" pitchFamily="34" charset="0"/>
              <a:buChar char="•"/>
            </a:pPr>
            <a:r>
              <a:rPr lang="en-IN" dirty="0"/>
              <a:t>When the VO reaches the </a:t>
            </a:r>
            <a:r>
              <a:rPr lang="en-IN" dirty="0" err="1"/>
              <a:t>matra</a:t>
            </a:r>
            <a:r>
              <a:rPr lang="en-IN" dirty="0"/>
              <a:t> explanation, </a:t>
            </a:r>
            <a:r>
              <a:rPr lang="hi-IN" b="1" dirty="0"/>
              <a:t>ि</a:t>
            </a:r>
            <a:r>
              <a:rPr lang="hi-IN" dirty="0"/>
              <a:t> </a:t>
            </a:r>
            <a:r>
              <a:rPr lang="en-IN" dirty="0"/>
              <a:t>should glow/pulse briefly. </a:t>
            </a:r>
          </a:p>
          <a:p>
            <a:pPr>
              <a:buFont typeface="Arial" panose="020B0604020202020204" pitchFamily="34" charset="0"/>
              <a:buChar char="•"/>
            </a:pPr>
            <a:r>
              <a:rPr lang="en-IN" dirty="0"/>
              <a:t>Keep the transition one-by-one and simple. </a:t>
            </a:r>
          </a:p>
          <a:p>
            <a:r>
              <a:rPr lang="en-IN" b="1" dirty="0"/>
              <a:t>SFX:</a:t>
            </a:r>
            <a:endParaRPr lang="en-IN" dirty="0"/>
          </a:p>
          <a:p>
            <a:pPr>
              <a:buFont typeface="Arial" panose="020B0604020202020204" pitchFamily="34" charset="0"/>
              <a:buChar char="•"/>
            </a:pPr>
            <a:r>
              <a:rPr lang="en-IN" dirty="0"/>
              <a:t>Soft pop/chime when each word/image appears. </a:t>
            </a:r>
          </a:p>
          <a:p>
            <a:pPr>
              <a:buFont typeface="Arial" panose="020B0604020202020204" pitchFamily="34" charset="0"/>
              <a:buChar char="•"/>
            </a:pPr>
            <a:r>
              <a:rPr lang="en-IN" dirty="0"/>
              <a:t>Light sparkle/chime when the </a:t>
            </a:r>
            <a:r>
              <a:rPr lang="en-IN" dirty="0" err="1"/>
              <a:t>matra</a:t>
            </a:r>
            <a:r>
              <a:rPr lang="en-IN" dirty="0"/>
              <a:t> gets highlighted. </a:t>
            </a:r>
          </a:p>
          <a:p>
            <a:r>
              <a:rPr lang="en-IN" b="1" dirty="0"/>
              <a:t>Next Button:</a:t>
            </a:r>
            <a:endParaRPr lang="en-IN" dirty="0"/>
          </a:p>
          <a:p>
            <a:pPr>
              <a:buFont typeface="Arial" panose="020B0604020202020204" pitchFamily="34" charset="0"/>
              <a:buChar char="•"/>
            </a:pPr>
            <a:r>
              <a:rPr lang="en-IN" dirty="0"/>
              <a:t>Keep </a:t>
            </a:r>
            <a:r>
              <a:rPr lang="en-IN" b="1" dirty="0"/>
              <a:t>Next</a:t>
            </a:r>
            <a:r>
              <a:rPr lang="en-IN" dirty="0"/>
              <a:t> disabled while both examples are being explained. </a:t>
            </a:r>
          </a:p>
          <a:p>
            <a:pPr>
              <a:buFont typeface="Arial" panose="020B0604020202020204" pitchFamily="34" charset="0"/>
              <a:buChar char="•"/>
            </a:pPr>
            <a:r>
              <a:rPr lang="en-IN" dirty="0"/>
              <a:t>Activate it only after both examples are completed. </a:t>
            </a:r>
          </a:p>
          <a:p>
            <a:endParaRPr lang="en-IN" dirty="0"/>
          </a:p>
        </p:txBody>
      </p:sp>
      <p:sp>
        <p:nvSpPr>
          <p:cNvPr id="4" name="Slide Number Placeholder 3"/>
          <p:cNvSpPr>
            <a:spLocks noGrp="1"/>
          </p:cNvSpPr>
          <p:nvPr>
            <p:ph type="sldNum" sz="quarter" idx="5"/>
          </p:nvPr>
        </p:nvSpPr>
        <p:spPr/>
        <p:txBody>
          <a:bodyPr/>
          <a:lstStyle/>
          <a:p>
            <a:fld id="{2E8D0E46-8C9D-41DC-B81C-31859D5EE714}" type="slidenum">
              <a:rPr lang="en-IN" smtClean="0"/>
              <a:t>8</a:t>
            </a:fld>
            <a:endParaRPr lang="en-IN"/>
          </a:p>
        </p:txBody>
      </p:sp>
    </p:spTree>
    <p:extLst>
      <p:ext uri="{BB962C8B-B14F-4D97-AF65-F5344CB8AC3E}">
        <p14:creationId xmlns:p14="http://schemas.microsoft.com/office/powerpoint/2010/main" val="3932997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Recommendation</a:t>
            </a:r>
          </a:p>
          <a:p>
            <a:r>
              <a:rPr lang="en-IN" b="1" dirty="0"/>
              <a:t>VO</a:t>
            </a:r>
          </a:p>
          <a:p>
            <a:r>
              <a:rPr lang="en-IN" dirty="0"/>
              <a:t>“</a:t>
            </a:r>
            <a:r>
              <a:rPr lang="hi-IN" dirty="0"/>
              <a:t>आइए, देखें कि बड़ी ई की मात्रा लगाने से शब्द की आवाज़ कैसे बदलती है।”</a:t>
            </a:r>
          </a:p>
          <a:p>
            <a:r>
              <a:rPr lang="hi-IN" dirty="0"/>
              <a:t>पहले:</a:t>
            </a:r>
          </a:p>
          <a:p>
            <a:r>
              <a:rPr lang="hi-IN" b="1" dirty="0"/>
              <a:t>“यह शब्द है — कल।”</a:t>
            </a:r>
            <a:endParaRPr lang="hi-IN" dirty="0"/>
          </a:p>
          <a:p>
            <a:r>
              <a:rPr lang="hi-IN" dirty="0"/>
              <a:t>फिर:</a:t>
            </a:r>
          </a:p>
          <a:p>
            <a:r>
              <a:rPr lang="hi-IN" b="1" dirty="0"/>
              <a:t>“क में बड़ी ई की मात्रा लगाने पर — की बनता है।”</a:t>
            </a:r>
            <a:endParaRPr lang="hi-IN" dirty="0"/>
          </a:p>
          <a:p>
            <a:r>
              <a:rPr lang="hi-IN" dirty="0"/>
              <a:t>अंत में:</a:t>
            </a:r>
          </a:p>
          <a:p>
            <a:r>
              <a:rPr lang="hi-IN" b="1" dirty="0"/>
              <a:t>“अब कल में बड़ी ई की मात्रा लगाने पर — कील बनता है।”</a:t>
            </a:r>
            <a:endParaRPr lang="hi-IN" dirty="0"/>
          </a:p>
          <a:p>
            <a:r>
              <a:rPr lang="en-IN" b="1" dirty="0"/>
              <a:t>On Screen</a:t>
            </a:r>
          </a:p>
          <a:p>
            <a:pPr>
              <a:buFont typeface="Arial" panose="020B0604020202020204" pitchFamily="34" charset="0"/>
              <a:buChar char="•"/>
            </a:pPr>
            <a:r>
              <a:rPr lang="en-IN" dirty="0"/>
              <a:t>Keep only one transformation on the screen. </a:t>
            </a:r>
          </a:p>
          <a:p>
            <a:pPr>
              <a:buFont typeface="Arial" panose="020B0604020202020204" pitchFamily="34" charset="0"/>
              <a:buChar char="•"/>
            </a:pPr>
            <a:r>
              <a:rPr lang="en-IN" dirty="0"/>
              <a:t>First show </a:t>
            </a:r>
            <a:r>
              <a:rPr lang="hi-IN" b="1" dirty="0"/>
              <a:t>कल</a:t>
            </a:r>
            <a:r>
              <a:rPr lang="hi-IN" dirty="0"/>
              <a:t> </a:t>
            </a:r>
            <a:r>
              <a:rPr lang="en-IN" dirty="0"/>
              <a:t>with a simple supporting visual. </a:t>
            </a:r>
          </a:p>
          <a:p>
            <a:pPr>
              <a:buFont typeface="Arial" panose="020B0604020202020204" pitchFamily="34" charset="0"/>
              <a:buChar char="•"/>
            </a:pPr>
            <a:r>
              <a:rPr lang="en-IN" dirty="0"/>
              <a:t>Then highlight </a:t>
            </a:r>
            <a:r>
              <a:rPr lang="hi-IN" b="1" dirty="0"/>
              <a:t>क</a:t>
            </a:r>
            <a:r>
              <a:rPr lang="hi-IN" dirty="0"/>
              <a:t>. </a:t>
            </a:r>
          </a:p>
          <a:p>
            <a:pPr>
              <a:buFont typeface="Arial" panose="020B0604020202020204" pitchFamily="34" charset="0"/>
              <a:buChar char="•"/>
            </a:pPr>
            <a:r>
              <a:rPr lang="en-IN" dirty="0"/>
              <a:t>Show the transformation in the centre: </a:t>
            </a:r>
          </a:p>
          <a:p>
            <a:r>
              <a:rPr lang="hi-IN" b="1" dirty="0"/>
              <a:t>क + ी = की</a:t>
            </a:r>
            <a:endParaRPr lang="hi-IN" dirty="0"/>
          </a:p>
          <a:p>
            <a:pPr>
              <a:buFont typeface="Arial" panose="020B0604020202020204" pitchFamily="34" charset="0"/>
              <a:buChar char="•"/>
            </a:pPr>
            <a:r>
              <a:rPr lang="en-IN" dirty="0"/>
              <a:t>After that, complete the word as: </a:t>
            </a:r>
          </a:p>
          <a:p>
            <a:r>
              <a:rPr lang="hi-IN" b="1" dirty="0"/>
              <a:t>कील</a:t>
            </a:r>
            <a:endParaRPr lang="hi-IN" dirty="0"/>
          </a:p>
          <a:p>
            <a:pPr>
              <a:buFont typeface="Arial" panose="020B0604020202020204" pitchFamily="34" charset="0"/>
              <a:buChar char="•"/>
            </a:pPr>
            <a:r>
              <a:rPr lang="en-IN" dirty="0"/>
              <a:t>Highlight only the </a:t>
            </a:r>
            <a:r>
              <a:rPr lang="hi-IN" b="1" dirty="0"/>
              <a:t>ी</a:t>
            </a:r>
            <a:r>
              <a:rPr lang="hi-IN" dirty="0"/>
              <a:t> मात्रा </a:t>
            </a:r>
            <a:r>
              <a:rPr lang="en-IN" dirty="0"/>
              <a:t>in </a:t>
            </a:r>
            <a:r>
              <a:rPr lang="hi-IN" b="1" dirty="0"/>
              <a:t>कील</a:t>
            </a:r>
            <a:r>
              <a:rPr lang="hi-IN" dirty="0"/>
              <a:t>. </a:t>
            </a:r>
          </a:p>
          <a:p>
            <a:pPr>
              <a:buFont typeface="Arial" panose="020B0604020202020204" pitchFamily="34" charset="0"/>
              <a:buChar char="•"/>
            </a:pPr>
            <a:r>
              <a:rPr lang="en-IN" dirty="0"/>
              <a:t>Show a simple relevant image for </a:t>
            </a:r>
            <a:r>
              <a:rPr lang="hi-IN" b="1" dirty="0"/>
              <a:t>कील</a:t>
            </a:r>
            <a:r>
              <a:rPr lang="hi-IN" dirty="0"/>
              <a:t> </a:t>
            </a:r>
            <a:r>
              <a:rPr lang="en-IN" dirty="0"/>
              <a:t>on the final side. </a:t>
            </a:r>
          </a:p>
          <a:p>
            <a:r>
              <a:rPr lang="en-IN" b="1" dirty="0"/>
              <a:t>Sequence</a:t>
            </a:r>
          </a:p>
          <a:p>
            <a:pPr>
              <a:buFont typeface="+mj-lt"/>
              <a:buAutoNum type="arabicPeriod"/>
            </a:pPr>
            <a:r>
              <a:rPr lang="hi-IN" b="1" dirty="0"/>
              <a:t>कल</a:t>
            </a:r>
            <a:r>
              <a:rPr lang="hi-IN" dirty="0"/>
              <a:t> </a:t>
            </a:r>
            <a:r>
              <a:rPr lang="en-IN" dirty="0"/>
              <a:t>appears. </a:t>
            </a:r>
          </a:p>
          <a:p>
            <a:pPr>
              <a:buFont typeface="+mj-lt"/>
              <a:buAutoNum type="arabicPeriod"/>
            </a:pPr>
            <a:r>
              <a:rPr lang="en-IN" dirty="0"/>
              <a:t>VO reads: </a:t>
            </a:r>
            <a:r>
              <a:rPr lang="en-IN" b="1" dirty="0"/>
              <a:t>“</a:t>
            </a:r>
            <a:r>
              <a:rPr lang="hi-IN" b="1" dirty="0"/>
              <a:t>कल”</a:t>
            </a:r>
            <a:r>
              <a:rPr lang="hi-IN" dirty="0"/>
              <a:t>. </a:t>
            </a:r>
          </a:p>
          <a:p>
            <a:pPr>
              <a:buFont typeface="+mj-lt"/>
              <a:buAutoNum type="arabicPeriod"/>
            </a:pPr>
            <a:r>
              <a:rPr lang="hi-IN" b="1" dirty="0"/>
              <a:t>क</a:t>
            </a:r>
            <a:r>
              <a:rPr lang="hi-IN" dirty="0"/>
              <a:t> </a:t>
            </a:r>
            <a:r>
              <a:rPr lang="en-IN" dirty="0"/>
              <a:t>gets highlighted. </a:t>
            </a:r>
          </a:p>
          <a:p>
            <a:pPr>
              <a:buFont typeface="+mj-lt"/>
              <a:buAutoNum type="arabicPeriod"/>
            </a:pPr>
            <a:r>
              <a:rPr lang="hi-IN" b="1" dirty="0"/>
              <a:t>ी</a:t>
            </a:r>
            <a:r>
              <a:rPr lang="hi-IN" dirty="0"/>
              <a:t> </a:t>
            </a:r>
            <a:r>
              <a:rPr lang="en-IN" dirty="0"/>
              <a:t>appears and joins </a:t>
            </a:r>
            <a:r>
              <a:rPr lang="hi-IN" b="1" dirty="0"/>
              <a:t>क</a:t>
            </a:r>
            <a:r>
              <a:rPr lang="hi-IN" dirty="0"/>
              <a:t>. </a:t>
            </a:r>
          </a:p>
          <a:p>
            <a:pPr>
              <a:buFont typeface="+mj-lt"/>
              <a:buAutoNum type="arabicPeriod"/>
            </a:pPr>
            <a:r>
              <a:rPr lang="en-IN" dirty="0"/>
              <a:t>Show: </a:t>
            </a:r>
            <a:r>
              <a:rPr lang="hi-IN" b="1" dirty="0"/>
              <a:t>क + ी = की</a:t>
            </a:r>
            <a:r>
              <a:rPr lang="hi-IN" dirty="0"/>
              <a:t> </a:t>
            </a:r>
          </a:p>
          <a:p>
            <a:pPr>
              <a:buFont typeface="+mj-lt"/>
              <a:buAutoNum type="arabicPeriod"/>
            </a:pPr>
            <a:r>
              <a:rPr lang="en-IN" dirty="0"/>
              <a:t>Play the sound clearly: </a:t>
            </a:r>
            <a:r>
              <a:rPr lang="en-IN" b="1" dirty="0"/>
              <a:t>“</a:t>
            </a:r>
            <a:r>
              <a:rPr lang="hi-IN" b="1" dirty="0"/>
              <a:t>क” → “की”</a:t>
            </a:r>
            <a:r>
              <a:rPr lang="hi-IN" dirty="0"/>
              <a:t> </a:t>
            </a:r>
          </a:p>
          <a:p>
            <a:pPr>
              <a:buFont typeface="+mj-lt"/>
              <a:buAutoNum type="arabicPeriod"/>
            </a:pPr>
            <a:r>
              <a:rPr lang="hi-IN" b="1" dirty="0"/>
              <a:t>ल</a:t>
            </a:r>
            <a:r>
              <a:rPr lang="hi-IN" dirty="0"/>
              <a:t> </a:t>
            </a:r>
            <a:r>
              <a:rPr lang="en-IN" dirty="0"/>
              <a:t>joins. </a:t>
            </a:r>
          </a:p>
          <a:p>
            <a:pPr>
              <a:buFont typeface="+mj-lt"/>
              <a:buAutoNum type="arabicPeriod"/>
            </a:pPr>
            <a:r>
              <a:rPr lang="en-IN" dirty="0"/>
              <a:t>Final word appears: </a:t>
            </a:r>
            <a:r>
              <a:rPr lang="hi-IN" b="1" dirty="0"/>
              <a:t>कील</a:t>
            </a:r>
            <a:r>
              <a:rPr lang="hi-IN" dirty="0"/>
              <a:t> </a:t>
            </a:r>
          </a:p>
          <a:p>
            <a:pPr>
              <a:buFont typeface="+mj-lt"/>
              <a:buAutoNum type="arabicPeriod"/>
            </a:pPr>
            <a:r>
              <a:rPr lang="en-IN" dirty="0"/>
              <a:t>Highlight </a:t>
            </a:r>
            <a:r>
              <a:rPr lang="hi-IN" b="1" dirty="0"/>
              <a:t>ी</a:t>
            </a:r>
            <a:r>
              <a:rPr lang="hi-IN" dirty="0"/>
              <a:t> </a:t>
            </a:r>
            <a:r>
              <a:rPr lang="en-IN" dirty="0"/>
              <a:t>in </a:t>
            </a:r>
            <a:r>
              <a:rPr lang="hi-IN" b="1" dirty="0"/>
              <a:t>कील</a:t>
            </a:r>
            <a:r>
              <a:rPr lang="hi-IN" dirty="0"/>
              <a:t>. </a:t>
            </a:r>
          </a:p>
          <a:p>
            <a:pPr>
              <a:buFont typeface="+mj-lt"/>
              <a:buAutoNum type="arabicPeriod"/>
            </a:pPr>
            <a:r>
              <a:rPr lang="en-IN" dirty="0"/>
              <a:t>Final image appears. </a:t>
            </a:r>
          </a:p>
          <a:p>
            <a:r>
              <a:rPr lang="en-IN" b="1" dirty="0"/>
              <a:t>Animation</a:t>
            </a:r>
          </a:p>
          <a:p>
            <a:pPr>
              <a:buFont typeface="Arial" panose="020B0604020202020204" pitchFamily="34" charset="0"/>
              <a:buChar char="•"/>
            </a:pPr>
            <a:r>
              <a:rPr lang="en-IN" dirty="0"/>
              <a:t>Use simple step-by-step animation. </a:t>
            </a:r>
          </a:p>
          <a:p>
            <a:pPr>
              <a:buFont typeface="Arial" panose="020B0604020202020204" pitchFamily="34" charset="0"/>
              <a:buChar char="•"/>
            </a:pPr>
            <a:r>
              <a:rPr lang="en-IN" dirty="0"/>
              <a:t>Do not show all stages together from the beginning. </a:t>
            </a:r>
          </a:p>
          <a:p>
            <a:pPr>
              <a:buFont typeface="Arial" panose="020B0604020202020204" pitchFamily="34" charset="0"/>
              <a:buChar char="•"/>
            </a:pPr>
            <a:r>
              <a:rPr lang="en-IN" dirty="0"/>
              <a:t>The </a:t>
            </a:r>
            <a:r>
              <a:rPr lang="hi-IN" b="1" dirty="0"/>
              <a:t>ी</a:t>
            </a:r>
            <a:r>
              <a:rPr lang="hi-IN" dirty="0"/>
              <a:t> मात्रा </a:t>
            </a:r>
            <a:r>
              <a:rPr lang="en-IN" dirty="0"/>
              <a:t>should visibly join </a:t>
            </a:r>
            <a:r>
              <a:rPr lang="hi-IN" b="1" dirty="0"/>
              <a:t>क</a:t>
            </a:r>
            <a:r>
              <a:rPr lang="hi-IN" dirty="0"/>
              <a:t>, </a:t>
            </a:r>
            <a:r>
              <a:rPr lang="en-IN" dirty="0"/>
              <a:t>so the child notices how the sound changes. </a:t>
            </a:r>
          </a:p>
          <a:p>
            <a:pPr>
              <a:buFont typeface="Arial" panose="020B0604020202020204" pitchFamily="34" charset="0"/>
              <a:buChar char="•"/>
            </a:pPr>
            <a:r>
              <a:rPr lang="en-IN" dirty="0"/>
              <a:t>Sync the visual change with the VO:</a:t>
            </a:r>
            <a:br>
              <a:rPr lang="en-IN" dirty="0"/>
            </a:br>
            <a:r>
              <a:rPr lang="hi-IN" b="1" dirty="0"/>
              <a:t>क → की → कील</a:t>
            </a:r>
            <a:r>
              <a:rPr lang="hi-IN" dirty="0"/>
              <a:t> </a:t>
            </a:r>
          </a:p>
          <a:p>
            <a:pPr>
              <a:buFont typeface="Arial" panose="020B0604020202020204" pitchFamily="34" charset="0"/>
              <a:buChar char="•"/>
            </a:pPr>
            <a:r>
              <a:rPr lang="en-IN" dirty="0"/>
              <a:t>Give a short pause between each sound. </a:t>
            </a:r>
          </a:p>
          <a:p>
            <a:r>
              <a:rPr lang="en-IN" b="1" dirty="0"/>
              <a:t>Sound Differentiation</a:t>
            </a:r>
          </a:p>
          <a:p>
            <a:r>
              <a:rPr lang="en-IN" dirty="0"/>
              <a:t>The key focus should be on the change in sound:</a:t>
            </a:r>
          </a:p>
          <a:p>
            <a:r>
              <a:rPr lang="hi-IN" b="1" dirty="0"/>
              <a:t>क → की → कील</a:t>
            </a:r>
            <a:endParaRPr lang="hi-IN" dirty="0"/>
          </a:p>
          <a:p>
            <a:r>
              <a:rPr lang="en-IN" dirty="0"/>
              <a:t>Make the pronunciation slow and clear so the child can hear how </a:t>
            </a:r>
            <a:r>
              <a:rPr lang="hi-IN" b="1" dirty="0"/>
              <a:t>बड़ी ई की मात्रा</a:t>
            </a:r>
            <a:r>
              <a:rPr lang="hi-IN" dirty="0"/>
              <a:t> </a:t>
            </a:r>
            <a:r>
              <a:rPr lang="en-IN" dirty="0"/>
              <a:t>changes the sound.</a:t>
            </a:r>
          </a:p>
          <a:p>
            <a:r>
              <a:rPr lang="en-IN" b="1" dirty="0"/>
              <a:t>SFX</a:t>
            </a:r>
          </a:p>
          <a:p>
            <a:pPr>
              <a:buFont typeface="Arial" panose="020B0604020202020204" pitchFamily="34" charset="0"/>
              <a:buChar char="•"/>
            </a:pPr>
            <a:r>
              <a:rPr lang="en-IN" dirty="0"/>
              <a:t>Soft pop when </a:t>
            </a:r>
            <a:r>
              <a:rPr lang="hi-IN" b="1" dirty="0"/>
              <a:t>ी</a:t>
            </a:r>
            <a:r>
              <a:rPr lang="hi-IN" dirty="0"/>
              <a:t> </a:t>
            </a:r>
            <a:r>
              <a:rPr lang="en-IN" dirty="0"/>
              <a:t>appears. </a:t>
            </a:r>
          </a:p>
          <a:p>
            <a:pPr>
              <a:buFont typeface="Arial" panose="020B0604020202020204" pitchFamily="34" charset="0"/>
              <a:buChar char="•"/>
            </a:pPr>
            <a:r>
              <a:rPr lang="en-IN" dirty="0"/>
              <a:t>Light chime when </a:t>
            </a:r>
            <a:r>
              <a:rPr lang="hi-IN" b="1" dirty="0"/>
              <a:t>क</a:t>
            </a:r>
            <a:r>
              <a:rPr lang="hi-IN" dirty="0"/>
              <a:t> </a:t>
            </a:r>
            <a:r>
              <a:rPr lang="en-IN" dirty="0"/>
              <a:t>changes to </a:t>
            </a:r>
            <a:r>
              <a:rPr lang="hi-IN" b="1" dirty="0"/>
              <a:t>की</a:t>
            </a:r>
            <a:r>
              <a:rPr lang="hi-IN" dirty="0"/>
              <a:t>. </a:t>
            </a:r>
          </a:p>
          <a:p>
            <a:pPr>
              <a:buFont typeface="Arial" panose="020B0604020202020204" pitchFamily="34" charset="0"/>
              <a:buChar char="•"/>
            </a:pPr>
            <a:r>
              <a:rPr lang="en-IN" dirty="0"/>
              <a:t>Small success chime when </a:t>
            </a:r>
            <a:r>
              <a:rPr lang="hi-IN" b="1" dirty="0"/>
              <a:t>कील</a:t>
            </a:r>
            <a:r>
              <a:rPr lang="hi-IN" dirty="0"/>
              <a:t> </a:t>
            </a:r>
            <a:r>
              <a:rPr lang="en-IN" dirty="0"/>
              <a:t>is completed. </a:t>
            </a:r>
          </a:p>
          <a:p>
            <a:pPr>
              <a:buFont typeface="Arial" panose="020B0604020202020204" pitchFamily="34" charset="0"/>
              <a:buChar char="•"/>
            </a:pPr>
            <a:r>
              <a:rPr lang="en-IN" dirty="0"/>
              <a:t>Keep SFX subtle so the pronunciation remains clear. </a:t>
            </a:r>
          </a:p>
          <a:p>
            <a:r>
              <a:rPr lang="en-IN" b="1" dirty="0"/>
              <a:t>Next Button</a:t>
            </a:r>
          </a:p>
          <a:p>
            <a:pPr>
              <a:buFont typeface="Arial" panose="020B0604020202020204" pitchFamily="34" charset="0"/>
              <a:buChar char="•"/>
            </a:pPr>
            <a:r>
              <a:rPr lang="en-IN" dirty="0"/>
              <a:t>Keep </a:t>
            </a:r>
            <a:r>
              <a:rPr lang="en-IN" b="1" dirty="0"/>
              <a:t>Next</a:t>
            </a:r>
            <a:r>
              <a:rPr lang="en-IN" dirty="0"/>
              <a:t> disabled during the explanation. </a:t>
            </a:r>
          </a:p>
          <a:p>
            <a:pPr>
              <a:buFont typeface="Arial" panose="020B0604020202020204" pitchFamily="34" charset="0"/>
              <a:buChar char="•"/>
            </a:pPr>
            <a:r>
              <a:rPr lang="en-IN" dirty="0"/>
              <a:t>Activate it only after the full transformation </a:t>
            </a:r>
            <a:r>
              <a:rPr lang="hi-IN" b="1" dirty="0"/>
              <a:t>कल → की → कील</a:t>
            </a:r>
            <a:r>
              <a:rPr lang="hi-IN" dirty="0"/>
              <a:t> </a:t>
            </a:r>
            <a:r>
              <a:rPr lang="en-IN" dirty="0"/>
              <a:t>is completed. </a:t>
            </a:r>
          </a:p>
          <a:p>
            <a:r>
              <a:rPr lang="en-IN" b="1" dirty="0"/>
              <a:t>Note</a:t>
            </a:r>
          </a:p>
          <a:p>
            <a:pPr>
              <a:buFont typeface="Arial" panose="020B0604020202020204" pitchFamily="34" charset="0"/>
              <a:buChar char="•"/>
            </a:pPr>
            <a:r>
              <a:rPr lang="en-IN" dirty="0"/>
              <a:t>Keep the screen clean and minimal. </a:t>
            </a:r>
          </a:p>
          <a:p>
            <a:pPr>
              <a:buFont typeface="Arial" panose="020B0604020202020204" pitchFamily="34" charset="0"/>
              <a:buChar char="•"/>
            </a:pPr>
            <a:r>
              <a:rPr lang="en-IN" dirty="0"/>
              <a:t>Avoid extra explanatory text. </a:t>
            </a:r>
          </a:p>
          <a:p>
            <a:pPr>
              <a:buFont typeface="Arial" panose="020B0604020202020204" pitchFamily="34" charset="0"/>
              <a:buChar char="•"/>
            </a:pPr>
            <a:r>
              <a:rPr lang="en-IN" dirty="0"/>
              <a:t>The main learning should be the </a:t>
            </a:r>
            <a:r>
              <a:rPr lang="en-IN" b="1" dirty="0"/>
              <a:t>before and after sound difference</a:t>
            </a:r>
            <a:r>
              <a:rPr lang="en-IN" dirty="0"/>
              <a:t>. </a:t>
            </a:r>
          </a:p>
          <a:p>
            <a:pPr>
              <a:buFont typeface="Arial" panose="020B0604020202020204" pitchFamily="34" charset="0"/>
              <a:buChar char="•"/>
            </a:pPr>
            <a:r>
              <a:rPr lang="en-IN" dirty="0"/>
              <a:t>Focus clearly on: </a:t>
            </a:r>
          </a:p>
          <a:p>
            <a:r>
              <a:rPr lang="hi-IN" b="1" dirty="0"/>
              <a:t>कल → क + ी = की → कील</a:t>
            </a:r>
            <a:endParaRPr lang="hi-IN" dirty="0"/>
          </a:p>
          <a:p>
            <a:endParaRPr lang="en-IN" dirty="0"/>
          </a:p>
        </p:txBody>
      </p:sp>
      <p:sp>
        <p:nvSpPr>
          <p:cNvPr id="4" name="Slide Number Placeholder 3"/>
          <p:cNvSpPr>
            <a:spLocks noGrp="1"/>
          </p:cNvSpPr>
          <p:nvPr>
            <p:ph type="sldNum" sz="quarter" idx="5"/>
          </p:nvPr>
        </p:nvSpPr>
        <p:spPr/>
        <p:txBody>
          <a:bodyPr/>
          <a:lstStyle/>
          <a:p>
            <a:fld id="{2E8D0E46-8C9D-41DC-B81C-31859D5EE714}" type="slidenum">
              <a:rPr lang="en-IN" smtClean="0"/>
              <a:t>9</a:t>
            </a:fld>
            <a:endParaRPr lang="en-IN"/>
          </a:p>
        </p:txBody>
      </p:sp>
    </p:spTree>
    <p:extLst>
      <p:ext uri="{BB962C8B-B14F-4D97-AF65-F5344CB8AC3E}">
        <p14:creationId xmlns:p14="http://schemas.microsoft.com/office/powerpoint/2010/main" val="24203412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Recommendation</a:t>
            </a:r>
            <a:endParaRPr lang="en-IN" dirty="0"/>
          </a:p>
          <a:p>
            <a:r>
              <a:rPr lang="en-IN" b="1" dirty="0"/>
              <a:t>VO:</a:t>
            </a:r>
            <a:br>
              <a:rPr lang="en-IN" dirty="0"/>
            </a:br>
            <a:r>
              <a:rPr lang="en-IN" dirty="0"/>
              <a:t>“</a:t>
            </a:r>
            <a:r>
              <a:rPr lang="hi-IN" dirty="0"/>
              <a:t>आइए, बड़ी ई की मात्रा वाले कुछ शब्द देखें।”</a:t>
            </a:r>
          </a:p>
          <a:p>
            <a:r>
              <a:rPr lang="hi-IN" dirty="0"/>
              <a:t>पहले:</a:t>
            </a:r>
            <a:br>
              <a:rPr lang="hi-IN" dirty="0"/>
            </a:br>
            <a:r>
              <a:rPr lang="hi-IN" b="1" dirty="0"/>
              <a:t>“तीर — बोलकर देखिए। इसमें त पर बड़ी ई की मात्रा लगी है।”</a:t>
            </a:r>
            <a:endParaRPr lang="hi-IN" dirty="0"/>
          </a:p>
          <a:p>
            <a:r>
              <a:rPr lang="hi-IN" dirty="0"/>
              <a:t>फिर:</a:t>
            </a:r>
            <a:br>
              <a:rPr lang="hi-IN" dirty="0"/>
            </a:br>
            <a:r>
              <a:rPr lang="hi-IN" b="1" dirty="0"/>
              <a:t>“लड़की — बोलकर देखिए। इसमें क पर बड़ी ई की मात्रा लगी है।”</a:t>
            </a:r>
            <a:endParaRPr lang="hi-IN" dirty="0"/>
          </a:p>
          <a:p>
            <a:r>
              <a:rPr lang="en-IN" b="1" dirty="0"/>
              <a:t>On Screen:</a:t>
            </a:r>
            <a:endParaRPr lang="en-IN" dirty="0"/>
          </a:p>
          <a:p>
            <a:pPr>
              <a:buFont typeface="Arial" panose="020B0604020202020204" pitchFamily="34" charset="0"/>
              <a:buChar char="•"/>
            </a:pPr>
            <a:r>
              <a:rPr lang="en-IN" dirty="0"/>
              <a:t>Keep one example visible at a time. </a:t>
            </a:r>
          </a:p>
          <a:p>
            <a:pPr>
              <a:buFont typeface="Arial" panose="020B0604020202020204" pitchFamily="34" charset="0"/>
              <a:buChar char="•"/>
            </a:pPr>
            <a:r>
              <a:rPr lang="en-IN" dirty="0"/>
              <a:t>First show </a:t>
            </a:r>
            <a:r>
              <a:rPr lang="hi-IN" b="1" dirty="0"/>
              <a:t>तीर</a:t>
            </a:r>
            <a:r>
              <a:rPr lang="hi-IN" dirty="0"/>
              <a:t> </a:t>
            </a:r>
            <a:r>
              <a:rPr lang="en-IN" dirty="0"/>
              <a:t>with the </a:t>
            </a:r>
            <a:r>
              <a:rPr lang="en-IN" b="1" dirty="0"/>
              <a:t>arrow image</a:t>
            </a:r>
            <a:r>
              <a:rPr lang="en-IN" dirty="0"/>
              <a:t>. </a:t>
            </a:r>
          </a:p>
          <a:p>
            <a:pPr>
              <a:buFont typeface="Arial" panose="020B0604020202020204" pitchFamily="34" charset="0"/>
              <a:buChar char="•"/>
            </a:pPr>
            <a:r>
              <a:rPr lang="en-IN" dirty="0"/>
              <a:t>Highlight only the </a:t>
            </a:r>
            <a:r>
              <a:rPr lang="hi-IN" b="1" dirty="0"/>
              <a:t>ी</a:t>
            </a:r>
            <a:r>
              <a:rPr lang="hi-IN" dirty="0"/>
              <a:t> </a:t>
            </a:r>
            <a:r>
              <a:rPr lang="en-IN" dirty="0" err="1"/>
              <a:t>matra</a:t>
            </a:r>
            <a:r>
              <a:rPr lang="en-IN" dirty="0"/>
              <a:t> in </a:t>
            </a:r>
            <a:r>
              <a:rPr lang="hi-IN" b="1" dirty="0"/>
              <a:t>तीर</a:t>
            </a:r>
            <a:r>
              <a:rPr lang="hi-IN" dirty="0"/>
              <a:t>. </a:t>
            </a:r>
          </a:p>
          <a:p>
            <a:pPr>
              <a:buFont typeface="Arial" panose="020B0604020202020204" pitchFamily="34" charset="0"/>
              <a:buChar char="•"/>
            </a:pPr>
            <a:r>
              <a:rPr lang="en-IN" dirty="0"/>
              <a:t>After that, show </a:t>
            </a:r>
            <a:r>
              <a:rPr lang="hi-IN" b="1" dirty="0"/>
              <a:t>लड़की</a:t>
            </a:r>
            <a:r>
              <a:rPr lang="hi-IN" dirty="0"/>
              <a:t> </a:t>
            </a:r>
            <a:r>
              <a:rPr lang="en-IN" dirty="0"/>
              <a:t>with a simple </a:t>
            </a:r>
            <a:r>
              <a:rPr lang="en-IN" b="1" dirty="0"/>
              <a:t>girl image</a:t>
            </a:r>
            <a:r>
              <a:rPr lang="en-IN" dirty="0"/>
              <a:t>. </a:t>
            </a:r>
          </a:p>
          <a:p>
            <a:pPr>
              <a:buFont typeface="Arial" panose="020B0604020202020204" pitchFamily="34" charset="0"/>
              <a:buChar char="•"/>
            </a:pPr>
            <a:r>
              <a:rPr lang="en-IN" dirty="0"/>
              <a:t>Highlight only the </a:t>
            </a:r>
            <a:r>
              <a:rPr lang="hi-IN" b="1" dirty="0"/>
              <a:t>ी</a:t>
            </a:r>
            <a:r>
              <a:rPr lang="hi-IN" dirty="0"/>
              <a:t> </a:t>
            </a:r>
            <a:r>
              <a:rPr lang="en-IN" dirty="0" err="1"/>
              <a:t>matra</a:t>
            </a:r>
            <a:r>
              <a:rPr lang="en-IN" dirty="0"/>
              <a:t> in </a:t>
            </a:r>
            <a:r>
              <a:rPr lang="hi-IN" b="1" dirty="0"/>
              <a:t>लड़की</a:t>
            </a:r>
            <a:r>
              <a:rPr lang="hi-IN" dirty="0"/>
              <a:t>. </a:t>
            </a:r>
          </a:p>
          <a:p>
            <a:pPr>
              <a:buFont typeface="Arial" panose="020B0604020202020204" pitchFamily="34" charset="0"/>
              <a:buChar char="•"/>
            </a:pPr>
            <a:r>
              <a:rPr lang="en-IN" dirty="0"/>
              <a:t>Remove any extra explanatory text that is not required. </a:t>
            </a:r>
          </a:p>
          <a:p>
            <a:r>
              <a:rPr lang="en-IN" b="1" dirty="0"/>
              <a:t>Sequence:</a:t>
            </a:r>
            <a:endParaRPr lang="en-IN" dirty="0"/>
          </a:p>
          <a:p>
            <a:pPr>
              <a:buFont typeface="+mj-lt"/>
              <a:buAutoNum type="arabicPeriod"/>
            </a:pPr>
            <a:r>
              <a:rPr lang="hi-IN" b="1" dirty="0"/>
              <a:t>तीर</a:t>
            </a:r>
            <a:r>
              <a:rPr lang="hi-IN" dirty="0"/>
              <a:t> </a:t>
            </a:r>
            <a:r>
              <a:rPr lang="en-IN" dirty="0"/>
              <a:t>appears </a:t>
            </a:r>
          </a:p>
          <a:p>
            <a:pPr>
              <a:buFont typeface="+mj-lt"/>
              <a:buAutoNum type="arabicPeriod"/>
            </a:pPr>
            <a:r>
              <a:rPr lang="en-IN" dirty="0"/>
              <a:t>Arrow image appears </a:t>
            </a:r>
          </a:p>
          <a:p>
            <a:pPr>
              <a:buFont typeface="+mj-lt"/>
              <a:buAutoNum type="arabicPeriod"/>
            </a:pPr>
            <a:r>
              <a:rPr lang="hi-IN" b="1" dirty="0"/>
              <a:t>ी</a:t>
            </a:r>
            <a:r>
              <a:rPr lang="hi-IN" dirty="0"/>
              <a:t> </a:t>
            </a:r>
            <a:r>
              <a:rPr lang="en-IN" dirty="0" err="1"/>
              <a:t>matra</a:t>
            </a:r>
            <a:r>
              <a:rPr lang="en-IN" dirty="0"/>
              <a:t> in </a:t>
            </a:r>
            <a:r>
              <a:rPr lang="hi-IN" b="1" dirty="0"/>
              <a:t>तीर</a:t>
            </a:r>
            <a:r>
              <a:rPr lang="hi-IN" dirty="0"/>
              <a:t> </a:t>
            </a:r>
            <a:r>
              <a:rPr lang="en-IN" dirty="0"/>
              <a:t>highlights </a:t>
            </a:r>
          </a:p>
          <a:p>
            <a:pPr>
              <a:buFont typeface="+mj-lt"/>
              <a:buAutoNum type="arabicPeriod"/>
            </a:pPr>
            <a:r>
              <a:rPr lang="en-IN" dirty="0"/>
              <a:t>Then </a:t>
            </a:r>
            <a:r>
              <a:rPr lang="hi-IN" b="1" dirty="0"/>
              <a:t>लड़की</a:t>
            </a:r>
            <a:r>
              <a:rPr lang="hi-IN" dirty="0"/>
              <a:t> </a:t>
            </a:r>
            <a:r>
              <a:rPr lang="en-IN" dirty="0"/>
              <a:t>appears </a:t>
            </a:r>
          </a:p>
          <a:p>
            <a:pPr>
              <a:buFont typeface="+mj-lt"/>
              <a:buAutoNum type="arabicPeriod"/>
            </a:pPr>
            <a:r>
              <a:rPr lang="en-IN" dirty="0"/>
              <a:t>Girl image appears </a:t>
            </a:r>
          </a:p>
          <a:p>
            <a:pPr>
              <a:buFont typeface="+mj-lt"/>
              <a:buAutoNum type="arabicPeriod"/>
            </a:pPr>
            <a:r>
              <a:rPr lang="hi-IN" b="1" dirty="0"/>
              <a:t>ी</a:t>
            </a:r>
            <a:r>
              <a:rPr lang="hi-IN" dirty="0"/>
              <a:t> </a:t>
            </a:r>
            <a:r>
              <a:rPr lang="en-IN" dirty="0" err="1"/>
              <a:t>matra</a:t>
            </a:r>
            <a:r>
              <a:rPr lang="en-IN" dirty="0"/>
              <a:t> in </a:t>
            </a:r>
            <a:r>
              <a:rPr lang="hi-IN" b="1" dirty="0"/>
              <a:t>लड़की</a:t>
            </a:r>
            <a:r>
              <a:rPr lang="hi-IN" dirty="0"/>
              <a:t> </a:t>
            </a:r>
            <a:r>
              <a:rPr lang="en-IN" dirty="0"/>
              <a:t>highlights </a:t>
            </a:r>
          </a:p>
          <a:p>
            <a:r>
              <a:rPr lang="en-IN" b="1" dirty="0"/>
              <a:t>Animation:</a:t>
            </a:r>
            <a:endParaRPr lang="en-IN" dirty="0"/>
          </a:p>
          <a:p>
            <a:pPr>
              <a:buFont typeface="Arial" panose="020B0604020202020204" pitchFamily="34" charset="0"/>
              <a:buChar char="•"/>
            </a:pPr>
            <a:r>
              <a:rPr lang="en-IN" dirty="0"/>
              <a:t>Word appears first with a soft fade/pop animation. </a:t>
            </a:r>
          </a:p>
          <a:p>
            <a:pPr>
              <a:buFont typeface="Arial" panose="020B0604020202020204" pitchFamily="34" charset="0"/>
              <a:buChar char="•"/>
            </a:pPr>
            <a:r>
              <a:rPr lang="en-IN" dirty="0"/>
              <a:t>Image appears just after the word. </a:t>
            </a:r>
          </a:p>
          <a:p>
            <a:pPr>
              <a:buFont typeface="Arial" panose="020B0604020202020204" pitchFamily="34" charset="0"/>
              <a:buChar char="•"/>
            </a:pPr>
            <a:r>
              <a:rPr lang="en-IN" dirty="0"/>
              <a:t>When the VO mentions the </a:t>
            </a:r>
            <a:r>
              <a:rPr lang="en-IN" dirty="0" err="1"/>
              <a:t>matra</a:t>
            </a:r>
            <a:r>
              <a:rPr lang="en-IN" dirty="0"/>
              <a:t>, </a:t>
            </a:r>
            <a:r>
              <a:rPr lang="hi-IN" b="1" dirty="0"/>
              <a:t>ी</a:t>
            </a:r>
            <a:r>
              <a:rPr lang="hi-IN" dirty="0"/>
              <a:t> </a:t>
            </a:r>
            <a:r>
              <a:rPr lang="en-IN" dirty="0"/>
              <a:t>should glow/pulse briefly. </a:t>
            </a:r>
          </a:p>
          <a:p>
            <a:pPr>
              <a:buFont typeface="Arial" panose="020B0604020202020204" pitchFamily="34" charset="0"/>
              <a:buChar char="•"/>
            </a:pPr>
            <a:r>
              <a:rPr lang="en-IN" dirty="0"/>
              <a:t>Show the examples one by one, not together. </a:t>
            </a:r>
          </a:p>
          <a:p>
            <a:r>
              <a:rPr lang="en-IN" b="1" dirty="0"/>
              <a:t>SFX:</a:t>
            </a:r>
            <a:endParaRPr lang="en-IN" dirty="0"/>
          </a:p>
          <a:p>
            <a:pPr>
              <a:buFont typeface="Arial" panose="020B0604020202020204" pitchFamily="34" charset="0"/>
              <a:buChar char="•"/>
            </a:pPr>
            <a:r>
              <a:rPr lang="en-IN" dirty="0"/>
              <a:t>Soft pop/chime when the word or image appears. </a:t>
            </a:r>
          </a:p>
          <a:p>
            <a:pPr>
              <a:buFont typeface="Arial" panose="020B0604020202020204" pitchFamily="34" charset="0"/>
              <a:buChar char="•"/>
            </a:pPr>
            <a:r>
              <a:rPr lang="en-IN" dirty="0"/>
              <a:t>Light sparkle/chime when the </a:t>
            </a:r>
            <a:r>
              <a:rPr lang="en-IN" dirty="0" err="1"/>
              <a:t>matra</a:t>
            </a:r>
            <a:r>
              <a:rPr lang="en-IN" dirty="0"/>
              <a:t> gets highlighted. </a:t>
            </a:r>
          </a:p>
          <a:p>
            <a:r>
              <a:rPr lang="en-IN" b="1" dirty="0"/>
              <a:t>Next Button:</a:t>
            </a:r>
            <a:endParaRPr lang="en-IN" dirty="0"/>
          </a:p>
          <a:p>
            <a:pPr>
              <a:buFont typeface="Arial" panose="020B0604020202020204" pitchFamily="34" charset="0"/>
              <a:buChar char="•"/>
            </a:pPr>
            <a:r>
              <a:rPr lang="en-IN" dirty="0"/>
              <a:t>Keep </a:t>
            </a:r>
            <a:r>
              <a:rPr lang="en-IN" b="1" dirty="0"/>
              <a:t>Next</a:t>
            </a:r>
            <a:r>
              <a:rPr lang="en-IN" dirty="0"/>
              <a:t> disabled during the explanation. </a:t>
            </a:r>
          </a:p>
          <a:p>
            <a:pPr>
              <a:buFont typeface="Arial" panose="020B0604020202020204" pitchFamily="34" charset="0"/>
              <a:buChar char="•"/>
            </a:pPr>
            <a:r>
              <a:rPr lang="en-IN" dirty="0"/>
              <a:t>Activate it only after both examples are completely shown. </a:t>
            </a:r>
          </a:p>
          <a:p>
            <a:endParaRPr lang="en-IN" dirty="0"/>
          </a:p>
        </p:txBody>
      </p:sp>
      <p:sp>
        <p:nvSpPr>
          <p:cNvPr id="4" name="Slide Number Placeholder 3"/>
          <p:cNvSpPr>
            <a:spLocks noGrp="1"/>
          </p:cNvSpPr>
          <p:nvPr>
            <p:ph type="sldNum" sz="quarter" idx="5"/>
          </p:nvPr>
        </p:nvSpPr>
        <p:spPr/>
        <p:txBody>
          <a:bodyPr/>
          <a:lstStyle/>
          <a:p>
            <a:fld id="{2E8D0E46-8C9D-41DC-B81C-31859D5EE714}" type="slidenum">
              <a:rPr lang="en-IN" smtClean="0"/>
              <a:t>10</a:t>
            </a:fld>
            <a:endParaRPr lang="en-IN"/>
          </a:p>
        </p:txBody>
      </p:sp>
    </p:spTree>
    <p:extLst>
      <p:ext uri="{BB962C8B-B14F-4D97-AF65-F5344CB8AC3E}">
        <p14:creationId xmlns:p14="http://schemas.microsoft.com/office/powerpoint/2010/main" val="1275790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Recommendation</a:t>
            </a:r>
          </a:p>
          <a:p>
            <a:r>
              <a:rPr lang="en-IN" b="1" dirty="0"/>
              <a:t>Entry Animation</a:t>
            </a:r>
          </a:p>
          <a:p>
            <a:pPr>
              <a:buFont typeface="Arial" panose="020B0604020202020204" pitchFamily="34" charset="0"/>
              <a:buChar char="•"/>
            </a:pPr>
            <a:r>
              <a:rPr lang="en-IN" dirty="0"/>
              <a:t>Train comes through animation </a:t>
            </a:r>
            <a:r>
              <a:rPr lang="en-IN" b="1" dirty="0"/>
              <a:t>from right to left</a:t>
            </a:r>
            <a:r>
              <a:rPr lang="en-IN" dirty="0"/>
              <a:t>. </a:t>
            </a:r>
          </a:p>
          <a:p>
            <a:pPr>
              <a:buFont typeface="Arial" panose="020B0604020202020204" pitchFamily="34" charset="0"/>
              <a:buChar char="•"/>
            </a:pPr>
            <a:r>
              <a:rPr lang="en-IN" dirty="0"/>
              <a:t>Train stops at the centre of the screen. </a:t>
            </a:r>
          </a:p>
          <a:p>
            <a:r>
              <a:rPr lang="en-IN" b="1" dirty="0"/>
              <a:t>On Screen</a:t>
            </a:r>
          </a:p>
          <a:p>
            <a:pPr>
              <a:buFont typeface="Arial" panose="020B0604020202020204" pitchFamily="34" charset="0"/>
              <a:buChar char="•"/>
            </a:pPr>
            <a:r>
              <a:rPr lang="en-IN" b="1" dirty="0"/>
              <a:t>No instruction text on screen</a:t>
            </a:r>
            <a:r>
              <a:rPr lang="en-IN" dirty="0"/>
              <a:t> </a:t>
            </a:r>
          </a:p>
          <a:p>
            <a:pPr>
              <a:buFont typeface="Arial" panose="020B0604020202020204" pitchFamily="34" charset="0"/>
              <a:buChar char="•"/>
            </a:pPr>
            <a:r>
              <a:rPr lang="en-IN" dirty="0"/>
              <a:t>Only </a:t>
            </a:r>
            <a:r>
              <a:rPr lang="en-IN" b="1" dirty="0"/>
              <a:t>VO</a:t>
            </a:r>
            <a:r>
              <a:rPr lang="en-IN" dirty="0"/>
              <a:t> should play. </a:t>
            </a:r>
          </a:p>
          <a:p>
            <a:r>
              <a:rPr lang="en-IN" b="1" dirty="0"/>
              <a:t>VO:</a:t>
            </a:r>
            <a:br>
              <a:rPr lang="en-IN" dirty="0"/>
            </a:br>
            <a:r>
              <a:rPr lang="en-IN" b="1" dirty="0"/>
              <a:t>“</a:t>
            </a:r>
            <a:r>
              <a:rPr lang="hi-IN" b="1" dirty="0"/>
              <a:t>जिस डिब्बे में आ की मात्रा वाला शब्द है, उस डिब्बे पर टैप कीजिए।”</a:t>
            </a:r>
            <a:endParaRPr lang="hi-IN" dirty="0"/>
          </a:p>
          <a:p>
            <a:r>
              <a:rPr lang="en-IN" b="1" dirty="0"/>
              <a:t>Correct Answer</a:t>
            </a:r>
          </a:p>
          <a:p>
            <a:pPr>
              <a:buFont typeface="Arial" panose="020B0604020202020204" pitchFamily="34" charset="0"/>
              <a:buChar char="•"/>
            </a:pPr>
            <a:r>
              <a:rPr lang="en-IN" dirty="0"/>
              <a:t>Show </a:t>
            </a:r>
            <a:r>
              <a:rPr lang="en-IN" b="1" dirty="0"/>
              <a:t>confetti / sparkle effect</a:t>
            </a:r>
            <a:r>
              <a:rPr lang="en-IN" dirty="0"/>
              <a:t> </a:t>
            </a:r>
          </a:p>
          <a:p>
            <a:pPr>
              <a:buFont typeface="Arial" panose="020B0604020202020204" pitchFamily="34" charset="0"/>
              <a:buChar char="•"/>
            </a:pPr>
            <a:r>
              <a:rPr lang="en-IN" dirty="0"/>
              <a:t>Correct coach should </a:t>
            </a:r>
            <a:r>
              <a:rPr lang="en-IN" b="1" dirty="0"/>
              <a:t>glow / highlight</a:t>
            </a:r>
            <a:r>
              <a:rPr lang="en-IN" dirty="0"/>
              <a:t> </a:t>
            </a:r>
          </a:p>
          <a:p>
            <a:pPr>
              <a:buFont typeface="Arial" panose="020B0604020202020204" pitchFamily="34" charset="0"/>
              <a:buChar char="•"/>
            </a:pPr>
            <a:r>
              <a:rPr lang="en-IN" dirty="0"/>
              <a:t>VO: </a:t>
            </a:r>
          </a:p>
          <a:p>
            <a:r>
              <a:rPr lang="en-IN" b="1" dirty="0"/>
              <a:t>“</a:t>
            </a:r>
            <a:r>
              <a:rPr lang="hi-IN" b="1" dirty="0"/>
              <a:t>शाबाश! हाथ शब्द में आ की मात्रा है।”</a:t>
            </a:r>
            <a:endParaRPr lang="hi-IN" dirty="0"/>
          </a:p>
          <a:p>
            <a:r>
              <a:rPr lang="en-IN" b="1" dirty="0"/>
              <a:t>On 1st Wrong Attempt</a:t>
            </a:r>
          </a:p>
          <a:p>
            <a:pPr>
              <a:buFont typeface="Arial" panose="020B0604020202020204" pitchFamily="34" charset="0"/>
              <a:buChar char="•"/>
            </a:pPr>
            <a:r>
              <a:rPr lang="en-IN" dirty="0"/>
              <a:t>Wrong coach should </a:t>
            </a:r>
            <a:r>
              <a:rPr lang="en-IN" b="1" dirty="0"/>
              <a:t>wiggle / shake</a:t>
            </a:r>
            <a:r>
              <a:rPr lang="en-IN" dirty="0"/>
              <a:t> </a:t>
            </a:r>
          </a:p>
          <a:p>
            <a:pPr>
              <a:buFont typeface="Arial" panose="020B0604020202020204" pitchFamily="34" charset="0"/>
              <a:buChar char="•"/>
            </a:pPr>
            <a:r>
              <a:rPr lang="en-IN" dirty="0"/>
              <a:t>No hand nudge </a:t>
            </a:r>
          </a:p>
          <a:p>
            <a:pPr>
              <a:buFont typeface="Arial" panose="020B0604020202020204" pitchFamily="34" charset="0"/>
              <a:buChar char="•"/>
            </a:pPr>
            <a:r>
              <a:rPr lang="en-IN" dirty="0"/>
              <a:t>Only hint </a:t>
            </a:r>
            <a:r>
              <a:rPr lang="en-IN" b="1" dirty="0"/>
              <a:t>VO</a:t>
            </a:r>
            <a:r>
              <a:rPr lang="en-IN" dirty="0"/>
              <a:t> should come </a:t>
            </a:r>
          </a:p>
          <a:p>
            <a:r>
              <a:rPr lang="en-IN" b="1" dirty="0"/>
              <a:t>VO:</a:t>
            </a:r>
            <a:br>
              <a:rPr lang="en-IN" dirty="0"/>
            </a:br>
            <a:r>
              <a:rPr lang="en-IN" b="1" dirty="0"/>
              <a:t>“</a:t>
            </a:r>
            <a:r>
              <a:rPr lang="hi-IN" b="1" dirty="0"/>
              <a:t>फिर से सोचो। आ की मात्रा वाला शब्द कौन-सा है?”</a:t>
            </a:r>
            <a:endParaRPr lang="hi-IN" dirty="0"/>
          </a:p>
          <a:p>
            <a:r>
              <a:rPr lang="en-IN" b="1" dirty="0"/>
              <a:t>On 2nd Wrong Attempt</a:t>
            </a:r>
          </a:p>
          <a:p>
            <a:pPr>
              <a:buFont typeface="Arial" panose="020B0604020202020204" pitchFamily="34" charset="0"/>
              <a:buChar char="•"/>
            </a:pPr>
            <a:r>
              <a:rPr lang="en-IN" dirty="0"/>
              <a:t>Wrong coach should again </a:t>
            </a:r>
            <a:r>
              <a:rPr lang="en-IN" b="1" dirty="0"/>
              <a:t>wiggle / shake</a:t>
            </a:r>
            <a:r>
              <a:rPr lang="en-IN" dirty="0"/>
              <a:t> </a:t>
            </a:r>
          </a:p>
          <a:p>
            <a:pPr>
              <a:buFont typeface="Arial" panose="020B0604020202020204" pitchFamily="34" charset="0"/>
              <a:buChar char="•"/>
            </a:pPr>
            <a:r>
              <a:rPr lang="en-IN" dirty="0"/>
              <a:t>Hint </a:t>
            </a:r>
            <a:r>
              <a:rPr lang="en-IN" b="1" dirty="0"/>
              <a:t>VO</a:t>
            </a:r>
            <a:r>
              <a:rPr lang="en-IN" dirty="0"/>
              <a:t> should play </a:t>
            </a:r>
          </a:p>
          <a:p>
            <a:pPr>
              <a:buFont typeface="Arial" panose="020B0604020202020204" pitchFamily="34" charset="0"/>
              <a:buChar char="•"/>
            </a:pPr>
            <a:r>
              <a:rPr lang="en-IN" dirty="0"/>
              <a:t>Show </a:t>
            </a:r>
            <a:r>
              <a:rPr lang="en-IN" b="1" dirty="0"/>
              <a:t>hand nudge on the correct answer</a:t>
            </a:r>
            <a:r>
              <a:rPr lang="en-IN" dirty="0"/>
              <a:t> </a:t>
            </a:r>
          </a:p>
          <a:p>
            <a:r>
              <a:rPr lang="en-IN" b="1" dirty="0"/>
              <a:t>VO:</a:t>
            </a:r>
            <a:br>
              <a:rPr lang="en-IN" dirty="0"/>
            </a:br>
            <a:r>
              <a:rPr lang="en-IN" b="1" dirty="0"/>
              <a:t>“</a:t>
            </a:r>
            <a:r>
              <a:rPr lang="hi-IN" b="1" dirty="0"/>
              <a:t>ध्यान से देखो और सही डिब्बे पर टैप कीजिए।”</a:t>
            </a:r>
            <a:endParaRPr lang="hi-IN" dirty="0"/>
          </a:p>
          <a:p>
            <a:r>
              <a:rPr lang="en-IN" b="1" dirty="0"/>
              <a:t>Correct Answer on 3rd Attempt</a:t>
            </a:r>
          </a:p>
          <a:p>
            <a:pPr>
              <a:buFont typeface="Arial" panose="020B0604020202020204" pitchFamily="34" charset="0"/>
              <a:buChar char="•"/>
            </a:pPr>
            <a:r>
              <a:rPr lang="en-IN" dirty="0"/>
              <a:t>Show </a:t>
            </a:r>
            <a:r>
              <a:rPr lang="en-IN" b="1" dirty="0"/>
              <a:t>confetti / sparkle</a:t>
            </a:r>
            <a:r>
              <a:rPr lang="en-IN" dirty="0"/>
              <a:t> </a:t>
            </a:r>
          </a:p>
          <a:p>
            <a:pPr>
              <a:buFont typeface="Arial" panose="020B0604020202020204" pitchFamily="34" charset="0"/>
              <a:buChar char="•"/>
            </a:pPr>
            <a:r>
              <a:rPr lang="en-IN" dirty="0"/>
              <a:t>Correct coach highlights </a:t>
            </a:r>
          </a:p>
          <a:p>
            <a:pPr>
              <a:buFont typeface="Arial" panose="020B0604020202020204" pitchFamily="34" charset="0"/>
              <a:buChar char="•"/>
            </a:pPr>
            <a:r>
              <a:rPr lang="en-IN" b="1" dirty="0"/>
              <a:t>Next button becomes active</a:t>
            </a:r>
            <a:r>
              <a:rPr lang="en-IN" dirty="0"/>
              <a:t> </a:t>
            </a:r>
          </a:p>
          <a:p>
            <a:pPr>
              <a:buFont typeface="Arial" panose="020B0604020202020204" pitchFamily="34" charset="0"/>
              <a:buChar char="•"/>
            </a:pPr>
            <a:r>
              <a:rPr lang="en-IN" b="1" dirty="0"/>
              <a:t>No VO</a:t>
            </a:r>
            <a:r>
              <a:rPr lang="en-IN" dirty="0"/>
              <a:t> </a:t>
            </a:r>
          </a:p>
          <a:p>
            <a:r>
              <a:rPr lang="en-IN" b="1" dirty="0"/>
              <a:t>SFX</a:t>
            </a:r>
          </a:p>
          <a:p>
            <a:pPr>
              <a:buFont typeface="Arial" panose="020B0604020202020204" pitchFamily="34" charset="0"/>
              <a:buChar char="•"/>
            </a:pPr>
            <a:r>
              <a:rPr lang="en-IN" dirty="0"/>
              <a:t>Soft </a:t>
            </a:r>
            <a:r>
              <a:rPr lang="en-IN" b="1" dirty="0"/>
              <a:t>train arrival sound</a:t>
            </a:r>
            <a:r>
              <a:rPr lang="en-IN" dirty="0"/>
              <a:t> </a:t>
            </a:r>
          </a:p>
          <a:p>
            <a:pPr>
              <a:buFont typeface="Arial" panose="020B0604020202020204" pitchFamily="34" charset="0"/>
              <a:buChar char="•"/>
            </a:pPr>
            <a:r>
              <a:rPr lang="en-IN" dirty="0"/>
              <a:t>Light </a:t>
            </a:r>
            <a:r>
              <a:rPr lang="en-IN" b="1" dirty="0"/>
              <a:t>tap sound</a:t>
            </a:r>
            <a:r>
              <a:rPr lang="en-IN" dirty="0"/>
              <a:t> on selection </a:t>
            </a:r>
          </a:p>
          <a:p>
            <a:pPr>
              <a:buFont typeface="Arial" panose="020B0604020202020204" pitchFamily="34" charset="0"/>
              <a:buChar char="•"/>
            </a:pPr>
            <a:r>
              <a:rPr lang="en-IN" dirty="0"/>
              <a:t>Soft </a:t>
            </a:r>
            <a:r>
              <a:rPr lang="en-IN" b="1" dirty="0"/>
              <a:t>shake/error sound</a:t>
            </a:r>
            <a:r>
              <a:rPr lang="en-IN" dirty="0"/>
              <a:t> on wrong attempt </a:t>
            </a:r>
          </a:p>
          <a:p>
            <a:pPr>
              <a:buFont typeface="Arial" panose="020B0604020202020204" pitchFamily="34" charset="0"/>
              <a:buChar char="•"/>
            </a:pPr>
            <a:r>
              <a:rPr lang="en-IN" dirty="0"/>
              <a:t>Light </a:t>
            </a:r>
            <a:r>
              <a:rPr lang="en-IN" b="1" dirty="0"/>
              <a:t>success chime</a:t>
            </a:r>
            <a:r>
              <a:rPr lang="en-IN" dirty="0"/>
              <a:t> on correct answer </a:t>
            </a:r>
          </a:p>
          <a:p>
            <a:endParaRPr lang="en-IN" dirty="0"/>
          </a:p>
        </p:txBody>
      </p:sp>
      <p:sp>
        <p:nvSpPr>
          <p:cNvPr id="4" name="Slide Number Placeholder 3"/>
          <p:cNvSpPr>
            <a:spLocks noGrp="1"/>
          </p:cNvSpPr>
          <p:nvPr>
            <p:ph type="sldNum" sz="quarter" idx="5"/>
          </p:nvPr>
        </p:nvSpPr>
        <p:spPr/>
        <p:txBody>
          <a:bodyPr/>
          <a:lstStyle/>
          <a:p>
            <a:fld id="{2E8D0E46-8C9D-41DC-B81C-31859D5EE714}" type="slidenum">
              <a:rPr lang="en-IN" smtClean="0"/>
              <a:t>11</a:t>
            </a:fld>
            <a:endParaRPr lang="en-IN"/>
          </a:p>
        </p:txBody>
      </p:sp>
    </p:spTree>
    <p:extLst>
      <p:ext uri="{BB962C8B-B14F-4D97-AF65-F5344CB8AC3E}">
        <p14:creationId xmlns:p14="http://schemas.microsoft.com/office/powerpoint/2010/main" val="12875152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Recommendation</a:t>
            </a:r>
          </a:p>
          <a:p>
            <a:r>
              <a:rPr lang="en-IN" b="1" dirty="0"/>
              <a:t>Entry Animation</a:t>
            </a:r>
          </a:p>
          <a:p>
            <a:pPr>
              <a:buFont typeface="Arial" panose="020B0604020202020204" pitchFamily="34" charset="0"/>
              <a:buChar char="•"/>
            </a:pPr>
            <a:r>
              <a:rPr lang="en-IN" dirty="0"/>
              <a:t>Train comes through animation </a:t>
            </a:r>
            <a:r>
              <a:rPr lang="en-IN" b="1" dirty="0"/>
              <a:t>from right to left</a:t>
            </a:r>
            <a:r>
              <a:rPr lang="en-IN" dirty="0"/>
              <a:t>. </a:t>
            </a:r>
          </a:p>
          <a:p>
            <a:pPr>
              <a:buFont typeface="Arial" panose="020B0604020202020204" pitchFamily="34" charset="0"/>
              <a:buChar char="•"/>
            </a:pPr>
            <a:r>
              <a:rPr lang="en-IN" dirty="0"/>
              <a:t>Train stops at the centre of the screen. </a:t>
            </a:r>
          </a:p>
          <a:p>
            <a:r>
              <a:rPr lang="en-IN" b="1" dirty="0"/>
              <a:t>On Screen</a:t>
            </a:r>
          </a:p>
          <a:p>
            <a:pPr>
              <a:buFont typeface="Arial" panose="020B0604020202020204" pitchFamily="34" charset="0"/>
              <a:buChar char="•"/>
            </a:pPr>
            <a:r>
              <a:rPr lang="en-IN" b="1" dirty="0"/>
              <a:t>No instruction text on screen</a:t>
            </a:r>
            <a:r>
              <a:rPr lang="en-IN" dirty="0"/>
              <a:t> </a:t>
            </a:r>
          </a:p>
          <a:p>
            <a:pPr>
              <a:buFont typeface="Arial" panose="020B0604020202020204" pitchFamily="34" charset="0"/>
              <a:buChar char="•"/>
            </a:pPr>
            <a:r>
              <a:rPr lang="en-IN" dirty="0"/>
              <a:t>Only </a:t>
            </a:r>
            <a:r>
              <a:rPr lang="en-IN" b="1" dirty="0"/>
              <a:t>VO</a:t>
            </a:r>
            <a:r>
              <a:rPr lang="en-IN" dirty="0"/>
              <a:t> should play. </a:t>
            </a:r>
          </a:p>
          <a:p>
            <a:r>
              <a:rPr lang="en-IN" b="1" dirty="0"/>
              <a:t>VO:</a:t>
            </a:r>
            <a:br>
              <a:rPr lang="en-IN" dirty="0"/>
            </a:br>
            <a:r>
              <a:rPr lang="en-IN" b="1" dirty="0"/>
              <a:t>“</a:t>
            </a:r>
            <a:r>
              <a:rPr lang="hi-IN" b="1" dirty="0"/>
              <a:t>जिस डिब्बे में छोटी इ की मात्रा वाला शब्द है, उस डिब्बे पर टैप कीजिए।”</a:t>
            </a:r>
            <a:endParaRPr lang="hi-IN" dirty="0"/>
          </a:p>
          <a:p>
            <a:r>
              <a:rPr lang="en-IN" b="1" dirty="0"/>
              <a:t>Correct Answer</a:t>
            </a:r>
          </a:p>
          <a:p>
            <a:pPr>
              <a:buFont typeface="Arial" panose="020B0604020202020204" pitchFamily="34" charset="0"/>
              <a:buChar char="•"/>
            </a:pPr>
            <a:r>
              <a:rPr lang="en-IN" dirty="0"/>
              <a:t>Show </a:t>
            </a:r>
            <a:r>
              <a:rPr lang="en-IN" b="1" dirty="0"/>
              <a:t>confetti / sparkle effect</a:t>
            </a:r>
            <a:r>
              <a:rPr lang="en-IN" dirty="0"/>
              <a:t> </a:t>
            </a:r>
          </a:p>
          <a:p>
            <a:pPr>
              <a:buFont typeface="Arial" panose="020B0604020202020204" pitchFamily="34" charset="0"/>
              <a:buChar char="•"/>
            </a:pPr>
            <a:r>
              <a:rPr lang="en-IN" dirty="0"/>
              <a:t>Correct coach should glow/highlight </a:t>
            </a:r>
          </a:p>
          <a:p>
            <a:pPr>
              <a:buFont typeface="Arial" panose="020B0604020202020204" pitchFamily="34" charset="0"/>
              <a:buChar char="•"/>
            </a:pPr>
            <a:r>
              <a:rPr lang="en-IN" dirty="0"/>
              <a:t>VO: </a:t>
            </a:r>
          </a:p>
          <a:p>
            <a:r>
              <a:rPr lang="en-IN" b="1" dirty="0"/>
              <a:t>“</a:t>
            </a:r>
            <a:r>
              <a:rPr lang="hi-IN" b="1" dirty="0"/>
              <a:t>शाबाश! पिन शब्द में छोटी इ की मात्रा है।”</a:t>
            </a:r>
            <a:endParaRPr lang="hi-IN" dirty="0"/>
          </a:p>
          <a:p>
            <a:r>
              <a:rPr lang="en-IN" dirty="0"/>
              <a:t>Note: Here it should be </a:t>
            </a:r>
            <a:r>
              <a:rPr lang="hi-IN" b="1" dirty="0"/>
              <a:t>छोटी इ</a:t>
            </a:r>
            <a:r>
              <a:rPr lang="hi-IN" dirty="0"/>
              <a:t>, </a:t>
            </a:r>
            <a:r>
              <a:rPr lang="en-IN" dirty="0"/>
              <a:t>not </a:t>
            </a:r>
            <a:r>
              <a:rPr lang="hi-IN" b="1" dirty="0"/>
              <a:t>छोटी ई</a:t>
            </a:r>
            <a:r>
              <a:rPr lang="hi-IN" dirty="0"/>
              <a:t>.</a:t>
            </a:r>
          </a:p>
          <a:p>
            <a:r>
              <a:rPr lang="en-IN" b="1" dirty="0"/>
              <a:t>On 1st Wrong Attempt</a:t>
            </a:r>
          </a:p>
          <a:p>
            <a:pPr>
              <a:buFont typeface="Arial" panose="020B0604020202020204" pitchFamily="34" charset="0"/>
              <a:buChar char="•"/>
            </a:pPr>
            <a:r>
              <a:rPr lang="en-IN" dirty="0"/>
              <a:t>Wrong coach should </a:t>
            </a:r>
            <a:r>
              <a:rPr lang="en-IN" b="1" dirty="0"/>
              <a:t>shake</a:t>
            </a:r>
            <a:r>
              <a:rPr lang="en-IN" dirty="0"/>
              <a:t> </a:t>
            </a:r>
          </a:p>
          <a:p>
            <a:pPr>
              <a:buFont typeface="Arial" panose="020B0604020202020204" pitchFamily="34" charset="0"/>
              <a:buChar char="•"/>
            </a:pPr>
            <a:r>
              <a:rPr lang="en-IN" dirty="0"/>
              <a:t>No hand nudge </a:t>
            </a:r>
          </a:p>
          <a:p>
            <a:pPr>
              <a:buFont typeface="Arial" panose="020B0604020202020204" pitchFamily="34" charset="0"/>
              <a:buChar char="•"/>
            </a:pPr>
            <a:r>
              <a:rPr lang="en-IN" dirty="0"/>
              <a:t>Only hint </a:t>
            </a:r>
            <a:r>
              <a:rPr lang="en-IN" b="1" dirty="0"/>
              <a:t>VO</a:t>
            </a:r>
            <a:r>
              <a:rPr lang="en-IN" dirty="0"/>
              <a:t> should come </a:t>
            </a:r>
          </a:p>
          <a:p>
            <a:r>
              <a:rPr lang="en-IN" b="1" dirty="0"/>
              <a:t>VO:</a:t>
            </a:r>
            <a:br>
              <a:rPr lang="en-IN" dirty="0"/>
            </a:br>
            <a:r>
              <a:rPr lang="en-IN" b="1" dirty="0"/>
              <a:t>“</a:t>
            </a:r>
            <a:r>
              <a:rPr lang="hi-IN" b="1" dirty="0"/>
              <a:t>फिर से सोचो। छोटी इ की मात्रा वाला शब्द कौन-सा है?”</a:t>
            </a:r>
            <a:endParaRPr lang="hi-IN" dirty="0"/>
          </a:p>
          <a:p>
            <a:r>
              <a:rPr lang="en-IN" b="1" dirty="0"/>
              <a:t>On 2nd Wrong Attempt</a:t>
            </a:r>
          </a:p>
          <a:p>
            <a:pPr>
              <a:buFont typeface="Arial" panose="020B0604020202020204" pitchFamily="34" charset="0"/>
              <a:buChar char="•"/>
            </a:pPr>
            <a:r>
              <a:rPr lang="en-IN" dirty="0"/>
              <a:t>Wrong coach should again </a:t>
            </a:r>
            <a:r>
              <a:rPr lang="en-IN" b="1" dirty="0"/>
              <a:t>shake</a:t>
            </a:r>
            <a:r>
              <a:rPr lang="en-IN" dirty="0"/>
              <a:t> </a:t>
            </a:r>
          </a:p>
          <a:p>
            <a:pPr>
              <a:buFont typeface="Arial" panose="020B0604020202020204" pitchFamily="34" charset="0"/>
              <a:buChar char="•"/>
            </a:pPr>
            <a:r>
              <a:rPr lang="en-IN" dirty="0"/>
              <a:t>Hint </a:t>
            </a:r>
            <a:r>
              <a:rPr lang="en-IN" b="1" dirty="0"/>
              <a:t>VO</a:t>
            </a:r>
            <a:r>
              <a:rPr lang="en-IN" dirty="0"/>
              <a:t> should play </a:t>
            </a:r>
          </a:p>
          <a:p>
            <a:pPr>
              <a:buFont typeface="Arial" panose="020B0604020202020204" pitchFamily="34" charset="0"/>
              <a:buChar char="•"/>
            </a:pPr>
            <a:r>
              <a:rPr lang="en-IN" dirty="0"/>
              <a:t>Show </a:t>
            </a:r>
            <a:r>
              <a:rPr lang="en-IN" b="1" dirty="0"/>
              <a:t>hand nudge on the correct answer</a:t>
            </a:r>
            <a:r>
              <a:rPr lang="en-IN" dirty="0"/>
              <a:t> </a:t>
            </a:r>
          </a:p>
          <a:p>
            <a:r>
              <a:rPr lang="en-IN" b="1" dirty="0"/>
              <a:t>VO:</a:t>
            </a:r>
            <a:br>
              <a:rPr lang="en-IN" dirty="0"/>
            </a:br>
            <a:r>
              <a:rPr lang="en-IN" b="1" dirty="0"/>
              <a:t>“</a:t>
            </a:r>
            <a:r>
              <a:rPr lang="hi-IN" b="1" dirty="0"/>
              <a:t>ध्यान से देखो और सही डिब्बे पर टैप करो।”</a:t>
            </a:r>
            <a:endParaRPr lang="hi-IN" dirty="0"/>
          </a:p>
          <a:p>
            <a:r>
              <a:rPr lang="en-IN" b="1" dirty="0"/>
              <a:t>Correct Answer on 3rd Attempt</a:t>
            </a:r>
          </a:p>
          <a:p>
            <a:pPr>
              <a:buFont typeface="Arial" panose="020B0604020202020204" pitchFamily="34" charset="0"/>
              <a:buChar char="•"/>
            </a:pPr>
            <a:r>
              <a:rPr lang="en-IN" dirty="0"/>
              <a:t>Show </a:t>
            </a:r>
            <a:r>
              <a:rPr lang="en-IN" b="1" dirty="0"/>
              <a:t>confetti / sparkle</a:t>
            </a:r>
            <a:r>
              <a:rPr lang="en-IN" dirty="0"/>
              <a:t> </a:t>
            </a:r>
          </a:p>
          <a:p>
            <a:pPr>
              <a:buFont typeface="Arial" panose="020B0604020202020204" pitchFamily="34" charset="0"/>
              <a:buChar char="•"/>
            </a:pPr>
            <a:r>
              <a:rPr lang="en-IN" dirty="0"/>
              <a:t>Correct coach highlights </a:t>
            </a:r>
          </a:p>
          <a:p>
            <a:pPr>
              <a:buFont typeface="Arial" panose="020B0604020202020204" pitchFamily="34" charset="0"/>
              <a:buChar char="•"/>
            </a:pPr>
            <a:r>
              <a:rPr lang="en-IN" b="1" dirty="0"/>
              <a:t>Next button becomes active</a:t>
            </a:r>
            <a:r>
              <a:rPr lang="en-IN" dirty="0"/>
              <a:t> </a:t>
            </a:r>
          </a:p>
          <a:p>
            <a:pPr>
              <a:buFont typeface="Arial" panose="020B0604020202020204" pitchFamily="34" charset="0"/>
              <a:buChar char="•"/>
            </a:pPr>
            <a:r>
              <a:rPr lang="en-IN" b="1" dirty="0"/>
              <a:t>No VO</a:t>
            </a:r>
            <a:r>
              <a:rPr lang="en-IN" dirty="0"/>
              <a:t> </a:t>
            </a:r>
          </a:p>
          <a:p>
            <a:r>
              <a:rPr lang="en-IN" b="1" dirty="0"/>
              <a:t>SFX</a:t>
            </a:r>
          </a:p>
          <a:p>
            <a:pPr>
              <a:buFont typeface="Arial" panose="020B0604020202020204" pitchFamily="34" charset="0"/>
              <a:buChar char="•"/>
            </a:pPr>
            <a:r>
              <a:rPr lang="en-IN" dirty="0"/>
              <a:t>Soft train arrival sound </a:t>
            </a:r>
          </a:p>
          <a:p>
            <a:pPr>
              <a:buFont typeface="Arial" panose="020B0604020202020204" pitchFamily="34" charset="0"/>
              <a:buChar char="•"/>
            </a:pPr>
            <a:r>
              <a:rPr lang="en-IN" dirty="0"/>
              <a:t>Light tap sound on selection </a:t>
            </a:r>
          </a:p>
          <a:p>
            <a:pPr>
              <a:buFont typeface="Arial" panose="020B0604020202020204" pitchFamily="34" charset="0"/>
              <a:buChar char="•"/>
            </a:pPr>
            <a:r>
              <a:rPr lang="en-IN" dirty="0"/>
              <a:t>Soft shake/error sound on wrong attempt </a:t>
            </a:r>
          </a:p>
          <a:p>
            <a:pPr>
              <a:buFont typeface="Arial" panose="020B0604020202020204" pitchFamily="34" charset="0"/>
              <a:buChar char="•"/>
            </a:pPr>
            <a:r>
              <a:rPr lang="en-IN" dirty="0"/>
              <a:t>Success chime on correct answer</a:t>
            </a:r>
          </a:p>
          <a:p>
            <a:endParaRPr lang="en-IN" dirty="0"/>
          </a:p>
        </p:txBody>
      </p:sp>
      <p:sp>
        <p:nvSpPr>
          <p:cNvPr id="4" name="Slide Number Placeholder 3"/>
          <p:cNvSpPr>
            <a:spLocks noGrp="1"/>
          </p:cNvSpPr>
          <p:nvPr>
            <p:ph type="sldNum" sz="quarter" idx="5"/>
          </p:nvPr>
        </p:nvSpPr>
        <p:spPr/>
        <p:txBody>
          <a:bodyPr/>
          <a:lstStyle/>
          <a:p>
            <a:fld id="{2E8D0E46-8C9D-41DC-B81C-31859D5EE714}" type="slidenum">
              <a:rPr lang="en-IN" smtClean="0"/>
              <a:t>12</a:t>
            </a:fld>
            <a:endParaRPr lang="en-IN"/>
          </a:p>
        </p:txBody>
      </p:sp>
    </p:spTree>
    <p:extLst>
      <p:ext uri="{BB962C8B-B14F-4D97-AF65-F5344CB8AC3E}">
        <p14:creationId xmlns:p14="http://schemas.microsoft.com/office/powerpoint/2010/main" val="30784611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Recommendation</a:t>
            </a:r>
          </a:p>
          <a:p>
            <a:r>
              <a:rPr lang="en-IN" b="1" dirty="0"/>
              <a:t>Entry Animation</a:t>
            </a:r>
            <a:endParaRPr lang="en-IN" dirty="0"/>
          </a:p>
          <a:p>
            <a:pPr>
              <a:buFont typeface="Arial" panose="020B0604020202020204" pitchFamily="34" charset="0"/>
              <a:buChar char="•"/>
            </a:pPr>
            <a:r>
              <a:rPr lang="en-IN" dirty="0"/>
              <a:t>Train comes through animation </a:t>
            </a:r>
            <a:r>
              <a:rPr lang="en-IN" b="1" dirty="0"/>
              <a:t>from right to left</a:t>
            </a:r>
            <a:r>
              <a:rPr lang="en-IN" dirty="0"/>
              <a:t>. </a:t>
            </a:r>
          </a:p>
          <a:p>
            <a:pPr>
              <a:buFont typeface="Arial" panose="020B0604020202020204" pitchFamily="34" charset="0"/>
              <a:buChar char="•"/>
            </a:pPr>
            <a:r>
              <a:rPr lang="en-IN" dirty="0"/>
              <a:t>Train stops at the centre of the screen. </a:t>
            </a:r>
          </a:p>
          <a:p>
            <a:r>
              <a:rPr lang="en-IN" b="1" dirty="0"/>
              <a:t>ON SCREEN</a:t>
            </a:r>
            <a:endParaRPr lang="en-IN" dirty="0"/>
          </a:p>
          <a:p>
            <a:pPr>
              <a:buFont typeface="Arial" panose="020B0604020202020204" pitchFamily="34" charset="0"/>
              <a:buChar char="•"/>
            </a:pPr>
            <a:r>
              <a:rPr lang="en-IN" dirty="0"/>
              <a:t>No instruction text on screen. </a:t>
            </a:r>
          </a:p>
          <a:p>
            <a:pPr>
              <a:buFont typeface="Arial" panose="020B0604020202020204" pitchFamily="34" charset="0"/>
              <a:buChar char="•"/>
            </a:pPr>
            <a:r>
              <a:rPr lang="en-IN" dirty="0"/>
              <a:t>Instruction should come through </a:t>
            </a:r>
            <a:r>
              <a:rPr lang="en-IN" b="1" dirty="0"/>
              <a:t>VO only</a:t>
            </a:r>
            <a:r>
              <a:rPr lang="en-IN" dirty="0"/>
              <a:t>. </a:t>
            </a:r>
          </a:p>
          <a:p>
            <a:r>
              <a:rPr lang="en-IN" b="1" dirty="0"/>
              <a:t>VO:</a:t>
            </a:r>
            <a:br>
              <a:rPr lang="en-IN" dirty="0"/>
            </a:br>
            <a:r>
              <a:rPr lang="en-IN" b="1" dirty="0"/>
              <a:t>“</a:t>
            </a:r>
            <a:r>
              <a:rPr lang="hi-IN" b="1" dirty="0"/>
              <a:t>जिस डिब्बे में बड़ी ई की मात्रा वाला शब्द है, उस डिब्बे पर टैप कीजिए।”</a:t>
            </a:r>
            <a:endParaRPr lang="hi-IN" dirty="0"/>
          </a:p>
          <a:p>
            <a:r>
              <a:rPr lang="en-IN" b="1" dirty="0"/>
              <a:t>Correct Answer</a:t>
            </a:r>
            <a:endParaRPr lang="en-IN" dirty="0"/>
          </a:p>
          <a:p>
            <a:pPr>
              <a:buFont typeface="Arial" panose="020B0604020202020204" pitchFamily="34" charset="0"/>
              <a:buChar char="•"/>
            </a:pPr>
            <a:r>
              <a:rPr lang="en-IN" dirty="0"/>
              <a:t>Show a small </a:t>
            </a:r>
            <a:r>
              <a:rPr lang="en-IN" b="1" dirty="0"/>
              <a:t>confetti / sparkle animation</a:t>
            </a:r>
            <a:r>
              <a:rPr lang="en-IN" dirty="0"/>
              <a:t>. </a:t>
            </a:r>
          </a:p>
          <a:p>
            <a:pPr>
              <a:buFont typeface="Arial" panose="020B0604020202020204" pitchFamily="34" charset="0"/>
              <a:buChar char="•"/>
            </a:pPr>
            <a:r>
              <a:rPr lang="en-IN" dirty="0"/>
              <a:t>Correct coach gives a soft glow/highlight. </a:t>
            </a:r>
          </a:p>
          <a:p>
            <a:pPr>
              <a:buFont typeface="Arial" panose="020B0604020202020204" pitchFamily="34" charset="0"/>
              <a:buChar char="•"/>
            </a:pPr>
            <a:r>
              <a:rPr lang="en-IN" dirty="0"/>
              <a:t>VO:</a:t>
            </a:r>
            <a:br>
              <a:rPr lang="en-IN" dirty="0"/>
            </a:br>
            <a:r>
              <a:rPr lang="en-IN" b="1" dirty="0"/>
              <a:t>“</a:t>
            </a:r>
            <a:r>
              <a:rPr lang="hi-IN" b="1" dirty="0"/>
              <a:t>शाबाश! पानी शब्द में बड़ी ई की मात्रा है।”</a:t>
            </a:r>
            <a:r>
              <a:rPr lang="hi-IN" dirty="0"/>
              <a:t> </a:t>
            </a:r>
          </a:p>
          <a:p>
            <a:pPr>
              <a:buFont typeface="Arial" panose="020B0604020202020204" pitchFamily="34" charset="0"/>
              <a:buChar char="•"/>
            </a:pPr>
            <a:r>
              <a:rPr lang="en-IN" b="1" dirty="0"/>
              <a:t>Next button becomes active.</a:t>
            </a:r>
            <a:r>
              <a:rPr lang="en-IN" dirty="0"/>
              <a:t> </a:t>
            </a:r>
          </a:p>
          <a:p>
            <a:r>
              <a:rPr lang="en-IN" b="1" dirty="0"/>
              <a:t>1st Wrong Attempt</a:t>
            </a:r>
            <a:endParaRPr lang="en-IN" dirty="0"/>
          </a:p>
          <a:p>
            <a:pPr>
              <a:buFont typeface="Arial" panose="020B0604020202020204" pitchFamily="34" charset="0"/>
              <a:buChar char="•"/>
            </a:pPr>
            <a:r>
              <a:rPr lang="en-IN" dirty="0"/>
              <a:t>Wrong coach gives a short </a:t>
            </a:r>
            <a:r>
              <a:rPr lang="en-IN" b="1" dirty="0"/>
              <a:t>shake animation</a:t>
            </a:r>
            <a:r>
              <a:rPr lang="en-IN" dirty="0"/>
              <a:t>. </a:t>
            </a:r>
          </a:p>
          <a:p>
            <a:pPr>
              <a:buFont typeface="Arial" panose="020B0604020202020204" pitchFamily="34" charset="0"/>
              <a:buChar char="•"/>
            </a:pPr>
            <a:r>
              <a:rPr lang="en-IN" dirty="0"/>
              <a:t>Only hint VO comes. </a:t>
            </a:r>
          </a:p>
          <a:p>
            <a:pPr>
              <a:buFont typeface="Arial" panose="020B0604020202020204" pitchFamily="34" charset="0"/>
              <a:buChar char="•"/>
            </a:pPr>
            <a:r>
              <a:rPr lang="en-IN" dirty="0"/>
              <a:t>No hand nudge. </a:t>
            </a:r>
          </a:p>
          <a:p>
            <a:r>
              <a:rPr lang="en-IN" b="1" dirty="0"/>
              <a:t>2nd Wrong Attempt</a:t>
            </a:r>
            <a:endParaRPr lang="en-IN" dirty="0"/>
          </a:p>
          <a:p>
            <a:pPr>
              <a:buFont typeface="Arial" panose="020B0604020202020204" pitchFamily="34" charset="0"/>
              <a:buChar char="•"/>
            </a:pPr>
            <a:r>
              <a:rPr lang="en-IN" dirty="0"/>
              <a:t>Wrong coach gives a </a:t>
            </a:r>
            <a:r>
              <a:rPr lang="en-IN" b="1" dirty="0"/>
              <a:t>shake animation</a:t>
            </a:r>
            <a:r>
              <a:rPr lang="en-IN" dirty="0"/>
              <a:t> again. </a:t>
            </a:r>
          </a:p>
          <a:p>
            <a:pPr>
              <a:buFont typeface="Arial" panose="020B0604020202020204" pitchFamily="34" charset="0"/>
              <a:buChar char="•"/>
            </a:pPr>
            <a:r>
              <a:rPr lang="en-IN" dirty="0"/>
              <a:t>Hint VO comes. </a:t>
            </a:r>
          </a:p>
          <a:p>
            <a:pPr>
              <a:buFont typeface="Arial" panose="020B0604020202020204" pitchFamily="34" charset="0"/>
              <a:buChar char="•"/>
            </a:pPr>
            <a:r>
              <a:rPr lang="en-IN" dirty="0"/>
              <a:t>Show a </a:t>
            </a:r>
            <a:r>
              <a:rPr lang="en-IN" b="1" dirty="0"/>
              <a:t>hand nudge on the correct answer</a:t>
            </a:r>
            <a:r>
              <a:rPr lang="en-IN" dirty="0"/>
              <a:t>. </a:t>
            </a:r>
          </a:p>
          <a:p>
            <a:r>
              <a:rPr lang="en-IN" b="1" dirty="0"/>
              <a:t>Correct Answer on 3rd Attempt</a:t>
            </a:r>
            <a:endParaRPr lang="en-IN" dirty="0"/>
          </a:p>
          <a:p>
            <a:pPr>
              <a:buFont typeface="Arial" panose="020B0604020202020204" pitchFamily="34" charset="0"/>
              <a:buChar char="•"/>
            </a:pPr>
            <a:r>
              <a:rPr lang="en-IN" dirty="0"/>
              <a:t>Show </a:t>
            </a:r>
            <a:r>
              <a:rPr lang="en-IN" b="1" dirty="0"/>
              <a:t>confetti / sparkle</a:t>
            </a:r>
            <a:r>
              <a:rPr lang="en-IN" dirty="0"/>
              <a:t>. </a:t>
            </a:r>
          </a:p>
          <a:p>
            <a:pPr>
              <a:buFont typeface="Arial" panose="020B0604020202020204" pitchFamily="34" charset="0"/>
              <a:buChar char="•"/>
            </a:pPr>
            <a:r>
              <a:rPr lang="en-IN" dirty="0"/>
              <a:t>Correct coach highlights. </a:t>
            </a:r>
          </a:p>
          <a:p>
            <a:pPr>
              <a:buFont typeface="Arial" panose="020B0604020202020204" pitchFamily="34" charset="0"/>
              <a:buChar char="•"/>
            </a:pPr>
            <a:r>
              <a:rPr lang="en-IN" b="1" dirty="0"/>
              <a:t>Next button becomes active.</a:t>
            </a:r>
            <a:r>
              <a:rPr lang="en-IN" dirty="0"/>
              <a:t> </a:t>
            </a:r>
          </a:p>
          <a:p>
            <a:pPr>
              <a:buFont typeface="Arial" panose="020B0604020202020204" pitchFamily="34" charset="0"/>
              <a:buChar char="•"/>
            </a:pPr>
            <a:r>
              <a:rPr lang="en-IN" b="1" dirty="0"/>
              <a:t>No VO.</a:t>
            </a:r>
            <a:r>
              <a:rPr lang="en-IN" dirty="0"/>
              <a:t> </a:t>
            </a:r>
          </a:p>
          <a:p>
            <a:r>
              <a:rPr lang="en-IN" b="1" dirty="0"/>
              <a:t>SFX</a:t>
            </a:r>
            <a:endParaRPr lang="en-IN" dirty="0"/>
          </a:p>
          <a:p>
            <a:pPr>
              <a:buFont typeface="Arial" panose="020B0604020202020204" pitchFamily="34" charset="0"/>
              <a:buChar char="•"/>
            </a:pPr>
            <a:r>
              <a:rPr lang="en-IN" dirty="0"/>
              <a:t>Soft train arrival SFX. </a:t>
            </a:r>
          </a:p>
          <a:p>
            <a:pPr>
              <a:buFont typeface="Arial" panose="020B0604020202020204" pitchFamily="34" charset="0"/>
              <a:buChar char="•"/>
            </a:pPr>
            <a:r>
              <a:rPr lang="en-IN" dirty="0"/>
              <a:t>Light tap SFX on selection. </a:t>
            </a:r>
          </a:p>
          <a:p>
            <a:pPr>
              <a:buFont typeface="Arial" panose="020B0604020202020204" pitchFamily="34" charset="0"/>
              <a:buChar char="•"/>
            </a:pPr>
            <a:r>
              <a:rPr lang="en-IN" dirty="0"/>
              <a:t>Soft error/shake SFX on wrong attempt. </a:t>
            </a:r>
          </a:p>
          <a:p>
            <a:pPr>
              <a:buFont typeface="Arial" panose="020B0604020202020204" pitchFamily="34" charset="0"/>
              <a:buChar char="•"/>
            </a:pPr>
            <a:r>
              <a:rPr lang="en-IN" dirty="0"/>
              <a:t>Success chime with confetti on the correct answer. </a:t>
            </a:r>
          </a:p>
          <a:p>
            <a:endParaRPr lang="en-IN" dirty="0"/>
          </a:p>
        </p:txBody>
      </p:sp>
      <p:sp>
        <p:nvSpPr>
          <p:cNvPr id="4" name="Slide Number Placeholder 3"/>
          <p:cNvSpPr>
            <a:spLocks noGrp="1"/>
          </p:cNvSpPr>
          <p:nvPr>
            <p:ph type="sldNum" sz="quarter" idx="5"/>
          </p:nvPr>
        </p:nvSpPr>
        <p:spPr/>
        <p:txBody>
          <a:bodyPr/>
          <a:lstStyle/>
          <a:p>
            <a:fld id="{2E8D0E46-8C9D-41DC-B81C-31859D5EE714}" type="slidenum">
              <a:rPr lang="en-IN" smtClean="0"/>
              <a:t>13</a:t>
            </a:fld>
            <a:endParaRPr lang="en-IN"/>
          </a:p>
        </p:txBody>
      </p:sp>
    </p:spTree>
    <p:extLst>
      <p:ext uri="{BB962C8B-B14F-4D97-AF65-F5344CB8AC3E}">
        <p14:creationId xmlns:p14="http://schemas.microsoft.com/office/powerpoint/2010/main" val="2399440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Train</a:t>
            </a:r>
            <a:br>
              <a:rPr lang="en-GB" dirty="0"/>
            </a:br>
            <a:r>
              <a:rPr lang="en-GB" dirty="0"/>
              <a:t>comes through animation from right to left.</a:t>
            </a:r>
          </a:p>
          <a:p>
            <a:r>
              <a:rPr lang="en-GB" dirty="0"/>
              <a:t>The train stops at the centre of the screen. Three coaches are visible.</a:t>
            </a:r>
            <a:br>
              <a:rPr lang="en-GB" dirty="0"/>
            </a:br>
            <a:r>
              <a:rPr lang="en-GB" dirty="0"/>
              <a:t>Each coach has one </a:t>
            </a:r>
            <a:r>
              <a:rPr lang="en-GB" dirty="0" err="1"/>
              <a:t>मात्रा</a:t>
            </a:r>
            <a:r>
              <a:rPr lang="en-GB" dirty="0"/>
              <a:t> shown above it: </a:t>
            </a:r>
            <a:r>
              <a:rPr lang="hi-IN" dirty="0"/>
              <a:t>आ (</a:t>
            </a:r>
            <a:r>
              <a:rPr lang="en-GB" b="1" dirty="0"/>
              <a:t>ा</a:t>
            </a:r>
            <a:r>
              <a:rPr lang="hi-IN" b="1" dirty="0"/>
              <a:t>)</a:t>
            </a:r>
            <a:r>
              <a:rPr lang="en-GB" b="1" dirty="0"/>
              <a:t>, </a:t>
            </a:r>
            <a:r>
              <a:rPr lang="hi-IN" b="1" dirty="0"/>
              <a:t>इ (</a:t>
            </a:r>
            <a:r>
              <a:rPr lang="en-GB" b="1" dirty="0"/>
              <a:t>ि</a:t>
            </a:r>
            <a:r>
              <a:rPr lang="hi-IN" b="1" dirty="0"/>
              <a:t>)</a:t>
            </a:r>
            <a:r>
              <a:rPr lang="en-GB" b="1" dirty="0"/>
              <a:t>, </a:t>
            </a:r>
            <a:r>
              <a:rPr lang="hi-IN" b="1" dirty="0"/>
              <a:t>ई (</a:t>
            </a:r>
            <a:r>
              <a:rPr lang="en-GB" b="1" dirty="0"/>
              <a:t>ी</a:t>
            </a:r>
            <a:r>
              <a:rPr lang="hi-IN" b="1" dirty="0"/>
              <a:t>)</a:t>
            </a:r>
            <a:r>
              <a:rPr lang="en-GB" dirty="0"/>
              <a:t>.</a:t>
            </a:r>
            <a:br>
              <a:rPr lang="en-GB" dirty="0"/>
            </a:br>
            <a:r>
              <a:rPr lang="en-GB" dirty="0"/>
              <a:t>The inside drop area of each coach remains empty.</a:t>
            </a:r>
          </a:p>
          <a:p>
            <a:r>
              <a:rPr lang="en-GB" dirty="0"/>
              <a:t>Three draggable word cards appear below the train:</a:t>
            </a:r>
            <a:br>
              <a:rPr lang="en-GB" dirty="0"/>
            </a:br>
            <a:r>
              <a:rPr lang="en-GB" b="1" dirty="0" err="1"/>
              <a:t>हाथ</a:t>
            </a:r>
            <a:r>
              <a:rPr lang="en-GB" b="1" dirty="0"/>
              <a:t>, </a:t>
            </a:r>
            <a:r>
              <a:rPr lang="en-GB" b="1" dirty="0" err="1"/>
              <a:t>पिन</a:t>
            </a:r>
            <a:r>
              <a:rPr lang="en-GB" b="1" dirty="0"/>
              <a:t>, </a:t>
            </a:r>
            <a:r>
              <a:rPr lang="en-GB" b="1" dirty="0" err="1"/>
              <a:t>नीम</a:t>
            </a:r>
            <a:r>
              <a:rPr lang="en-GB" dirty="0"/>
              <a:t>.</a:t>
            </a:r>
          </a:p>
          <a:p>
            <a:r>
              <a:rPr lang="en-GB" b="1" dirty="0"/>
              <a:t>ON SCREEN:</a:t>
            </a:r>
            <a:br>
              <a:rPr lang="en-GB" dirty="0"/>
            </a:br>
            <a:r>
              <a:rPr lang="en-GB" dirty="0"/>
              <a:t>No instruction text. Only VO:</a:t>
            </a:r>
          </a:p>
          <a:p>
            <a:r>
              <a:rPr lang="en-GB" b="1" dirty="0"/>
              <a:t>“</a:t>
            </a:r>
            <a:r>
              <a:rPr lang="en-GB" b="1" dirty="0" err="1"/>
              <a:t>हर</a:t>
            </a:r>
            <a:r>
              <a:rPr lang="en-GB" b="1" dirty="0"/>
              <a:t> </a:t>
            </a:r>
            <a:r>
              <a:rPr lang="en-GB" b="1" dirty="0" err="1"/>
              <a:t>शब्द</a:t>
            </a:r>
            <a:r>
              <a:rPr lang="en-GB" b="1" dirty="0"/>
              <a:t> </a:t>
            </a:r>
            <a:r>
              <a:rPr lang="en-GB" b="1" dirty="0" err="1"/>
              <a:t>को</a:t>
            </a:r>
            <a:r>
              <a:rPr lang="en-GB" b="1" dirty="0"/>
              <a:t> </a:t>
            </a:r>
            <a:r>
              <a:rPr lang="en-GB" b="1" dirty="0" err="1"/>
              <a:t>उसकी</a:t>
            </a:r>
            <a:r>
              <a:rPr lang="en-GB" b="1" dirty="0"/>
              <a:t> </a:t>
            </a:r>
            <a:r>
              <a:rPr lang="en-GB" b="1" dirty="0" err="1"/>
              <a:t>सही</a:t>
            </a:r>
            <a:r>
              <a:rPr lang="en-GB" b="1" dirty="0"/>
              <a:t> </a:t>
            </a:r>
            <a:r>
              <a:rPr lang="en-GB" b="1" dirty="0" err="1"/>
              <a:t>मात्रा</a:t>
            </a:r>
            <a:r>
              <a:rPr lang="en-GB" b="1" dirty="0"/>
              <a:t> </a:t>
            </a:r>
            <a:r>
              <a:rPr lang="en-GB" b="1" dirty="0" err="1"/>
              <a:t>वाली</a:t>
            </a:r>
            <a:r>
              <a:rPr lang="en-GB" b="1" dirty="0"/>
              <a:t> </a:t>
            </a:r>
            <a:r>
              <a:rPr lang="en-GB" b="1" dirty="0" err="1"/>
              <a:t>बोगी</a:t>
            </a:r>
            <a:r>
              <a:rPr lang="en-GB" b="1" dirty="0"/>
              <a:t> </a:t>
            </a:r>
            <a:r>
              <a:rPr lang="en-GB" b="1" dirty="0" err="1"/>
              <a:t>में</a:t>
            </a:r>
            <a:r>
              <a:rPr lang="en-GB" b="1" dirty="0"/>
              <a:t> </a:t>
            </a:r>
            <a:r>
              <a:rPr lang="hi-IN" b="1" dirty="0"/>
              <a:t>डालिए</a:t>
            </a:r>
            <a:r>
              <a:rPr lang="en-GB" b="1" dirty="0"/>
              <a:t>।”</a:t>
            </a:r>
            <a:endParaRPr lang="en-GB" dirty="0"/>
          </a:p>
          <a:p>
            <a:r>
              <a:rPr lang="en-GB" dirty="0"/>
              <a:t>Each word card can also play its word VO when tapped/dragged:</a:t>
            </a:r>
            <a:br>
              <a:rPr lang="en-GB" dirty="0"/>
            </a:br>
            <a:r>
              <a:rPr lang="en-GB" b="1" dirty="0"/>
              <a:t>“</a:t>
            </a:r>
            <a:r>
              <a:rPr lang="en-GB" b="1" dirty="0" err="1"/>
              <a:t>हाथ</a:t>
            </a:r>
            <a:r>
              <a:rPr lang="en-GB" b="1" dirty="0"/>
              <a:t>” / “</a:t>
            </a:r>
            <a:r>
              <a:rPr lang="en-GB" b="1" dirty="0" err="1"/>
              <a:t>पिन</a:t>
            </a:r>
            <a:r>
              <a:rPr lang="en-GB" b="1" dirty="0"/>
              <a:t>” / “</a:t>
            </a:r>
            <a:r>
              <a:rPr lang="en-GB" b="1" dirty="0" err="1"/>
              <a:t>नीम</a:t>
            </a:r>
            <a:r>
              <a:rPr lang="en-GB" b="1" dirty="0"/>
              <a:t>”</a:t>
            </a:r>
            <a:endParaRPr lang="en-GB" dirty="0"/>
          </a:p>
          <a:p>
            <a:r>
              <a:rPr lang="en-GB" b="1" dirty="0"/>
              <a:t>Drag and Drop</a:t>
            </a:r>
          </a:p>
          <a:p>
            <a:r>
              <a:rPr lang="en-GB" dirty="0"/>
              <a:t>The child drags each word card into the correct coach.</a:t>
            </a:r>
          </a:p>
          <a:p>
            <a:pPr>
              <a:buFont typeface="Arial" panose="020B0604020202020204" pitchFamily="34" charset="0"/>
              <a:buChar char="•"/>
            </a:pPr>
            <a:r>
              <a:rPr lang="en-GB" b="1" dirty="0" err="1"/>
              <a:t>हाथ</a:t>
            </a:r>
            <a:r>
              <a:rPr lang="en-GB" b="1" dirty="0"/>
              <a:t> → </a:t>
            </a:r>
            <a:r>
              <a:rPr lang="hi-IN" b="1" dirty="0"/>
              <a:t>आ (</a:t>
            </a:r>
            <a:r>
              <a:rPr lang="en-GB" b="1" dirty="0"/>
              <a:t>ा</a:t>
            </a:r>
            <a:r>
              <a:rPr lang="hi-IN" b="1" dirty="0"/>
              <a:t>)</a:t>
            </a:r>
            <a:r>
              <a:rPr lang="en-GB" dirty="0"/>
              <a:t> </a:t>
            </a:r>
          </a:p>
          <a:p>
            <a:pPr>
              <a:buFont typeface="Arial" panose="020B0604020202020204" pitchFamily="34" charset="0"/>
              <a:buChar char="•"/>
            </a:pPr>
            <a:r>
              <a:rPr lang="en-GB" b="1" dirty="0" err="1"/>
              <a:t>पिन</a:t>
            </a:r>
            <a:r>
              <a:rPr lang="en-GB" b="1" dirty="0"/>
              <a:t> → </a:t>
            </a:r>
            <a:r>
              <a:rPr lang="hi-IN" b="1" dirty="0"/>
              <a:t>इ (</a:t>
            </a:r>
            <a:r>
              <a:rPr lang="en-GB" b="1" dirty="0"/>
              <a:t>ि</a:t>
            </a:r>
            <a:r>
              <a:rPr lang="hi-IN" b="1" dirty="0"/>
              <a:t>)</a:t>
            </a:r>
            <a:r>
              <a:rPr lang="en-GB" dirty="0"/>
              <a:t> </a:t>
            </a:r>
          </a:p>
          <a:p>
            <a:pPr>
              <a:buFont typeface="Arial" panose="020B0604020202020204" pitchFamily="34" charset="0"/>
              <a:buChar char="•"/>
            </a:pPr>
            <a:r>
              <a:rPr lang="en-GB" b="1" dirty="0" err="1"/>
              <a:t>नीम</a:t>
            </a:r>
            <a:r>
              <a:rPr lang="en-GB" b="1" dirty="0"/>
              <a:t> → </a:t>
            </a:r>
            <a:r>
              <a:rPr lang="hi-IN" b="1" dirty="0"/>
              <a:t>ई (</a:t>
            </a:r>
            <a:r>
              <a:rPr lang="en-GB" b="1" dirty="0"/>
              <a:t>ी</a:t>
            </a:r>
            <a:r>
              <a:rPr lang="hi-IN" b="1" dirty="0"/>
              <a:t>)</a:t>
            </a:r>
            <a:r>
              <a:rPr lang="en-GB" dirty="0"/>
              <a:t> </a:t>
            </a:r>
          </a:p>
          <a:p>
            <a:r>
              <a:rPr lang="en-GB" dirty="0"/>
              <a:t>Only </a:t>
            </a:r>
            <a:r>
              <a:rPr lang="en-GB" b="1" dirty="0"/>
              <a:t>one word</a:t>
            </a:r>
            <a:r>
              <a:rPr lang="en-GB" dirty="0"/>
              <a:t> can be placed inside each coach.</a:t>
            </a:r>
          </a:p>
          <a:p>
            <a:r>
              <a:rPr lang="en-GB" dirty="0"/>
              <a:t>While dragging, the selected card slightly enlarges.</a:t>
            </a:r>
            <a:br>
              <a:rPr lang="en-GB" dirty="0"/>
            </a:br>
            <a:r>
              <a:rPr lang="en-GB" dirty="0"/>
              <a:t>When the card reaches a coach, that coach gets a soft highlight.</a:t>
            </a:r>
          </a:p>
          <a:p>
            <a:r>
              <a:rPr lang="en-GB" b="1" dirty="0"/>
              <a:t>Correct Answer</a:t>
            </a:r>
          </a:p>
          <a:p>
            <a:r>
              <a:rPr lang="en-GB" dirty="0"/>
              <a:t>The word card snaps inside the correct coach.</a:t>
            </a:r>
          </a:p>
          <a:p>
            <a:r>
              <a:rPr lang="en-GB" dirty="0"/>
              <a:t>Small confetti/sparkle animation appears around that coach.</a:t>
            </a:r>
          </a:p>
          <a:p>
            <a:r>
              <a:rPr lang="en-GB" dirty="0"/>
              <a:t>VO example:</a:t>
            </a:r>
          </a:p>
          <a:p>
            <a:r>
              <a:rPr lang="en-GB" b="1" dirty="0"/>
              <a:t>“</a:t>
            </a:r>
            <a:r>
              <a:rPr lang="en-GB" b="1" dirty="0" err="1"/>
              <a:t>शाबाश</a:t>
            </a:r>
            <a:r>
              <a:rPr lang="en-GB" b="1" dirty="0"/>
              <a:t>! </a:t>
            </a:r>
            <a:r>
              <a:rPr lang="en-GB" b="1" dirty="0" err="1"/>
              <a:t>पिन</a:t>
            </a:r>
            <a:r>
              <a:rPr lang="en-GB" b="1" dirty="0"/>
              <a:t> </a:t>
            </a:r>
            <a:r>
              <a:rPr lang="en-GB" b="1" dirty="0" err="1"/>
              <a:t>शब्द</a:t>
            </a:r>
            <a:r>
              <a:rPr lang="en-GB" b="1" dirty="0"/>
              <a:t> </a:t>
            </a:r>
            <a:r>
              <a:rPr lang="en-GB" b="1" dirty="0" err="1"/>
              <a:t>में</a:t>
            </a:r>
            <a:r>
              <a:rPr lang="en-GB" b="1" dirty="0"/>
              <a:t> </a:t>
            </a:r>
            <a:r>
              <a:rPr lang="en-GB" b="1" dirty="0" err="1"/>
              <a:t>छोटी</a:t>
            </a:r>
            <a:r>
              <a:rPr lang="en-GB" b="1" dirty="0"/>
              <a:t> इ </a:t>
            </a:r>
            <a:r>
              <a:rPr lang="en-GB" b="1" dirty="0" err="1"/>
              <a:t>की</a:t>
            </a:r>
            <a:r>
              <a:rPr lang="en-GB" b="1" dirty="0"/>
              <a:t> </a:t>
            </a:r>
            <a:r>
              <a:rPr lang="en-GB" b="1" dirty="0" err="1"/>
              <a:t>मात्रा</a:t>
            </a:r>
            <a:r>
              <a:rPr lang="en-GB" b="1" dirty="0"/>
              <a:t> </a:t>
            </a:r>
            <a:r>
              <a:rPr lang="en-GB" b="1" dirty="0" err="1"/>
              <a:t>है</a:t>
            </a:r>
            <a:r>
              <a:rPr lang="en-GB" b="1" dirty="0"/>
              <a:t>।”</a:t>
            </a:r>
            <a:endParaRPr lang="en-GB" dirty="0"/>
          </a:p>
          <a:p>
            <a:r>
              <a:rPr lang="en-GB" dirty="0"/>
              <a:t>The correctly placed card becomes locked and cannot be dragged again.</a:t>
            </a:r>
          </a:p>
          <a:p>
            <a:r>
              <a:rPr lang="en-GB" b="1" dirty="0"/>
              <a:t>On 1st Wrong Attempt</a:t>
            </a:r>
          </a:p>
          <a:p>
            <a:r>
              <a:rPr lang="en-GB" dirty="0"/>
              <a:t>Wrong coach gives a short </a:t>
            </a:r>
            <a:r>
              <a:rPr lang="en-GB" b="1" dirty="0"/>
              <a:t>shake animation</a:t>
            </a:r>
            <a:r>
              <a:rPr lang="en-GB" dirty="0"/>
              <a:t>.</a:t>
            </a:r>
          </a:p>
          <a:p>
            <a:r>
              <a:rPr lang="en-GB" dirty="0"/>
              <a:t>The word card smoothly returns to its original position.</a:t>
            </a:r>
          </a:p>
          <a:p>
            <a:r>
              <a:rPr lang="en-GB" dirty="0"/>
              <a:t>No hand nudge.</a:t>
            </a:r>
          </a:p>
          <a:p>
            <a:r>
              <a:rPr lang="en-GB" dirty="0"/>
              <a:t>Only VO comes:</a:t>
            </a:r>
          </a:p>
          <a:p>
            <a:r>
              <a:rPr lang="en-GB" b="1" dirty="0"/>
              <a:t>“</a:t>
            </a:r>
            <a:r>
              <a:rPr lang="en-GB" b="1" dirty="0" err="1"/>
              <a:t>फिर</a:t>
            </a:r>
            <a:r>
              <a:rPr lang="en-GB" b="1" dirty="0"/>
              <a:t> </a:t>
            </a:r>
            <a:r>
              <a:rPr lang="en-GB" b="1" dirty="0" err="1"/>
              <a:t>से</a:t>
            </a:r>
            <a:r>
              <a:rPr lang="en-GB" b="1" dirty="0"/>
              <a:t> </a:t>
            </a:r>
            <a:r>
              <a:rPr lang="en-GB" b="1" dirty="0" err="1"/>
              <a:t>सुनो</a:t>
            </a:r>
            <a:r>
              <a:rPr lang="en-GB" b="1" dirty="0"/>
              <a:t> </a:t>
            </a:r>
            <a:r>
              <a:rPr lang="en-GB" b="1" dirty="0" err="1"/>
              <a:t>और</a:t>
            </a:r>
            <a:r>
              <a:rPr lang="en-GB" b="1" dirty="0"/>
              <a:t> </a:t>
            </a:r>
            <a:r>
              <a:rPr lang="en-GB" b="1" dirty="0" err="1"/>
              <a:t>सही</a:t>
            </a:r>
            <a:r>
              <a:rPr lang="en-GB" b="1" dirty="0"/>
              <a:t> </a:t>
            </a:r>
            <a:r>
              <a:rPr lang="en-GB" b="1" dirty="0" err="1"/>
              <a:t>मात्रा</a:t>
            </a:r>
            <a:r>
              <a:rPr lang="en-GB" b="1" dirty="0"/>
              <a:t> </a:t>
            </a:r>
            <a:r>
              <a:rPr lang="hi-IN" b="1" dirty="0"/>
              <a:t>पहचानिए</a:t>
            </a:r>
            <a:r>
              <a:rPr lang="en-GB" b="1" dirty="0"/>
              <a:t>।”</a:t>
            </a:r>
            <a:endParaRPr lang="en-GB" dirty="0"/>
          </a:p>
          <a:p>
            <a:r>
              <a:rPr lang="en-GB" b="1" dirty="0"/>
              <a:t>On 2nd Wrong Attempt</a:t>
            </a:r>
          </a:p>
          <a:p>
            <a:r>
              <a:rPr lang="en-GB" dirty="0"/>
              <a:t>Wrong coach again gives a </a:t>
            </a:r>
            <a:r>
              <a:rPr lang="en-GB" b="1" dirty="0"/>
              <a:t>shake animation</a:t>
            </a:r>
            <a:r>
              <a:rPr lang="en-GB" dirty="0"/>
              <a:t>.</a:t>
            </a:r>
          </a:p>
          <a:p>
            <a:r>
              <a:rPr lang="en-GB" dirty="0"/>
              <a:t>The word card returns to its original position.</a:t>
            </a:r>
          </a:p>
          <a:p>
            <a:r>
              <a:rPr lang="en-GB" dirty="0"/>
              <a:t>VO:</a:t>
            </a:r>
          </a:p>
          <a:p>
            <a:r>
              <a:rPr lang="en-GB" b="1" dirty="0"/>
              <a:t>“</a:t>
            </a:r>
            <a:r>
              <a:rPr lang="en-GB" b="1" dirty="0" err="1"/>
              <a:t>ध्यान</a:t>
            </a:r>
            <a:r>
              <a:rPr lang="en-GB" b="1" dirty="0"/>
              <a:t> </a:t>
            </a:r>
            <a:r>
              <a:rPr lang="en-GB" b="1" dirty="0" err="1"/>
              <a:t>से</a:t>
            </a:r>
            <a:r>
              <a:rPr lang="en-GB" b="1" dirty="0"/>
              <a:t> </a:t>
            </a:r>
            <a:r>
              <a:rPr lang="en-GB" b="1" dirty="0" err="1"/>
              <a:t>देखो</a:t>
            </a:r>
            <a:r>
              <a:rPr lang="en-GB" b="1" dirty="0"/>
              <a:t>, </a:t>
            </a:r>
            <a:r>
              <a:rPr lang="en-GB" b="1" dirty="0" err="1"/>
              <a:t>इस</a:t>
            </a:r>
            <a:r>
              <a:rPr lang="en-GB" b="1" dirty="0"/>
              <a:t> </a:t>
            </a:r>
            <a:r>
              <a:rPr lang="en-GB" b="1" dirty="0" err="1"/>
              <a:t>शब्द</a:t>
            </a:r>
            <a:r>
              <a:rPr lang="en-GB" b="1" dirty="0"/>
              <a:t> </a:t>
            </a:r>
            <a:r>
              <a:rPr lang="en-GB" b="1" dirty="0" err="1"/>
              <a:t>में</a:t>
            </a:r>
            <a:r>
              <a:rPr lang="en-GB" b="1" dirty="0"/>
              <a:t> </a:t>
            </a:r>
            <a:r>
              <a:rPr lang="en-GB" b="1" dirty="0" err="1"/>
              <a:t>कौन-सी</a:t>
            </a:r>
            <a:r>
              <a:rPr lang="en-GB" b="1" dirty="0"/>
              <a:t> </a:t>
            </a:r>
            <a:r>
              <a:rPr lang="en-GB" b="1" dirty="0" err="1"/>
              <a:t>मात्रा</a:t>
            </a:r>
            <a:r>
              <a:rPr lang="en-GB" b="1" dirty="0"/>
              <a:t> </a:t>
            </a:r>
            <a:r>
              <a:rPr lang="en-GB" b="1" dirty="0" err="1"/>
              <a:t>है</a:t>
            </a:r>
            <a:r>
              <a:rPr lang="en-GB" b="1" dirty="0"/>
              <a:t>?”</a:t>
            </a:r>
            <a:endParaRPr lang="en-GB" dirty="0"/>
          </a:p>
          <a:p>
            <a:r>
              <a:rPr lang="en-GB" dirty="0"/>
              <a:t>A </a:t>
            </a:r>
            <a:r>
              <a:rPr lang="en-GB" b="1" dirty="0"/>
              <a:t>hand nudge appears on the correct coach/drop area</a:t>
            </a:r>
            <a:r>
              <a:rPr lang="en-GB" dirty="0"/>
              <a:t>.</a:t>
            </a:r>
          </a:p>
          <a:p>
            <a:r>
              <a:rPr lang="en-GB" dirty="0"/>
              <a:t>The correct coach also gives a soft pulse/glow.</a:t>
            </a:r>
          </a:p>
          <a:p>
            <a:r>
              <a:rPr lang="en-GB" b="1" dirty="0"/>
              <a:t>Correct Answer on 3rd Attempt</a:t>
            </a:r>
          </a:p>
          <a:p>
            <a:r>
              <a:rPr lang="en-GB" dirty="0"/>
              <a:t>The child drags the word into the correct coach.</a:t>
            </a:r>
          </a:p>
          <a:p>
            <a:r>
              <a:rPr lang="en-GB" dirty="0"/>
              <a:t>Small confetti/sparkle animation appears.</a:t>
            </a:r>
          </a:p>
          <a:p>
            <a:r>
              <a:rPr lang="en-GB" b="1" dirty="0"/>
              <a:t>No VO.</a:t>
            </a:r>
            <a:endParaRPr lang="en-GB" dirty="0"/>
          </a:p>
          <a:p>
            <a:r>
              <a:rPr lang="en-GB" dirty="0"/>
              <a:t>The word locks inside the coach.</a:t>
            </a:r>
          </a:p>
          <a:p>
            <a:r>
              <a:rPr lang="en-GB" b="1" dirty="0"/>
              <a:t>Completion</a:t>
            </a:r>
          </a:p>
          <a:p>
            <a:r>
              <a:rPr lang="en-GB" dirty="0"/>
              <a:t>When all three words are placed correctly:</a:t>
            </a:r>
          </a:p>
          <a:p>
            <a:pPr>
              <a:buFont typeface="Arial" panose="020B0604020202020204" pitchFamily="34" charset="0"/>
              <a:buChar char="•"/>
            </a:pPr>
            <a:r>
              <a:rPr lang="en-GB" dirty="0"/>
              <a:t>all three coaches give a soft glow </a:t>
            </a:r>
          </a:p>
          <a:p>
            <a:pPr>
              <a:buFont typeface="Arial" panose="020B0604020202020204" pitchFamily="34" charset="0"/>
              <a:buChar char="•"/>
            </a:pPr>
            <a:r>
              <a:rPr lang="en-GB" dirty="0"/>
              <a:t>train gives a small whistle/steam animation </a:t>
            </a:r>
          </a:p>
          <a:p>
            <a:pPr>
              <a:buFont typeface="Arial" panose="020B0604020202020204" pitchFamily="34" charset="0"/>
              <a:buChar char="•"/>
            </a:pPr>
            <a:r>
              <a:rPr lang="en-GB" b="1" dirty="0"/>
              <a:t>Next button becomes active</a:t>
            </a:r>
            <a:r>
              <a:rPr lang="en-GB" dirty="0"/>
              <a:t> </a:t>
            </a:r>
          </a:p>
          <a:p>
            <a:pPr>
              <a:buFont typeface="Arial" panose="020B0604020202020204" pitchFamily="34" charset="0"/>
              <a:buChar char="•"/>
            </a:pPr>
            <a:r>
              <a:rPr lang="en-GB" dirty="0"/>
              <a:t>no extra completion VO required</a:t>
            </a:r>
          </a:p>
          <a:p>
            <a:endParaRPr lang="en-IN" dirty="0"/>
          </a:p>
        </p:txBody>
      </p:sp>
      <p:sp>
        <p:nvSpPr>
          <p:cNvPr id="4" name="Slide Number Placeholder 3"/>
          <p:cNvSpPr>
            <a:spLocks noGrp="1"/>
          </p:cNvSpPr>
          <p:nvPr>
            <p:ph type="sldNum" sz="quarter" idx="5"/>
          </p:nvPr>
        </p:nvSpPr>
        <p:spPr/>
        <p:txBody>
          <a:bodyPr/>
          <a:lstStyle/>
          <a:p>
            <a:fld id="{2E8D0E46-8C9D-41DC-B81C-31859D5EE714}" type="slidenum">
              <a:rPr lang="en-IN" smtClean="0"/>
              <a:t>14</a:t>
            </a:fld>
            <a:endParaRPr lang="en-IN"/>
          </a:p>
        </p:txBody>
      </p:sp>
    </p:spTree>
    <p:extLst>
      <p:ext uri="{BB962C8B-B14F-4D97-AF65-F5344CB8AC3E}">
        <p14:creationId xmlns:p14="http://schemas.microsoft.com/office/powerpoint/2010/main" val="19722370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dirty="0"/>
              <a:t>VO only:</a:t>
            </a:r>
            <a:br>
              <a:rPr lang="en-IN" sz="1200" dirty="0"/>
            </a:br>
            <a:r>
              <a:rPr lang="en-IN" sz="1200" dirty="0"/>
              <a:t>“</a:t>
            </a:r>
            <a:r>
              <a:rPr lang="hi-IN" sz="1200" dirty="0"/>
              <a:t>सही मात्रा को सही शब्द वाली बोगी में डालिए।”</a:t>
            </a:r>
          </a:p>
          <a:p>
            <a:r>
              <a:rPr lang="en-IN" sz="1200" dirty="0"/>
              <a:t>The child will drag each </a:t>
            </a:r>
            <a:r>
              <a:rPr lang="hi-IN" sz="1200" dirty="0"/>
              <a:t>मात्रा </a:t>
            </a:r>
            <a:r>
              <a:rPr lang="en-IN" sz="1200" dirty="0"/>
              <a:t>and drop it into the correct coach:</a:t>
            </a:r>
          </a:p>
          <a:p>
            <a:pPr>
              <a:buFont typeface="Arial" panose="020B0604020202020204" pitchFamily="34" charset="0"/>
              <a:buChar char="•"/>
            </a:pPr>
            <a:r>
              <a:rPr lang="hi-IN" sz="1200" b="1" dirty="0"/>
              <a:t>जाल → आ (ा</a:t>
            </a:r>
            <a:r>
              <a:rPr lang="hi-IN" sz="1200" dirty="0"/>
              <a:t> </a:t>
            </a:r>
            <a:r>
              <a:rPr lang="hi-IN" sz="1200" b="1" dirty="0"/>
              <a:t>)</a:t>
            </a:r>
          </a:p>
          <a:p>
            <a:pPr>
              <a:buFont typeface="Arial" panose="020B0604020202020204" pitchFamily="34" charset="0"/>
              <a:buChar char="•"/>
            </a:pPr>
            <a:r>
              <a:rPr lang="hi-IN" sz="1200" b="1" dirty="0"/>
              <a:t>सिर → इ (ि)</a:t>
            </a:r>
            <a:r>
              <a:rPr lang="hi-IN" sz="1200" dirty="0"/>
              <a:t> </a:t>
            </a:r>
          </a:p>
          <a:p>
            <a:pPr>
              <a:buFont typeface="Arial" panose="020B0604020202020204" pitchFamily="34" charset="0"/>
              <a:buChar char="•"/>
            </a:pPr>
            <a:r>
              <a:rPr lang="hi-IN" sz="1200" b="1" dirty="0"/>
              <a:t>कील → ई (ी)</a:t>
            </a:r>
            <a:endParaRPr lang="hi-IN" sz="1200" dirty="0"/>
          </a:p>
          <a:p>
            <a:r>
              <a:rPr lang="en-IN" sz="1200" b="1" dirty="0"/>
              <a:t>Correct answer:</a:t>
            </a:r>
            <a:br>
              <a:rPr lang="en-IN" sz="1200" dirty="0"/>
            </a:br>
            <a:r>
              <a:rPr lang="en-IN" sz="1200" dirty="0"/>
              <a:t>The </a:t>
            </a:r>
            <a:r>
              <a:rPr lang="hi-IN" sz="1200" dirty="0"/>
              <a:t>मात्रा </a:t>
            </a:r>
            <a:r>
              <a:rPr lang="en-IN" sz="1200" dirty="0"/>
              <a:t>snaps and locks inside the coach. Show a small sparkle/confetti effect with VO:</a:t>
            </a:r>
            <a:br>
              <a:rPr lang="en-IN" sz="1200" dirty="0"/>
            </a:br>
            <a:r>
              <a:rPr lang="en-IN" sz="1200" dirty="0"/>
              <a:t>“</a:t>
            </a:r>
            <a:r>
              <a:rPr lang="hi-IN" sz="1200" dirty="0"/>
              <a:t>शाबाश! जाल शब्द में आ की मात्रा लगी है।”</a:t>
            </a:r>
            <a:br>
              <a:rPr lang="hi-IN" sz="1200" dirty="0"/>
            </a:br>
            <a:r>
              <a:rPr lang="en-IN" sz="1200" dirty="0"/>
              <a:t>Use the same pattern for </a:t>
            </a:r>
            <a:r>
              <a:rPr lang="hi-IN" sz="1200" dirty="0"/>
              <a:t>सिर </a:t>
            </a:r>
            <a:r>
              <a:rPr lang="en-IN" sz="1200" dirty="0"/>
              <a:t>and </a:t>
            </a:r>
            <a:r>
              <a:rPr lang="hi-IN" sz="1200" dirty="0"/>
              <a:t>कील.</a:t>
            </a:r>
          </a:p>
          <a:p>
            <a:r>
              <a:rPr lang="hi-IN" sz="1200" b="1" dirty="0"/>
              <a:t>1</a:t>
            </a:r>
            <a:r>
              <a:rPr lang="en-IN" sz="1200" b="1" dirty="0" err="1"/>
              <a:t>st</a:t>
            </a:r>
            <a:r>
              <a:rPr lang="en-IN" sz="1200" b="1" dirty="0"/>
              <a:t> wrong attempt:</a:t>
            </a:r>
            <a:br>
              <a:rPr lang="en-IN" sz="1200" dirty="0"/>
            </a:br>
            <a:r>
              <a:rPr lang="en-IN" sz="1200" dirty="0"/>
              <a:t>The coach gives a short shake animation and the </a:t>
            </a:r>
            <a:r>
              <a:rPr lang="hi-IN" sz="1200" dirty="0"/>
              <a:t>मात्रा </a:t>
            </a:r>
            <a:r>
              <a:rPr lang="en-IN" sz="1200" dirty="0"/>
              <a:t>returns to its original position.</a:t>
            </a:r>
            <a:br>
              <a:rPr lang="en-IN" sz="1200" dirty="0"/>
            </a:br>
            <a:r>
              <a:rPr lang="en-IN" sz="1200" dirty="0"/>
              <a:t>VO: “</a:t>
            </a:r>
            <a:r>
              <a:rPr lang="hi-IN" sz="1200" dirty="0"/>
              <a:t>फिर से सोचो। इस शब्द में कौन-सी मात्रा लगी है?”</a:t>
            </a:r>
          </a:p>
          <a:p>
            <a:r>
              <a:rPr lang="hi-IN" sz="1200" b="1" dirty="0"/>
              <a:t>2</a:t>
            </a:r>
            <a:r>
              <a:rPr lang="en-IN" sz="1200" b="1" dirty="0" err="1"/>
              <a:t>nd</a:t>
            </a:r>
            <a:r>
              <a:rPr lang="en-IN" sz="1200" b="1" dirty="0"/>
              <a:t> wrong attempt:</a:t>
            </a:r>
            <a:br>
              <a:rPr lang="en-IN" sz="1200" dirty="0"/>
            </a:br>
            <a:r>
              <a:rPr lang="en-IN" sz="1200" dirty="0"/>
              <a:t>Shake animation + </a:t>
            </a:r>
            <a:r>
              <a:rPr lang="hi-IN" sz="1200" dirty="0"/>
              <a:t>मात्रा </a:t>
            </a:r>
            <a:r>
              <a:rPr lang="en-IN" sz="1200" dirty="0"/>
              <a:t>returns back.</a:t>
            </a:r>
            <a:br>
              <a:rPr lang="en-IN" sz="1200" dirty="0"/>
            </a:br>
            <a:r>
              <a:rPr lang="en-IN" sz="1200" dirty="0"/>
              <a:t>VO: “</a:t>
            </a:r>
            <a:r>
              <a:rPr lang="hi-IN" sz="1200" dirty="0"/>
              <a:t>ध्यान से देखो और शब्द को फिर से पढ़ो।”</a:t>
            </a:r>
            <a:br>
              <a:rPr lang="hi-IN" sz="1200" dirty="0"/>
            </a:br>
            <a:r>
              <a:rPr lang="en-IN" sz="1200" dirty="0"/>
              <a:t>Show a hand nudge/pulse on the correct coach.</a:t>
            </a:r>
          </a:p>
          <a:p>
            <a:r>
              <a:rPr lang="en-IN" sz="1200" b="1" dirty="0"/>
              <a:t>Correct on 3rd attempt:</a:t>
            </a:r>
            <a:br>
              <a:rPr lang="en-IN" sz="1200" dirty="0"/>
            </a:br>
            <a:r>
              <a:rPr lang="en-IN" sz="1200" dirty="0"/>
              <a:t>The </a:t>
            </a:r>
            <a:r>
              <a:rPr lang="hi-IN" sz="1200" dirty="0"/>
              <a:t>मात्रा </a:t>
            </a:r>
            <a:r>
              <a:rPr lang="en-IN" sz="1200" dirty="0"/>
              <a:t>snaps into the correct coach with a small confetti/sparkle effect. No VO required.</a:t>
            </a:r>
          </a:p>
          <a:p>
            <a:r>
              <a:rPr lang="en-IN" sz="1200" b="1" dirty="0"/>
              <a:t>Completion:</a:t>
            </a:r>
            <a:br>
              <a:rPr lang="en-IN" sz="1200" dirty="0"/>
            </a:br>
            <a:r>
              <a:rPr lang="en-IN" sz="1200" dirty="0"/>
              <a:t>Once all three </a:t>
            </a:r>
            <a:r>
              <a:rPr lang="hi-IN" sz="1200" dirty="0"/>
              <a:t>मात्रा </a:t>
            </a:r>
            <a:r>
              <a:rPr lang="en-IN" sz="1200" dirty="0"/>
              <a:t>cards are placed correctly, all coaches glow briefly and the </a:t>
            </a:r>
            <a:r>
              <a:rPr lang="en-IN" sz="1200" b="1" dirty="0"/>
              <a:t>Next button becomes active</a:t>
            </a:r>
            <a:r>
              <a:rPr lang="en-IN" sz="1200" dirty="0"/>
              <a:t>.</a:t>
            </a:r>
          </a:p>
          <a:p>
            <a:r>
              <a:rPr lang="en-IN" sz="1200" b="1" dirty="0"/>
              <a:t>Animation:</a:t>
            </a:r>
            <a:br>
              <a:rPr lang="en-IN" sz="1200" dirty="0"/>
            </a:br>
            <a:r>
              <a:rPr lang="en-IN" sz="1200" dirty="0"/>
              <a:t>Train enters with a smooth </a:t>
            </a:r>
            <a:r>
              <a:rPr lang="en-IN" sz="1200" b="1" dirty="0"/>
              <a:t>right-to-left animation</a:t>
            </a:r>
            <a:r>
              <a:rPr lang="en-IN" sz="1200" dirty="0"/>
              <a:t> and stops at the centre. </a:t>
            </a:r>
            <a:r>
              <a:rPr lang="hi-IN" sz="1200" dirty="0"/>
              <a:t>मात्रा </a:t>
            </a:r>
            <a:r>
              <a:rPr lang="en-IN" sz="1200" dirty="0"/>
              <a:t>cards appear from the bottom with a simple fade/slide-up animation. Keep the rest of the current UI/UX unchanged and avoid adding extra decorative elements.</a:t>
            </a:r>
          </a:p>
          <a:p>
            <a:endParaRPr lang="en-IN" dirty="0"/>
          </a:p>
        </p:txBody>
      </p:sp>
      <p:sp>
        <p:nvSpPr>
          <p:cNvPr id="4" name="Slide Number Placeholder 3"/>
          <p:cNvSpPr>
            <a:spLocks noGrp="1"/>
          </p:cNvSpPr>
          <p:nvPr>
            <p:ph type="sldNum" sz="quarter" idx="5"/>
          </p:nvPr>
        </p:nvSpPr>
        <p:spPr/>
        <p:txBody>
          <a:bodyPr/>
          <a:lstStyle/>
          <a:p>
            <a:fld id="{2E8D0E46-8C9D-41DC-B81C-31859D5EE714}" type="slidenum">
              <a:rPr lang="en-IN" smtClean="0"/>
              <a:t>15</a:t>
            </a:fld>
            <a:endParaRPr lang="en-IN"/>
          </a:p>
        </p:txBody>
      </p:sp>
    </p:spTree>
    <p:extLst>
      <p:ext uri="{BB962C8B-B14F-4D97-AF65-F5344CB8AC3E}">
        <p14:creationId xmlns:p14="http://schemas.microsoft.com/office/powerpoint/2010/main" val="28063426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Recommendation</a:t>
            </a:r>
          </a:p>
          <a:p>
            <a:r>
              <a:rPr lang="en-GB" dirty="0"/>
              <a:t>This activity will be a </a:t>
            </a:r>
            <a:r>
              <a:rPr lang="en-GB" b="1" dirty="0"/>
              <a:t>reverse </a:t>
            </a:r>
            <a:r>
              <a:rPr lang="en-GB" b="1" dirty="0" err="1"/>
              <a:t>matra</a:t>
            </a:r>
            <a:r>
              <a:rPr lang="en-GB" b="1" dirty="0"/>
              <a:t>-building train activity</a:t>
            </a:r>
            <a:r>
              <a:rPr lang="en-GB" dirty="0"/>
              <a:t>.</a:t>
            </a:r>
          </a:p>
          <a:p>
            <a:r>
              <a:rPr lang="en-GB" dirty="0"/>
              <a:t>In this screen, </a:t>
            </a:r>
            <a:r>
              <a:rPr lang="en-GB" b="1" dirty="0"/>
              <a:t>three train coaches</a:t>
            </a:r>
            <a:r>
              <a:rPr lang="en-GB" dirty="0"/>
              <a:t> will be shown.</a:t>
            </a:r>
            <a:br>
              <a:rPr lang="en-GB" dirty="0"/>
            </a:br>
            <a:r>
              <a:rPr lang="en-GB" dirty="0"/>
              <a:t>Each coach will have an incomplete word with a blank space where the missing </a:t>
            </a:r>
            <a:r>
              <a:rPr lang="en-GB" dirty="0" err="1"/>
              <a:t>matra</a:t>
            </a:r>
            <a:r>
              <a:rPr lang="en-GB" dirty="0"/>
              <a:t> should be added.</a:t>
            </a:r>
          </a:p>
          <a:p>
            <a:r>
              <a:rPr lang="en-GB" dirty="0"/>
              <a:t>The child will </a:t>
            </a:r>
            <a:r>
              <a:rPr lang="en-GB" b="1" dirty="0"/>
              <a:t>drag the correct </a:t>
            </a:r>
            <a:r>
              <a:rPr lang="en-GB" b="1" dirty="0" err="1"/>
              <a:t>matra</a:t>
            </a:r>
            <a:r>
              <a:rPr lang="en-GB" dirty="0"/>
              <a:t> from the options given below and </a:t>
            </a:r>
            <a:r>
              <a:rPr lang="en-GB" b="1" dirty="0"/>
              <a:t>drop it into the blank space</a:t>
            </a:r>
            <a:r>
              <a:rPr lang="en-GB" dirty="0"/>
              <a:t> inside the correct coach.</a:t>
            </a:r>
            <a:br>
              <a:rPr lang="en-GB" dirty="0"/>
            </a:br>
            <a:r>
              <a:rPr lang="en-GB" dirty="0"/>
              <a:t>As soon as the child drops the correct </a:t>
            </a:r>
            <a:r>
              <a:rPr lang="en-GB" dirty="0" err="1"/>
              <a:t>matra</a:t>
            </a:r>
            <a:r>
              <a:rPr lang="en-GB" dirty="0"/>
              <a:t>, the word will be completed.</a:t>
            </a:r>
          </a:p>
          <a:p>
            <a:r>
              <a:rPr lang="en-GB" b="1" dirty="0"/>
              <a:t>Use these words:</a:t>
            </a:r>
          </a:p>
          <a:p>
            <a:pPr>
              <a:buFont typeface="Arial" panose="020B0604020202020204" pitchFamily="34" charset="0"/>
              <a:buChar char="•"/>
            </a:pPr>
            <a:r>
              <a:rPr lang="en-GB" b="1" dirty="0"/>
              <a:t>ज + ा + ल = </a:t>
            </a:r>
            <a:r>
              <a:rPr lang="en-GB" b="1" dirty="0" err="1"/>
              <a:t>जाल</a:t>
            </a:r>
            <a:r>
              <a:rPr lang="en-GB" dirty="0"/>
              <a:t> </a:t>
            </a:r>
          </a:p>
          <a:p>
            <a:pPr>
              <a:buFont typeface="Arial" panose="020B0604020202020204" pitchFamily="34" charset="0"/>
              <a:buChar char="•"/>
            </a:pPr>
            <a:r>
              <a:rPr lang="en-GB" b="1" dirty="0" err="1"/>
              <a:t>पर</a:t>
            </a:r>
            <a:r>
              <a:rPr lang="en-GB" b="1" dirty="0"/>
              <a:t> + ी = </a:t>
            </a:r>
            <a:r>
              <a:rPr lang="en-GB" b="1" dirty="0" err="1"/>
              <a:t>परी</a:t>
            </a:r>
            <a:r>
              <a:rPr lang="en-GB" dirty="0"/>
              <a:t> </a:t>
            </a:r>
          </a:p>
          <a:p>
            <a:pPr>
              <a:buFont typeface="Arial" panose="020B0604020202020204" pitchFamily="34" charset="0"/>
              <a:buChar char="•"/>
            </a:pPr>
            <a:r>
              <a:rPr lang="en-GB" b="1" dirty="0"/>
              <a:t>ह + ि + </a:t>
            </a:r>
            <a:r>
              <a:rPr lang="en-GB" b="1" dirty="0" err="1"/>
              <a:t>रण</a:t>
            </a:r>
            <a:r>
              <a:rPr lang="en-GB" b="1" dirty="0"/>
              <a:t> = </a:t>
            </a:r>
            <a:r>
              <a:rPr lang="en-GB" b="1" dirty="0" err="1"/>
              <a:t>हिरण</a:t>
            </a:r>
            <a:r>
              <a:rPr lang="en-GB" dirty="0"/>
              <a:t> </a:t>
            </a:r>
          </a:p>
          <a:p>
            <a:r>
              <a:rPr lang="en-GB" b="1" dirty="0"/>
              <a:t>Important correction:</a:t>
            </a:r>
            <a:br>
              <a:rPr lang="en-GB" dirty="0"/>
            </a:br>
            <a:r>
              <a:rPr lang="en-GB" dirty="0"/>
              <a:t>Please use </a:t>
            </a:r>
            <a:r>
              <a:rPr lang="en-GB" b="1" dirty="0"/>
              <a:t>“</a:t>
            </a:r>
            <a:r>
              <a:rPr lang="en-GB" b="1" dirty="0" err="1"/>
              <a:t>हिरण</a:t>
            </a:r>
            <a:r>
              <a:rPr lang="en-GB" b="1" dirty="0"/>
              <a:t>”</a:t>
            </a:r>
            <a:r>
              <a:rPr lang="en-GB" dirty="0"/>
              <a:t> instead of </a:t>
            </a:r>
            <a:r>
              <a:rPr lang="en-GB" b="1" dirty="0"/>
              <a:t>“</a:t>
            </a:r>
            <a:r>
              <a:rPr lang="en-GB" b="1" dirty="0" err="1"/>
              <a:t>हीरा</a:t>
            </a:r>
            <a:r>
              <a:rPr lang="en-GB" b="1" dirty="0"/>
              <a:t> / </a:t>
            </a:r>
            <a:r>
              <a:rPr lang="en-GB" b="1" dirty="0" err="1"/>
              <a:t>hira</a:t>
            </a:r>
            <a:r>
              <a:rPr lang="en-GB" b="1" dirty="0"/>
              <a:t>”</a:t>
            </a:r>
            <a:r>
              <a:rPr lang="en-GB" dirty="0"/>
              <a:t>.</a:t>
            </a:r>
          </a:p>
          <a:p>
            <a:r>
              <a:rPr lang="en-GB" b="1" dirty="0"/>
              <a:t>On screen</a:t>
            </a:r>
          </a:p>
          <a:p>
            <a:pPr>
              <a:buFont typeface="Arial" panose="020B0604020202020204" pitchFamily="34" charset="0"/>
              <a:buChar char="•"/>
            </a:pPr>
            <a:r>
              <a:rPr lang="en-GB" dirty="0"/>
              <a:t>Train with 3 coaches </a:t>
            </a:r>
          </a:p>
          <a:p>
            <a:pPr>
              <a:buFont typeface="Arial" panose="020B0604020202020204" pitchFamily="34" charset="0"/>
              <a:buChar char="•"/>
            </a:pPr>
            <a:r>
              <a:rPr lang="en-GB" dirty="0"/>
              <a:t>Each coach has an incomplete word </a:t>
            </a:r>
          </a:p>
          <a:p>
            <a:pPr>
              <a:buFont typeface="Arial" panose="020B0604020202020204" pitchFamily="34" charset="0"/>
              <a:buChar char="•"/>
            </a:pPr>
            <a:r>
              <a:rPr lang="en-GB" dirty="0"/>
              <a:t>A related picture can be shown above each coach for support </a:t>
            </a:r>
          </a:p>
          <a:p>
            <a:pPr>
              <a:buFont typeface="Arial" panose="020B0604020202020204" pitchFamily="34" charset="0"/>
              <a:buChar char="•"/>
            </a:pPr>
            <a:r>
              <a:rPr lang="en-GB" dirty="0"/>
              <a:t>Below the train, </a:t>
            </a:r>
            <a:r>
              <a:rPr lang="en-GB" dirty="0" err="1"/>
              <a:t>matra</a:t>
            </a:r>
            <a:r>
              <a:rPr lang="en-GB" dirty="0"/>
              <a:t> options will appear: </a:t>
            </a:r>
          </a:p>
          <a:p>
            <a:pPr marL="742950" lvl="1" indent="-285750">
              <a:buFont typeface="Arial" panose="020B0604020202020204" pitchFamily="34" charset="0"/>
              <a:buChar char="•"/>
            </a:pPr>
            <a:r>
              <a:rPr lang="hi-IN" b="1" dirty="0"/>
              <a:t>आ (</a:t>
            </a:r>
            <a:r>
              <a:rPr lang="en-GB" b="1" dirty="0"/>
              <a:t>ा</a:t>
            </a:r>
            <a:r>
              <a:rPr lang="hi-IN" b="1" dirty="0"/>
              <a:t>)</a:t>
            </a:r>
            <a:r>
              <a:rPr lang="en-GB" dirty="0"/>
              <a:t> </a:t>
            </a:r>
          </a:p>
          <a:p>
            <a:pPr marL="742950" lvl="1" indent="-285750">
              <a:buFont typeface="Arial" panose="020B0604020202020204" pitchFamily="34" charset="0"/>
              <a:buChar char="•"/>
            </a:pPr>
            <a:r>
              <a:rPr lang="hi-IN" b="1" dirty="0"/>
              <a:t>इ (</a:t>
            </a:r>
            <a:r>
              <a:rPr lang="en-GB" b="1" dirty="0"/>
              <a:t>ि</a:t>
            </a:r>
            <a:r>
              <a:rPr lang="hi-IN" b="1" dirty="0"/>
              <a:t>)</a:t>
            </a:r>
            <a:r>
              <a:rPr lang="en-GB" dirty="0"/>
              <a:t> </a:t>
            </a:r>
          </a:p>
          <a:p>
            <a:pPr marL="742950" lvl="1" indent="-285750">
              <a:buFont typeface="Arial" panose="020B0604020202020204" pitchFamily="34" charset="0"/>
              <a:buChar char="•"/>
            </a:pPr>
            <a:r>
              <a:rPr lang="hi-IN" b="1" dirty="0"/>
              <a:t>ई (</a:t>
            </a:r>
            <a:r>
              <a:rPr lang="en-GB" b="1" dirty="0"/>
              <a:t>ी</a:t>
            </a:r>
            <a:r>
              <a:rPr lang="hi-IN" b="1" dirty="0"/>
              <a:t>)</a:t>
            </a:r>
            <a:r>
              <a:rPr lang="en-GB" dirty="0"/>
              <a:t> </a:t>
            </a:r>
          </a:p>
          <a:p>
            <a:pPr>
              <a:buFont typeface="Arial" panose="020B0604020202020204" pitchFamily="34" charset="0"/>
              <a:buChar char="•"/>
            </a:pPr>
            <a:r>
              <a:rPr lang="en-GB" dirty="0"/>
              <a:t>Next button remains disabled initially </a:t>
            </a:r>
          </a:p>
          <a:p>
            <a:r>
              <a:rPr lang="en-GB" b="1" dirty="0"/>
              <a:t>VO only</a:t>
            </a:r>
          </a:p>
          <a:p>
            <a:r>
              <a:rPr lang="en-GB" b="1" dirty="0"/>
              <a:t>“</a:t>
            </a:r>
            <a:r>
              <a:rPr lang="en-GB" b="1" dirty="0" err="1"/>
              <a:t>सही</a:t>
            </a:r>
            <a:r>
              <a:rPr lang="en-GB" b="1" dirty="0"/>
              <a:t> </a:t>
            </a:r>
            <a:r>
              <a:rPr lang="en-GB" b="1" dirty="0" err="1"/>
              <a:t>मात्रा</a:t>
            </a:r>
            <a:r>
              <a:rPr lang="en-GB" b="1" dirty="0"/>
              <a:t> </a:t>
            </a:r>
            <a:r>
              <a:rPr lang="en-GB" b="1" dirty="0" err="1"/>
              <a:t>को</a:t>
            </a:r>
            <a:r>
              <a:rPr lang="en-GB" b="1" dirty="0"/>
              <a:t> </a:t>
            </a:r>
            <a:r>
              <a:rPr lang="en-GB" b="1" dirty="0" err="1"/>
              <a:t>सही</a:t>
            </a:r>
            <a:r>
              <a:rPr lang="en-GB" b="1" dirty="0"/>
              <a:t> </a:t>
            </a:r>
            <a:r>
              <a:rPr lang="en-GB" b="1" dirty="0" err="1"/>
              <a:t>जगह</a:t>
            </a:r>
            <a:r>
              <a:rPr lang="en-GB" b="1" dirty="0"/>
              <a:t> </a:t>
            </a:r>
            <a:r>
              <a:rPr lang="en-GB" b="1" dirty="0" err="1"/>
              <a:t>पर</a:t>
            </a:r>
            <a:r>
              <a:rPr lang="en-GB" b="1" dirty="0"/>
              <a:t> </a:t>
            </a:r>
            <a:r>
              <a:rPr lang="en-GB" b="1" dirty="0" err="1"/>
              <a:t>खींचकर</a:t>
            </a:r>
            <a:r>
              <a:rPr lang="en-GB" b="1" dirty="0"/>
              <a:t> </a:t>
            </a:r>
            <a:r>
              <a:rPr lang="en-GB" b="1" dirty="0" err="1"/>
              <a:t>डालो</a:t>
            </a:r>
            <a:r>
              <a:rPr lang="en-GB" b="1" dirty="0"/>
              <a:t> </a:t>
            </a:r>
            <a:r>
              <a:rPr lang="en-GB" b="1" dirty="0" err="1"/>
              <a:t>और</a:t>
            </a:r>
            <a:r>
              <a:rPr lang="en-GB" b="1" dirty="0"/>
              <a:t> </a:t>
            </a:r>
            <a:r>
              <a:rPr lang="en-GB" b="1" dirty="0" err="1"/>
              <a:t>शब्द</a:t>
            </a:r>
            <a:r>
              <a:rPr lang="en-GB" b="1" dirty="0"/>
              <a:t> </a:t>
            </a:r>
            <a:r>
              <a:rPr lang="en-GB" b="1" dirty="0" err="1"/>
              <a:t>पूरा</a:t>
            </a:r>
            <a:r>
              <a:rPr lang="en-GB" b="1" dirty="0"/>
              <a:t> </a:t>
            </a:r>
            <a:r>
              <a:rPr lang="hi-IN" b="1" dirty="0"/>
              <a:t>करिए</a:t>
            </a:r>
            <a:r>
              <a:rPr lang="en-GB" b="1" dirty="0"/>
              <a:t>।”</a:t>
            </a:r>
            <a:endParaRPr lang="en-GB" dirty="0"/>
          </a:p>
          <a:p>
            <a:r>
              <a:rPr lang="en-GB" dirty="0"/>
              <a:t>Optional word-level support VO can also be used:</a:t>
            </a:r>
          </a:p>
          <a:p>
            <a:pPr>
              <a:buFont typeface="Arial" panose="020B0604020202020204" pitchFamily="34" charset="0"/>
              <a:buChar char="•"/>
            </a:pPr>
            <a:r>
              <a:rPr lang="en-GB" b="1" dirty="0"/>
              <a:t>“</a:t>
            </a:r>
            <a:r>
              <a:rPr lang="en-GB" b="1" dirty="0" err="1"/>
              <a:t>जाल</a:t>
            </a:r>
            <a:r>
              <a:rPr lang="en-GB" b="1" dirty="0"/>
              <a:t>”</a:t>
            </a:r>
            <a:r>
              <a:rPr lang="en-GB" dirty="0"/>
              <a:t> </a:t>
            </a:r>
          </a:p>
          <a:p>
            <a:pPr>
              <a:buFont typeface="Arial" panose="020B0604020202020204" pitchFamily="34" charset="0"/>
              <a:buChar char="•"/>
            </a:pPr>
            <a:r>
              <a:rPr lang="en-GB" b="1" dirty="0"/>
              <a:t>“</a:t>
            </a:r>
            <a:r>
              <a:rPr lang="en-GB" b="1" dirty="0" err="1"/>
              <a:t>परी</a:t>
            </a:r>
            <a:r>
              <a:rPr lang="en-GB" b="1" dirty="0"/>
              <a:t>”</a:t>
            </a:r>
            <a:r>
              <a:rPr lang="en-GB" dirty="0"/>
              <a:t> </a:t>
            </a:r>
          </a:p>
          <a:p>
            <a:pPr>
              <a:buFont typeface="Arial" panose="020B0604020202020204" pitchFamily="34" charset="0"/>
              <a:buChar char="•"/>
            </a:pPr>
            <a:r>
              <a:rPr lang="en-GB" b="1" dirty="0"/>
              <a:t>“</a:t>
            </a:r>
            <a:r>
              <a:rPr lang="en-GB" b="1" dirty="0" err="1"/>
              <a:t>हिरण</a:t>
            </a:r>
            <a:r>
              <a:rPr lang="en-GB" b="1" dirty="0"/>
              <a:t>”</a:t>
            </a:r>
            <a:r>
              <a:rPr lang="en-GB" dirty="0"/>
              <a:t> </a:t>
            </a:r>
          </a:p>
          <a:p>
            <a:r>
              <a:rPr lang="en-GB" b="1" dirty="0"/>
              <a:t>Correct mapping</a:t>
            </a:r>
          </a:p>
          <a:p>
            <a:pPr>
              <a:buFont typeface="Arial" panose="020B0604020202020204" pitchFamily="34" charset="0"/>
              <a:buChar char="•"/>
            </a:pPr>
            <a:r>
              <a:rPr lang="en-GB" b="1" dirty="0"/>
              <a:t>ज _ ल → ा</a:t>
            </a:r>
            <a:r>
              <a:rPr lang="en-GB" dirty="0"/>
              <a:t> </a:t>
            </a:r>
          </a:p>
          <a:p>
            <a:pPr>
              <a:buFont typeface="Arial" panose="020B0604020202020204" pitchFamily="34" charset="0"/>
              <a:buChar char="•"/>
            </a:pPr>
            <a:r>
              <a:rPr lang="en-GB" b="1" dirty="0" err="1"/>
              <a:t>पर</a:t>
            </a:r>
            <a:r>
              <a:rPr lang="en-GB" b="1" dirty="0"/>
              <a:t> _ → ी</a:t>
            </a:r>
            <a:r>
              <a:rPr lang="en-GB" dirty="0"/>
              <a:t> </a:t>
            </a:r>
          </a:p>
          <a:p>
            <a:pPr>
              <a:buFont typeface="Arial" panose="020B0604020202020204" pitchFamily="34" charset="0"/>
              <a:buChar char="•"/>
            </a:pPr>
            <a:r>
              <a:rPr lang="en-GB" b="1" dirty="0"/>
              <a:t>ह _ </a:t>
            </a:r>
            <a:r>
              <a:rPr lang="en-GB" b="1" dirty="0" err="1"/>
              <a:t>रण</a:t>
            </a:r>
            <a:r>
              <a:rPr lang="en-GB" b="1" dirty="0"/>
              <a:t> → ि</a:t>
            </a:r>
            <a:r>
              <a:rPr lang="en-GB" dirty="0"/>
              <a:t> </a:t>
            </a:r>
          </a:p>
          <a:p>
            <a:r>
              <a:rPr lang="en-GB" b="1" dirty="0"/>
              <a:t>Correct answer</a:t>
            </a:r>
          </a:p>
          <a:p>
            <a:r>
              <a:rPr lang="en-GB" dirty="0"/>
              <a:t>When the child drops the correct </a:t>
            </a:r>
            <a:r>
              <a:rPr lang="en-GB" dirty="0" err="1"/>
              <a:t>matra</a:t>
            </a:r>
            <a:r>
              <a:rPr lang="en-GB" dirty="0"/>
              <a:t>:</a:t>
            </a:r>
          </a:p>
          <a:p>
            <a:pPr>
              <a:buFont typeface="Arial" panose="020B0604020202020204" pitchFamily="34" charset="0"/>
              <a:buChar char="•"/>
            </a:pPr>
            <a:r>
              <a:rPr lang="en-GB" dirty="0" err="1"/>
              <a:t>matra</a:t>
            </a:r>
            <a:r>
              <a:rPr lang="en-GB" dirty="0"/>
              <a:t> snaps into the blank </a:t>
            </a:r>
          </a:p>
          <a:p>
            <a:pPr>
              <a:buFont typeface="Arial" panose="020B0604020202020204" pitchFamily="34" charset="0"/>
              <a:buChar char="•"/>
            </a:pPr>
            <a:r>
              <a:rPr lang="en-GB" dirty="0"/>
              <a:t>word becomes complete </a:t>
            </a:r>
          </a:p>
          <a:p>
            <a:pPr>
              <a:buFont typeface="Arial" panose="020B0604020202020204" pitchFamily="34" charset="0"/>
              <a:buChar char="•"/>
            </a:pPr>
            <a:r>
              <a:rPr lang="en-GB" dirty="0"/>
              <a:t>small sparkle/confetti effect appears </a:t>
            </a:r>
          </a:p>
          <a:p>
            <a:pPr>
              <a:buFont typeface="Arial" panose="020B0604020202020204" pitchFamily="34" charset="0"/>
              <a:buChar char="•"/>
            </a:pPr>
            <a:r>
              <a:rPr lang="en-GB" dirty="0"/>
              <a:t>VO: </a:t>
            </a:r>
          </a:p>
          <a:p>
            <a:pPr marL="742950" lvl="1" indent="-285750">
              <a:buFont typeface="Arial" panose="020B0604020202020204" pitchFamily="34" charset="0"/>
              <a:buChar char="•"/>
            </a:pPr>
            <a:r>
              <a:rPr lang="en-GB" b="1" dirty="0"/>
              <a:t>“</a:t>
            </a:r>
            <a:r>
              <a:rPr lang="en-GB" b="1" dirty="0" err="1"/>
              <a:t>शाबाश</a:t>
            </a:r>
            <a:r>
              <a:rPr lang="en-GB" b="1" dirty="0"/>
              <a:t>! </a:t>
            </a:r>
            <a:r>
              <a:rPr lang="en-GB" b="1" dirty="0" err="1"/>
              <a:t>जाल</a:t>
            </a:r>
            <a:r>
              <a:rPr lang="en-GB" b="1" dirty="0"/>
              <a:t> </a:t>
            </a:r>
            <a:r>
              <a:rPr lang="en-GB" b="1" dirty="0" err="1"/>
              <a:t>बन</a:t>
            </a:r>
            <a:r>
              <a:rPr lang="en-GB" b="1" dirty="0"/>
              <a:t> </a:t>
            </a:r>
            <a:r>
              <a:rPr lang="en-GB" b="1" dirty="0" err="1"/>
              <a:t>गया</a:t>
            </a:r>
            <a:r>
              <a:rPr lang="en-GB" b="1" dirty="0"/>
              <a:t>।”</a:t>
            </a:r>
            <a:r>
              <a:rPr lang="en-GB" dirty="0"/>
              <a:t> </a:t>
            </a:r>
          </a:p>
          <a:p>
            <a:pPr marL="742950" lvl="1" indent="-285750">
              <a:buFont typeface="Arial" panose="020B0604020202020204" pitchFamily="34" charset="0"/>
              <a:buChar char="•"/>
            </a:pPr>
            <a:r>
              <a:rPr lang="en-GB" b="1" dirty="0"/>
              <a:t>“</a:t>
            </a:r>
            <a:r>
              <a:rPr lang="en-GB" b="1" dirty="0" err="1"/>
              <a:t>शाबाश</a:t>
            </a:r>
            <a:r>
              <a:rPr lang="en-GB" b="1" dirty="0"/>
              <a:t>! </a:t>
            </a:r>
            <a:r>
              <a:rPr lang="en-GB" b="1" dirty="0" err="1"/>
              <a:t>परी</a:t>
            </a:r>
            <a:r>
              <a:rPr lang="en-GB" b="1" dirty="0"/>
              <a:t> </a:t>
            </a:r>
            <a:r>
              <a:rPr lang="en-GB" b="1" dirty="0" err="1"/>
              <a:t>बन</a:t>
            </a:r>
            <a:r>
              <a:rPr lang="en-GB" b="1" dirty="0"/>
              <a:t> </a:t>
            </a:r>
            <a:r>
              <a:rPr lang="en-GB" b="1" dirty="0" err="1"/>
              <a:t>गया</a:t>
            </a:r>
            <a:r>
              <a:rPr lang="en-GB" b="1" dirty="0"/>
              <a:t>।”</a:t>
            </a:r>
            <a:r>
              <a:rPr lang="en-GB" dirty="0"/>
              <a:t> </a:t>
            </a:r>
          </a:p>
          <a:p>
            <a:pPr marL="742950" lvl="1" indent="-285750">
              <a:buFont typeface="Arial" panose="020B0604020202020204" pitchFamily="34" charset="0"/>
              <a:buChar char="•"/>
            </a:pPr>
            <a:r>
              <a:rPr lang="en-GB" b="1" dirty="0"/>
              <a:t>“</a:t>
            </a:r>
            <a:r>
              <a:rPr lang="en-GB" b="1" dirty="0" err="1"/>
              <a:t>शाबाश</a:t>
            </a:r>
            <a:r>
              <a:rPr lang="en-GB" b="1" dirty="0"/>
              <a:t>! </a:t>
            </a:r>
            <a:r>
              <a:rPr lang="en-GB" b="1" dirty="0" err="1"/>
              <a:t>हिरण</a:t>
            </a:r>
            <a:r>
              <a:rPr lang="en-GB" b="1" dirty="0"/>
              <a:t> </a:t>
            </a:r>
            <a:r>
              <a:rPr lang="en-GB" b="1" dirty="0" err="1"/>
              <a:t>बन</a:t>
            </a:r>
            <a:r>
              <a:rPr lang="en-GB" b="1" dirty="0"/>
              <a:t> </a:t>
            </a:r>
            <a:r>
              <a:rPr lang="en-GB" b="1" dirty="0" err="1"/>
              <a:t>गया</a:t>
            </a:r>
            <a:r>
              <a:rPr lang="en-GB" b="1" dirty="0"/>
              <a:t>।”</a:t>
            </a:r>
            <a:r>
              <a:rPr lang="en-GB" dirty="0"/>
              <a:t> </a:t>
            </a:r>
          </a:p>
          <a:p>
            <a:r>
              <a:rPr lang="en-GB" b="1" dirty="0"/>
              <a:t>1st wrong attempt</a:t>
            </a:r>
          </a:p>
          <a:p>
            <a:pPr>
              <a:buFont typeface="Arial" panose="020B0604020202020204" pitchFamily="34" charset="0"/>
              <a:buChar char="•"/>
            </a:pPr>
            <a:r>
              <a:rPr lang="en-GB" dirty="0"/>
              <a:t>Wrong area shakes </a:t>
            </a:r>
          </a:p>
          <a:p>
            <a:pPr>
              <a:buFont typeface="Arial" panose="020B0604020202020204" pitchFamily="34" charset="0"/>
              <a:buChar char="•"/>
            </a:pPr>
            <a:r>
              <a:rPr lang="en-GB" dirty="0" err="1"/>
              <a:t>Matra</a:t>
            </a:r>
            <a:r>
              <a:rPr lang="en-GB" dirty="0"/>
              <a:t> returns to original place </a:t>
            </a:r>
          </a:p>
          <a:p>
            <a:pPr>
              <a:buFont typeface="Arial" panose="020B0604020202020204" pitchFamily="34" charset="0"/>
              <a:buChar char="•"/>
            </a:pPr>
            <a:r>
              <a:rPr lang="en-GB" dirty="0"/>
              <a:t>Only VO:</a:t>
            </a:r>
            <a:br>
              <a:rPr lang="en-GB" dirty="0"/>
            </a:br>
            <a:r>
              <a:rPr lang="en-GB" b="1" dirty="0"/>
              <a:t>“</a:t>
            </a:r>
            <a:r>
              <a:rPr lang="en-GB" b="1" dirty="0" err="1"/>
              <a:t>फिर</a:t>
            </a:r>
            <a:r>
              <a:rPr lang="en-GB" b="1" dirty="0"/>
              <a:t> </a:t>
            </a:r>
            <a:r>
              <a:rPr lang="en-GB" b="1" dirty="0" err="1"/>
              <a:t>से</a:t>
            </a:r>
            <a:r>
              <a:rPr lang="en-GB" b="1" dirty="0"/>
              <a:t> </a:t>
            </a:r>
            <a:r>
              <a:rPr lang="en-GB" b="1" dirty="0" err="1"/>
              <a:t>सोचो</a:t>
            </a:r>
            <a:r>
              <a:rPr lang="en-GB" b="1" dirty="0"/>
              <a:t>।”</a:t>
            </a:r>
            <a:r>
              <a:rPr lang="en-GB" dirty="0"/>
              <a:t> </a:t>
            </a:r>
          </a:p>
          <a:p>
            <a:r>
              <a:rPr lang="en-GB" b="1" dirty="0"/>
              <a:t>2nd wrong attempt</a:t>
            </a:r>
          </a:p>
          <a:p>
            <a:pPr>
              <a:buFont typeface="Arial" panose="020B0604020202020204" pitchFamily="34" charset="0"/>
              <a:buChar char="•"/>
            </a:pPr>
            <a:r>
              <a:rPr lang="en-GB" dirty="0"/>
              <a:t>Shake animation </a:t>
            </a:r>
          </a:p>
          <a:p>
            <a:pPr>
              <a:buFont typeface="Arial" panose="020B0604020202020204" pitchFamily="34" charset="0"/>
              <a:buChar char="•"/>
            </a:pPr>
            <a:r>
              <a:rPr lang="en-GB" dirty="0" err="1"/>
              <a:t>Matra</a:t>
            </a:r>
            <a:r>
              <a:rPr lang="en-GB" dirty="0"/>
              <a:t> returns back </a:t>
            </a:r>
          </a:p>
          <a:p>
            <a:pPr>
              <a:buFont typeface="Arial" panose="020B0604020202020204" pitchFamily="34" charset="0"/>
              <a:buChar char="•"/>
            </a:pPr>
            <a:r>
              <a:rPr lang="en-GB" dirty="0"/>
              <a:t>VO:</a:t>
            </a:r>
            <a:br>
              <a:rPr lang="en-GB" dirty="0"/>
            </a:br>
            <a:r>
              <a:rPr lang="en-GB" b="1" dirty="0"/>
              <a:t>“</a:t>
            </a:r>
            <a:r>
              <a:rPr lang="en-GB" b="1" dirty="0" err="1"/>
              <a:t>ध्यान</a:t>
            </a:r>
            <a:r>
              <a:rPr lang="en-GB" b="1" dirty="0"/>
              <a:t> </a:t>
            </a:r>
            <a:r>
              <a:rPr lang="en-GB" b="1" dirty="0" err="1"/>
              <a:t>से</a:t>
            </a:r>
            <a:r>
              <a:rPr lang="en-GB" b="1" dirty="0"/>
              <a:t> </a:t>
            </a:r>
            <a:r>
              <a:rPr lang="en-GB" b="1" dirty="0" err="1"/>
              <a:t>देखो</a:t>
            </a:r>
            <a:r>
              <a:rPr lang="en-GB" b="1" dirty="0"/>
              <a:t>। </a:t>
            </a:r>
            <a:r>
              <a:rPr lang="en-GB" b="1" dirty="0" err="1"/>
              <a:t>कौन-सी</a:t>
            </a:r>
            <a:r>
              <a:rPr lang="en-GB" b="1" dirty="0"/>
              <a:t> </a:t>
            </a:r>
            <a:r>
              <a:rPr lang="en-GB" b="1" dirty="0" err="1"/>
              <a:t>मात्रा</a:t>
            </a:r>
            <a:r>
              <a:rPr lang="en-GB" b="1" dirty="0"/>
              <a:t> </a:t>
            </a:r>
            <a:r>
              <a:rPr lang="en-GB" b="1" dirty="0" err="1"/>
              <a:t>लगेगी</a:t>
            </a:r>
            <a:r>
              <a:rPr lang="en-GB" b="1" dirty="0"/>
              <a:t>?”</a:t>
            </a:r>
            <a:r>
              <a:rPr lang="en-GB" dirty="0"/>
              <a:t> </a:t>
            </a:r>
          </a:p>
          <a:p>
            <a:pPr>
              <a:buFont typeface="Arial" panose="020B0604020202020204" pitchFamily="34" charset="0"/>
              <a:buChar char="•"/>
            </a:pPr>
            <a:r>
              <a:rPr lang="en-GB" dirty="0"/>
              <a:t>Hand nudge appears on the correct blank space </a:t>
            </a:r>
          </a:p>
          <a:p>
            <a:r>
              <a:rPr lang="en-GB" b="1" dirty="0"/>
              <a:t>Correct answer on 3rd attempt</a:t>
            </a:r>
          </a:p>
          <a:p>
            <a:pPr>
              <a:buFont typeface="Arial" panose="020B0604020202020204" pitchFamily="34" charset="0"/>
              <a:buChar char="•"/>
            </a:pPr>
            <a:r>
              <a:rPr lang="en-GB" dirty="0" err="1"/>
              <a:t>Matra</a:t>
            </a:r>
            <a:r>
              <a:rPr lang="en-GB" dirty="0"/>
              <a:t> snaps into place </a:t>
            </a:r>
          </a:p>
          <a:p>
            <a:pPr>
              <a:buFont typeface="Arial" panose="020B0604020202020204" pitchFamily="34" charset="0"/>
              <a:buChar char="•"/>
            </a:pPr>
            <a:r>
              <a:rPr lang="en-GB" dirty="0"/>
              <a:t>Word completes </a:t>
            </a:r>
          </a:p>
          <a:p>
            <a:pPr>
              <a:buFont typeface="Arial" panose="020B0604020202020204" pitchFamily="34" charset="0"/>
              <a:buChar char="•"/>
            </a:pPr>
            <a:r>
              <a:rPr lang="en-GB" dirty="0"/>
              <a:t>Small confetti/sparkle </a:t>
            </a:r>
          </a:p>
          <a:p>
            <a:pPr>
              <a:buFont typeface="Arial" panose="020B0604020202020204" pitchFamily="34" charset="0"/>
              <a:buChar char="•"/>
            </a:pPr>
            <a:r>
              <a:rPr lang="en-GB" dirty="0"/>
              <a:t>No VO required </a:t>
            </a:r>
          </a:p>
          <a:p>
            <a:r>
              <a:rPr lang="en-GB" b="1" dirty="0"/>
              <a:t>Completion</a:t>
            </a:r>
          </a:p>
          <a:p>
            <a:r>
              <a:rPr lang="en-GB" dirty="0"/>
              <a:t>When all 3 words are completed:</a:t>
            </a:r>
          </a:p>
          <a:p>
            <a:pPr>
              <a:buFont typeface="Arial" panose="020B0604020202020204" pitchFamily="34" charset="0"/>
              <a:buChar char="•"/>
            </a:pPr>
            <a:r>
              <a:rPr lang="en-GB" dirty="0"/>
              <a:t>all coaches glow softly </a:t>
            </a:r>
          </a:p>
          <a:p>
            <a:pPr>
              <a:buFont typeface="Arial" panose="020B0604020202020204" pitchFamily="34" charset="0"/>
              <a:buChar char="•"/>
            </a:pPr>
            <a:r>
              <a:rPr lang="en-GB" dirty="0"/>
              <a:t>next button becomes active </a:t>
            </a:r>
          </a:p>
          <a:p>
            <a:pPr>
              <a:buFont typeface="Arial" panose="020B0604020202020204" pitchFamily="34" charset="0"/>
              <a:buChar char="•"/>
            </a:pPr>
            <a:r>
              <a:rPr lang="en-GB" dirty="0"/>
              <a:t>optional small train whistle / success SFX </a:t>
            </a:r>
          </a:p>
          <a:p>
            <a:r>
              <a:rPr lang="en-GB" b="1" dirty="0"/>
              <a:t>Developer note</a:t>
            </a:r>
          </a:p>
          <a:p>
            <a:r>
              <a:rPr lang="en-GB" dirty="0"/>
              <a:t>Keep the same current UI/UX style.</a:t>
            </a:r>
            <a:br>
              <a:rPr lang="en-GB" dirty="0"/>
            </a:br>
            <a:r>
              <a:rPr lang="en-GB" dirty="0"/>
              <a:t>Do not add extra text on screen.</a:t>
            </a:r>
            <a:br>
              <a:rPr lang="en-GB" dirty="0"/>
            </a:br>
            <a:r>
              <a:rPr lang="en-GB" dirty="0"/>
              <a:t>Use </a:t>
            </a:r>
            <a:r>
              <a:rPr lang="en-GB" b="1" dirty="0"/>
              <a:t>VO-led interaction</a:t>
            </a:r>
            <a:r>
              <a:rPr lang="en-GB" dirty="0"/>
              <a:t>.</a:t>
            </a:r>
            <a:br>
              <a:rPr lang="en-GB" dirty="0"/>
            </a:br>
            <a:r>
              <a:rPr lang="en-GB" dirty="0"/>
              <a:t>Also make sure the third word is </a:t>
            </a:r>
            <a:r>
              <a:rPr lang="en-GB" b="1" dirty="0" err="1"/>
              <a:t>हिरण</a:t>
            </a:r>
            <a:r>
              <a:rPr lang="en-GB" dirty="0"/>
              <a:t>, not </a:t>
            </a:r>
            <a:r>
              <a:rPr lang="en-GB" b="1" dirty="0" err="1"/>
              <a:t>हीरा</a:t>
            </a:r>
            <a:r>
              <a:rPr lang="en-GB" dirty="0"/>
              <a:t>.</a:t>
            </a:r>
          </a:p>
        </p:txBody>
      </p:sp>
      <p:sp>
        <p:nvSpPr>
          <p:cNvPr id="4" name="Slide Number Placeholder 3"/>
          <p:cNvSpPr>
            <a:spLocks noGrp="1"/>
          </p:cNvSpPr>
          <p:nvPr>
            <p:ph type="sldNum" sz="quarter" idx="5"/>
          </p:nvPr>
        </p:nvSpPr>
        <p:spPr/>
        <p:txBody>
          <a:bodyPr/>
          <a:lstStyle/>
          <a:p>
            <a:fld id="{2E8D0E46-8C9D-41DC-B81C-31859D5EE714}" type="slidenum">
              <a:rPr lang="en-IN" smtClean="0"/>
              <a:t>16</a:t>
            </a:fld>
            <a:endParaRPr lang="en-IN"/>
          </a:p>
        </p:txBody>
      </p:sp>
    </p:spTree>
    <p:extLst>
      <p:ext uri="{BB962C8B-B14F-4D97-AF65-F5344CB8AC3E}">
        <p14:creationId xmlns:p14="http://schemas.microsoft.com/office/powerpoint/2010/main" val="2729687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Recommendation</a:t>
            </a:r>
          </a:p>
          <a:p>
            <a:r>
              <a:rPr lang="en-GB" b="1" dirty="0"/>
              <a:t>Activity Concept</a:t>
            </a:r>
          </a:p>
          <a:p>
            <a:pPr>
              <a:buFont typeface="Arial" panose="020B0604020202020204" pitchFamily="34" charset="0"/>
              <a:buChar char="•"/>
            </a:pPr>
            <a:r>
              <a:rPr lang="en-GB" dirty="0"/>
              <a:t>Show a train with </a:t>
            </a:r>
            <a:r>
              <a:rPr lang="en-GB" b="1" dirty="0"/>
              <a:t>three coaches</a:t>
            </a:r>
            <a:r>
              <a:rPr lang="en-GB" dirty="0"/>
              <a:t>. </a:t>
            </a:r>
          </a:p>
          <a:p>
            <a:pPr>
              <a:buFont typeface="Arial" panose="020B0604020202020204" pitchFamily="34" charset="0"/>
              <a:buChar char="•"/>
            </a:pPr>
            <a:r>
              <a:rPr lang="en-GB" dirty="0"/>
              <a:t>Each coach represents one </a:t>
            </a:r>
            <a:r>
              <a:rPr lang="en-GB" dirty="0" err="1"/>
              <a:t>matra</a:t>
            </a:r>
            <a:r>
              <a:rPr lang="en-GB" dirty="0"/>
              <a:t> category: </a:t>
            </a:r>
          </a:p>
          <a:p>
            <a:pPr marL="742950" lvl="1" indent="-285750">
              <a:buFont typeface="Arial" panose="020B0604020202020204" pitchFamily="34" charset="0"/>
              <a:buChar char="•"/>
            </a:pPr>
            <a:r>
              <a:rPr lang="en-GB" b="1" dirty="0"/>
              <a:t>आ (ा)</a:t>
            </a:r>
            <a:r>
              <a:rPr lang="en-GB" dirty="0"/>
              <a:t> </a:t>
            </a:r>
          </a:p>
          <a:p>
            <a:pPr marL="742950" lvl="1" indent="-285750">
              <a:buFont typeface="Arial" panose="020B0604020202020204" pitchFamily="34" charset="0"/>
              <a:buChar char="•"/>
            </a:pPr>
            <a:r>
              <a:rPr lang="en-GB" b="1" dirty="0"/>
              <a:t>इ (ि)</a:t>
            </a:r>
            <a:r>
              <a:rPr lang="en-GB" dirty="0"/>
              <a:t> </a:t>
            </a:r>
          </a:p>
          <a:p>
            <a:pPr marL="742950" lvl="1" indent="-285750">
              <a:buFont typeface="Arial" panose="020B0604020202020204" pitchFamily="34" charset="0"/>
              <a:buChar char="•"/>
            </a:pPr>
            <a:r>
              <a:rPr lang="en-GB" b="1" dirty="0"/>
              <a:t>ई (ी)</a:t>
            </a:r>
            <a:r>
              <a:rPr lang="en-GB" dirty="0"/>
              <a:t> </a:t>
            </a:r>
          </a:p>
          <a:p>
            <a:pPr>
              <a:buFont typeface="Arial" panose="020B0604020202020204" pitchFamily="34" charset="0"/>
              <a:buChar char="•"/>
            </a:pPr>
            <a:r>
              <a:rPr lang="en-GB" dirty="0"/>
              <a:t>The </a:t>
            </a:r>
            <a:r>
              <a:rPr lang="en-GB" b="1" dirty="0"/>
              <a:t>inside area of each coach remains empty</a:t>
            </a:r>
            <a:r>
              <a:rPr lang="en-GB" dirty="0"/>
              <a:t> as the drop zone. </a:t>
            </a:r>
          </a:p>
          <a:p>
            <a:pPr>
              <a:buFont typeface="Arial" panose="020B0604020202020204" pitchFamily="34" charset="0"/>
              <a:buChar char="•"/>
            </a:pPr>
            <a:r>
              <a:rPr lang="en-GB" dirty="0"/>
              <a:t>At the bottom, show </a:t>
            </a:r>
            <a:r>
              <a:rPr lang="en-GB" b="1" dirty="0"/>
              <a:t>pictures only</a:t>
            </a:r>
            <a:r>
              <a:rPr lang="en-GB" dirty="0"/>
              <a:t>. Do not show any word text below the pictures. </a:t>
            </a:r>
          </a:p>
          <a:p>
            <a:r>
              <a:rPr lang="en-GB" b="1" dirty="0"/>
              <a:t>On Screen</a:t>
            </a:r>
          </a:p>
          <a:p>
            <a:pPr>
              <a:buFont typeface="Arial" panose="020B0604020202020204" pitchFamily="34" charset="0"/>
              <a:buChar char="•"/>
            </a:pPr>
            <a:r>
              <a:rPr lang="en-GB" dirty="0"/>
              <a:t>Above the first coach: </a:t>
            </a:r>
            <a:r>
              <a:rPr lang="en-GB" b="1" dirty="0"/>
              <a:t>आ (ा)</a:t>
            </a:r>
            <a:r>
              <a:rPr lang="en-GB" dirty="0"/>
              <a:t> </a:t>
            </a:r>
          </a:p>
          <a:p>
            <a:pPr>
              <a:buFont typeface="Arial" panose="020B0604020202020204" pitchFamily="34" charset="0"/>
              <a:buChar char="•"/>
            </a:pPr>
            <a:r>
              <a:rPr lang="en-GB" dirty="0"/>
              <a:t>Above the second coach: </a:t>
            </a:r>
            <a:r>
              <a:rPr lang="en-GB" b="1" dirty="0"/>
              <a:t>इ (ि)</a:t>
            </a:r>
            <a:r>
              <a:rPr lang="en-GB" dirty="0"/>
              <a:t> </a:t>
            </a:r>
          </a:p>
          <a:p>
            <a:pPr>
              <a:buFont typeface="Arial" panose="020B0604020202020204" pitchFamily="34" charset="0"/>
              <a:buChar char="•"/>
            </a:pPr>
            <a:r>
              <a:rPr lang="en-GB" dirty="0"/>
              <a:t>Above the third coach: </a:t>
            </a:r>
            <a:r>
              <a:rPr lang="en-GB" b="1" dirty="0"/>
              <a:t>ई (ी)</a:t>
            </a:r>
            <a:r>
              <a:rPr lang="en-GB" dirty="0"/>
              <a:t> </a:t>
            </a:r>
          </a:p>
          <a:p>
            <a:pPr>
              <a:buFont typeface="Arial" panose="020B0604020202020204" pitchFamily="34" charset="0"/>
              <a:buChar char="•"/>
            </a:pPr>
            <a:r>
              <a:rPr lang="en-GB" dirty="0"/>
              <a:t>Bottom section: picture cards only. </a:t>
            </a:r>
          </a:p>
          <a:p>
            <a:r>
              <a:rPr lang="en-GB" dirty="0"/>
              <a:t>Suggested picture set:</a:t>
            </a:r>
          </a:p>
          <a:p>
            <a:pPr>
              <a:buFont typeface="Arial" panose="020B0604020202020204" pitchFamily="34" charset="0"/>
              <a:buChar char="•"/>
            </a:pPr>
            <a:r>
              <a:rPr lang="en-GB" b="1" dirty="0" err="1"/>
              <a:t>हाथ</a:t>
            </a:r>
            <a:r>
              <a:rPr lang="en-GB" dirty="0"/>
              <a:t> → आ (ा) </a:t>
            </a:r>
          </a:p>
          <a:p>
            <a:pPr>
              <a:buFont typeface="Arial" panose="020B0604020202020204" pitchFamily="34" charset="0"/>
              <a:buChar char="•"/>
            </a:pPr>
            <a:r>
              <a:rPr lang="en-GB" b="1" dirty="0" err="1"/>
              <a:t>नाक</a:t>
            </a:r>
            <a:r>
              <a:rPr lang="en-GB" dirty="0"/>
              <a:t> → आ (ा) </a:t>
            </a:r>
          </a:p>
          <a:p>
            <a:pPr>
              <a:buFont typeface="Arial" panose="020B0604020202020204" pitchFamily="34" charset="0"/>
              <a:buChar char="•"/>
            </a:pPr>
            <a:r>
              <a:rPr lang="en-GB" b="1" dirty="0" err="1"/>
              <a:t>पिन</a:t>
            </a:r>
            <a:r>
              <a:rPr lang="en-GB" dirty="0"/>
              <a:t> → इ (ि) </a:t>
            </a:r>
          </a:p>
          <a:p>
            <a:pPr>
              <a:buFont typeface="Arial" panose="020B0604020202020204" pitchFamily="34" charset="0"/>
              <a:buChar char="•"/>
            </a:pPr>
            <a:r>
              <a:rPr lang="en-GB" b="1" dirty="0" err="1"/>
              <a:t>हिरण</a:t>
            </a:r>
            <a:r>
              <a:rPr lang="en-GB" dirty="0"/>
              <a:t> → इ (ि) </a:t>
            </a:r>
          </a:p>
          <a:p>
            <a:pPr>
              <a:buFont typeface="Arial" panose="020B0604020202020204" pitchFamily="34" charset="0"/>
              <a:buChar char="•"/>
            </a:pPr>
            <a:r>
              <a:rPr lang="en-GB" b="1" dirty="0" err="1"/>
              <a:t>नीम</a:t>
            </a:r>
            <a:r>
              <a:rPr lang="en-GB" dirty="0"/>
              <a:t> → ई (ी) </a:t>
            </a:r>
          </a:p>
          <a:p>
            <a:pPr>
              <a:buFont typeface="Arial" panose="020B0604020202020204" pitchFamily="34" charset="0"/>
              <a:buChar char="•"/>
            </a:pPr>
            <a:r>
              <a:rPr lang="en-GB" b="1" dirty="0" err="1"/>
              <a:t>कील</a:t>
            </a:r>
            <a:r>
              <a:rPr lang="en-GB" dirty="0"/>
              <a:t> → ई (ी) </a:t>
            </a:r>
          </a:p>
          <a:p>
            <a:r>
              <a:rPr lang="en-GB" b="1" dirty="0"/>
              <a:t>VO</a:t>
            </a:r>
          </a:p>
          <a:p>
            <a:r>
              <a:rPr lang="en-GB" dirty="0"/>
              <a:t>Intro VO:</a:t>
            </a:r>
          </a:p>
          <a:p>
            <a:r>
              <a:rPr lang="en-GB" b="1" dirty="0"/>
              <a:t>“</a:t>
            </a:r>
            <a:r>
              <a:rPr lang="en-GB" b="1" dirty="0" err="1"/>
              <a:t>चित्र</a:t>
            </a:r>
            <a:r>
              <a:rPr lang="en-GB" b="1" dirty="0"/>
              <a:t> </a:t>
            </a:r>
            <a:r>
              <a:rPr lang="en-GB" b="1" dirty="0" err="1"/>
              <a:t>को</a:t>
            </a:r>
            <a:r>
              <a:rPr lang="en-GB" b="1" dirty="0"/>
              <a:t> </a:t>
            </a:r>
            <a:r>
              <a:rPr lang="en-GB" b="1" dirty="0" err="1"/>
              <a:t>सुनो</a:t>
            </a:r>
            <a:r>
              <a:rPr lang="en-GB" b="1" dirty="0"/>
              <a:t> </a:t>
            </a:r>
            <a:r>
              <a:rPr lang="en-GB" b="1" dirty="0" err="1"/>
              <a:t>और</a:t>
            </a:r>
            <a:r>
              <a:rPr lang="en-GB" b="1" dirty="0"/>
              <a:t> </a:t>
            </a:r>
            <a:r>
              <a:rPr lang="en-GB" b="1" dirty="0" err="1"/>
              <a:t>उसे</a:t>
            </a:r>
            <a:r>
              <a:rPr lang="en-GB" b="1" dirty="0"/>
              <a:t> </a:t>
            </a:r>
            <a:r>
              <a:rPr lang="en-GB" b="1" dirty="0" err="1"/>
              <a:t>सही</a:t>
            </a:r>
            <a:r>
              <a:rPr lang="en-GB" b="1" dirty="0"/>
              <a:t> </a:t>
            </a:r>
            <a:r>
              <a:rPr lang="en-GB" b="1" dirty="0" err="1"/>
              <a:t>मात्रा</a:t>
            </a:r>
            <a:r>
              <a:rPr lang="en-GB" b="1" dirty="0"/>
              <a:t> </a:t>
            </a:r>
            <a:r>
              <a:rPr lang="en-GB" b="1" dirty="0" err="1"/>
              <a:t>वाली</a:t>
            </a:r>
            <a:r>
              <a:rPr lang="en-GB" b="1" dirty="0"/>
              <a:t> </a:t>
            </a:r>
            <a:r>
              <a:rPr lang="en-GB" b="1" dirty="0" err="1"/>
              <a:t>बोगी</a:t>
            </a:r>
            <a:r>
              <a:rPr lang="en-GB" b="1" dirty="0"/>
              <a:t> </a:t>
            </a:r>
            <a:r>
              <a:rPr lang="en-GB" b="1" dirty="0" err="1"/>
              <a:t>में</a:t>
            </a:r>
            <a:r>
              <a:rPr lang="en-GB" b="1" dirty="0"/>
              <a:t> </a:t>
            </a:r>
            <a:r>
              <a:rPr lang="hi-IN" b="1" dirty="0"/>
              <a:t>डालिए</a:t>
            </a:r>
            <a:r>
              <a:rPr lang="en-GB" b="1" dirty="0"/>
              <a:t>।”</a:t>
            </a:r>
            <a:endParaRPr lang="en-GB" dirty="0"/>
          </a:p>
          <a:p>
            <a:r>
              <a:rPr lang="en-GB" dirty="0"/>
              <a:t>When the child taps or starts dragging a picture, play only that picture’s name:</a:t>
            </a:r>
          </a:p>
          <a:p>
            <a:r>
              <a:rPr lang="en-GB" b="1" dirty="0"/>
              <a:t>“</a:t>
            </a:r>
            <a:r>
              <a:rPr lang="en-GB" b="1" dirty="0" err="1"/>
              <a:t>हाथ</a:t>
            </a:r>
            <a:r>
              <a:rPr lang="en-GB" b="1" dirty="0"/>
              <a:t>”</a:t>
            </a:r>
            <a:br>
              <a:rPr lang="en-GB" dirty="0"/>
            </a:br>
            <a:r>
              <a:rPr lang="en-GB" b="1" dirty="0"/>
              <a:t>“</a:t>
            </a:r>
            <a:r>
              <a:rPr lang="en-GB" b="1" dirty="0" err="1"/>
              <a:t>नाक</a:t>
            </a:r>
            <a:r>
              <a:rPr lang="en-GB" b="1" dirty="0"/>
              <a:t>”</a:t>
            </a:r>
            <a:br>
              <a:rPr lang="en-GB" dirty="0"/>
            </a:br>
            <a:r>
              <a:rPr lang="en-GB" b="1" dirty="0"/>
              <a:t>“</a:t>
            </a:r>
            <a:r>
              <a:rPr lang="en-GB" b="1" dirty="0" err="1"/>
              <a:t>पिन</a:t>
            </a:r>
            <a:r>
              <a:rPr lang="en-GB" b="1" dirty="0"/>
              <a:t>”</a:t>
            </a:r>
            <a:br>
              <a:rPr lang="en-GB" dirty="0"/>
            </a:br>
            <a:r>
              <a:rPr lang="en-GB" b="1" dirty="0"/>
              <a:t>“</a:t>
            </a:r>
            <a:r>
              <a:rPr lang="en-GB" b="1" dirty="0" err="1"/>
              <a:t>हिरण</a:t>
            </a:r>
            <a:r>
              <a:rPr lang="en-GB" b="1" dirty="0"/>
              <a:t>”</a:t>
            </a:r>
            <a:br>
              <a:rPr lang="en-GB" dirty="0"/>
            </a:br>
            <a:r>
              <a:rPr lang="en-GB" b="1" dirty="0"/>
              <a:t>“</a:t>
            </a:r>
            <a:r>
              <a:rPr lang="en-GB" b="1" dirty="0" err="1"/>
              <a:t>नीम</a:t>
            </a:r>
            <a:r>
              <a:rPr lang="en-GB" b="1" dirty="0"/>
              <a:t>”</a:t>
            </a:r>
            <a:br>
              <a:rPr lang="en-GB" dirty="0"/>
            </a:br>
            <a:r>
              <a:rPr lang="en-GB" b="1" dirty="0"/>
              <a:t>“</a:t>
            </a:r>
            <a:r>
              <a:rPr lang="en-GB" b="1" dirty="0" err="1"/>
              <a:t>कील</a:t>
            </a:r>
            <a:r>
              <a:rPr lang="en-GB" b="1" dirty="0"/>
              <a:t>”</a:t>
            </a:r>
            <a:endParaRPr lang="en-GB" dirty="0"/>
          </a:p>
          <a:p>
            <a:r>
              <a:rPr lang="en-GB" dirty="0"/>
              <a:t>This makes the child </a:t>
            </a:r>
            <a:r>
              <a:rPr lang="en-GB" b="1" dirty="0"/>
              <a:t>listen to the word</a:t>
            </a:r>
            <a:r>
              <a:rPr lang="en-GB" dirty="0"/>
              <a:t>, identify its </a:t>
            </a:r>
            <a:r>
              <a:rPr lang="en-GB" dirty="0" err="1"/>
              <a:t>matra</a:t>
            </a:r>
            <a:r>
              <a:rPr lang="en-GB" dirty="0"/>
              <a:t> sound, and then sort it.</a:t>
            </a:r>
          </a:p>
          <a:p>
            <a:r>
              <a:rPr lang="en-GB" b="1" dirty="0"/>
              <a:t>Drag and Drop Logic</a:t>
            </a:r>
          </a:p>
          <a:p>
            <a:pPr>
              <a:buFont typeface="Arial" panose="020B0604020202020204" pitchFamily="34" charset="0"/>
              <a:buChar char="•"/>
            </a:pPr>
            <a:r>
              <a:rPr lang="en-GB" dirty="0"/>
              <a:t>Child drags the </a:t>
            </a:r>
            <a:r>
              <a:rPr lang="en-GB" b="1" dirty="0"/>
              <a:t>picture card</a:t>
            </a:r>
            <a:r>
              <a:rPr lang="en-GB" dirty="0"/>
              <a:t> into the correct coach. </a:t>
            </a:r>
          </a:p>
          <a:p>
            <a:pPr>
              <a:buFont typeface="Arial" panose="020B0604020202020204" pitchFamily="34" charset="0"/>
              <a:buChar char="•"/>
            </a:pPr>
            <a:r>
              <a:rPr lang="en-GB" dirty="0"/>
              <a:t>One coach can accept multiple pictures belonging to the same </a:t>
            </a:r>
            <a:r>
              <a:rPr lang="en-GB" dirty="0" err="1"/>
              <a:t>matra</a:t>
            </a:r>
            <a:r>
              <a:rPr lang="en-GB" dirty="0"/>
              <a:t>. </a:t>
            </a:r>
          </a:p>
          <a:p>
            <a:pPr>
              <a:buFont typeface="Arial" panose="020B0604020202020204" pitchFamily="34" charset="0"/>
              <a:buChar char="•"/>
            </a:pPr>
            <a:r>
              <a:rPr lang="en-GB" dirty="0"/>
              <a:t>The word should </a:t>
            </a:r>
            <a:r>
              <a:rPr lang="en-GB" b="1" dirty="0"/>
              <a:t>not be displayed</a:t>
            </a:r>
            <a:r>
              <a:rPr lang="en-GB" dirty="0"/>
              <a:t> at any point during the question. </a:t>
            </a:r>
          </a:p>
          <a:p>
            <a:pPr>
              <a:buFont typeface="Arial" panose="020B0604020202020204" pitchFamily="34" charset="0"/>
              <a:buChar char="•"/>
            </a:pPr>
            <a:r>
              <a:rPr lang="en-GB" dirty="0"/>
              <a:t>While dragging, the selected picture card can slightly enlarge. </a:t>
            </a:r>
          </a:p>
          <a:p>
            <a:pPr>
              <a:buFont typeface="Arial" panose="020B0604020202020204" pitchFamily="34" charset="0"/>
              <a:buChar char="•"/>
            </a:pPr>
            <a:r>
              <a:rPr lang="en-GB" dirty="0"/>
              <a:t>When hovering over a coach, that coach can get a soft glow. </a:t>
            </a:r>
          </a:p>
          <a:p>
            <a:r>
              <a:rPr lang="en-GB" b="1" dirty="0"/>
              <a:t>Correct Answer</a:t>
            </a:r>
          </a:p>
          <a:p>
            <a:pPr>
              <a:buFont typeface="Arial" panose="020B0604020202020204" pitchFamily="34" charset="0"/>
              <a:buChar char="•"/>
            </a:pPr>
            <a:r>
              <a:rPr lang="en-GB" dirty="0"/>
              <a:t>Picture snaps inside the correct coach. </a:t>
            </a:r>
          </a:p>
          <a:p>
            <a:pPr>
              <a:buFont typeface="Arial" panose="020B0604020202020204" pitchFamily="34" charset="0"/>
              <a:buChar char="•"/>
            </a:pPr>
            <a:r>
              <a:rPr lang="en-GB" dirty="0"/>
              <a:t>Small sparkle/confetti appears around the coach. </a:t>
            </a:r>
          </a:p>
          <a:p>
            <a:pPr>
              <a:buFont typeface="Arial" panose="020B0604020202020204" pitchFamily="34" charset="0"/>
              <a:buChar char="•"/>
            </a:pPr>
            <a:r>
              <a:rPr lang="en-GB" dirty="0"/>
              <a:t>Picture becomes locked. </a:t>
            </a:r>
          </a:p>
          <a:p>
            <a:pPr>
              <a:buFont typeface="Arial" panose="020B0604020202020204" pitchFamily="34" charset="0"/>
              <a:buChar char="•"/>
            </a:pPr>
            <a:r>
              <a:rPr lang="en-GB" dirty="0"/>
              <a:t>VO example: </a:t>
            </a:r>
          </a:p>
          <a:p>
            <a:r>
              <a:rPr lang="en-GB" b="1" dirty="0"/>
              <a:t>“</a:t>
            </a:r>
            <a:r>
              <a:rPr lang="en-GB" b="1" dirty="0" err="1"/>
              <a:t>शाबाश</a:t>
            </a:r>
            <a:r>
              <a:rPr lang="en-GB" b="1" dirty="0"/>
              <a:t>! </a:t>
            </a:r>
            <a:r>
              <a:rPr lang="en-GB" b="1" dirty="0" err="1"/>
              <a:t>हाथ</a:t>
            </a:r>
            <a:r>
              <a:rPr lang="en-GB" b="1" dirty="0"/>
              <a:t> </a:t>
            </a:r>
            <a:r>
              <a:rPr lang="en-GB" b="1" dirty="0" err="1"/>
              <a:t>में</a:t>
            </a:r>
            <a:r>
              <a:rPr lang="en-GB" b="1" dirty="0"/>
              <a:t> आ </a:t>
            </a:r>
            <a:r>
              <a:rPr lang="en-GB" b="1" dirty="0" err="1"/>
              <a:t>की</a:t>
            </a:r>
            <a:r>
              <a:rPr lang="en-GB" b="1" dirty="0"/>
              <a:t> </a:t>
            </a:r>
            <a:r>
              <a:rPr lang="en-GB" b="1" dirty="0" err="1"/>
              <a:t>मात्रा</a:t>
            </a:r>
            <a:r>
              <a:rPr lang="en-GB" b="1" dirty="0"/>
              <a:t> </a:t>
            </a:r>
            <a:r>
              <a:rPr lang="en-GB" b="1" dirty="0" err="1"/>
              <a:t>है</a:t>
            </a:r>
            <a:r>
              <a:rPr lang="en-GB" b="1" dirty="0"/>
              <a:t>।”</a:t>
            </a:r>
            <a:endParaRPr lang="en-GB" dirty="0"/>
          </a:p>
          <a:p>
            <a:r>
              <a:rPr lang="en-GB" dirty="0"/>
              <a:t>Use the same pattern for the other pictures.</a:t>
            </a:r>
          </a:p>
          <a:p>
            <a:r>
              <a:rPr lang="en-GB" b="1" dirty="0"/>
              <a:t>1st Wrong Attempt</a:t>
            </a:r>
          </a:p>
          <a:p>
            <a:pPr>
              <a:buFont typeface="Arial" panose="020B0604020202020204" pitchFamily="34" charset="0"/>
              <a:buChar char="•"/>
            </a:pPr>
            <a:r>
              <a:rPr lang="en-GB" dirty="0"/>
              <a:t>Wrong coach gives a short </a:t>
            </a:r>
            <a:r>
              <a:rPr lang="en-GB" b="1" dirty="0"/>
              <a:t>wiggle/shake animation</a:t>
            </a:r>
            <a:r>
              <a:rPr lang="en-GB" dirty="0"/>
              <a:t>. </a:t>
            </a:r>
          </a:p>
          <a:p>
            <a:pPr>
              <a:buFont typeface="Arial" panose="020B0604020202020204" pitchFamily="34" charset="0"/>
              <a:buChar char="•"/>
            </a:pPr>
            <a:r>
              <a:rPr lang="en-GB" dirty="0"/>
              <a:t>Picture returns to its original position. </a:t>
            </a:r>
          </a:p>
          <a:p>
            <a:pPr>
              <a:buFont typeface="Arial" panose="020B0604020202020204" pitchFamily="34" charset="0"/>
              <a:buChar char="•"/>
            </a:pPr>
            <a:r>
              <a:rPr lang="en-GB" dirty="0"/>
              <a:t>No hand nudge. </a:t>
            </a:r>
          </a:p>
          <a:p>
            <a:pPr>
              <a:buFont typeface="Arial" panose="020B0604020202020204" pitchFamily="34" charset="0"/>
              <a:buChar char="•"/>
            </a:pPr>
            <a:r>
              <a:rPr lang="en-GB" dirty="0"/>
              <a:t>VO: </a:t>
            </a:r>
          </a:p>
          <a:p>
            <a:r>
              <a:rPr lang="en-GB" b="1" dirty="0"/>
              <a:t>“</a:t>
            </a:r>
            <a:r>
              <a:rPr lang="en-GB" b="1" dirty="0" err="1"/>
              <a:t>फिर</a:t>
            </a:r>
            <a:r>
              <a:rPr lang="en-GB" b="1" dirty="0"/>
              <a:t> </a:t>
            </a:r>
            <a:r>
              <a:rPr lang="en-GB" b="1" dirty="0" err="1"/>
              <a:t>से</a:t>
            </a:r>
            <a:r>
              <a:rPr lang="en-GB" b="1" dirty="0"/>
              <a:t> </a:t>
            </a:r>
            <a:r>
              <a:rPr lang="en-GB" b="1" dirty="0" err="1"/>
              <a:t>सुनो</a:t>
            </a:r>
            <a:r>
              <a:rPr lang="en-GB" b="1" dirty="0"/>
              <a:t> </a:t>
            </a:r>
            <a:r>
              <a:rPr lang="en-GB" b="1" dirty="0" err="1"/>
              <a:t>और</a:t>
            </a:r>
            <a:r>
              <a:rPr lang="en-GB" b="1" dirty="0"/>
              <a:t> </a:t>
            </a:r>
            <a:r>
              <a:rPr lang="en-GB" b="1" dirty="0" err="1"/>
              <a:t>सही</a:t>
            </a:r>
            <a:r>
              <a:rPr lang="en-GB" b="1" dirty="0"/>
              <a:t> </a:t>
            </a:r>
            <a:r>
              <a:rPr lang="en-GB" b="1" dirty="0" err="1"/>
              <a:t>मात्रा</a:t>
            </a:r>
            <a:r>
              <a:rPr lang="en-GB" b="1" dirty="0"/>
              <a:t> </a:t>
            </a:r>
            <a:r>
              <a:rPr lang="en-GB" b="1" dirty="0" err="1"/>
              <a:t>पहचानो</a:t>
            </a:r>
            <a:r>
              <a:rPr lang="en-GB" b="1" dirty="0"/>
              <a:t>।”</a:t>
            </a:r>
            <a:endParaRPr lang="en-GB" dirty="0"/>
          </a:p>
          <a:p>
            <a:r>
              <a:rPr lang="en-GB" b="1" dirty="0"/>
              <a:t>2nd Wrong Attempt</a:t>
            </a:r>
          </a:p>
          <a:p>
            <a:pPr>
              <a:buFont typeface="Arial" panose="020B0604020202020204" pitchFamily="34" charset="0"/>
              <a:buChar char="•"/>
            </a:pPr>
            <a:r>
              <a:rPr lang="en-GB" dirty="0"/>
              <a:t>Wrong coach shakes again. </a:t>
            </a:r>
          </a:p>
          <a:p>
            <a:pPr>
              <a:buFont typeface="Arial" panose="020B0604020202020204" pitchFamily="34" charset="0"/>
              <a:buChar char="•"/>
            </a:pPr>
            <a:r>
              <a:rPr lang="en-GB" dirty="0"/>
              <a:t>Picture returns to the bottom. </a:t>
            </a:r>
          </a:p>
          <a:p>
            <a:pPr>
              <a:buFont typeface="Arial" panose="020B0604020202020204" pitchFamily="34" charset="0"/>
              <a:buChar char="•"/>
            </a:pPr>
            <a:r>
              <a:rPr lang="en-GB" dirty="0"/>
              <a:t>VO: </a:t>
            </a:r>
          </a:p>
          <a:p>
            <a:r>
              <a:rPr lang="en-GB" b="1" dirty="0"/>
              <a:t>“</a:t>
            </a:r>
            <a:r>
              <a:rPr lang="en-GB" b="1" dirty="0" err="1"/>
              <a:t>शब्द</a:t>
            </a:r>
            <a:r>
              <a:rPr lang="en-GB" b="1" dirty="0"/>
              <a:t> </a:t>
            </a:r>
            <a:r>
              <a:rPr lang="en-GB" b="1" dirty="0" err="1"/>
              <a:t>को</a:t>
            </a:r>
            <a:r>
              <a:rPr lang="en-GB" b="1" dirty="0"/>
              <a:t> </a:t>
            </a:r>
            <a:r>
              <a:rPr lang="en-GB" b="1" dirty="0" err="1"/>
              <a:t>ध्यान</a:t>
            </a:r>
            <a:r>
              <a:rPr lang="en-GB" b="1" dirty="0"/>
              <a:t> </a:t>
            </a:r>
            <a:r>
              <a:rPr lang="en-GB" b="1" dirty="0" err="1"/>
              <a:t>से</a:t>
            </a:r>
            <a:r>
              <a:rPr lang="en-GB" b="1" dirty="0"/>
              <a:t> </a:t>
            </a:r>
            <a:r>
              <a:rPr lang="en-GB" b="1" dirty="0" err="1"/>
              <a:t>सुनो</a:t>
            </a:r>
            <a:r>
              <a:rPr lang="en-GB" b="1" dirty="0"/>
              <a:t>।”</a:t>
            </a:r>
            <a:endParaRPr lang="en-GB" dirty="0"/>
          </a:p>
          <a:p>
            <a:pPr>
              <a:buFont typeface="Arial" panose="020B0604020202020204" pitchFamily="34" charset="0"/>
              <a:buChar char="•"/>
            </a:pPr>
            <a:r>
              <a:rPr lang="en-GB" dirty="0"/>
              <a:t>Show a </a:t>
            </a:r>
            <a:r>
              <a:rPr lang="en-GB" b="1" dirty="0"/>
              <a:t>hand nudge / soft pulse on the correct coach</a:t>
            </a:r>
            <a:r>
              <a:rPr lang="en-GB" dirty="0"/>
              <a:t>. </a:t>
            </a:r>
          </a:p>
          <a:p>
            <a:r>
              <a:rPr lang="en-GB" b="1" dirty="0"/>
              <a:t>Correct Answer on 3rd Attempt</a:t>
            </a:r>
          </a:p>
          <a:p>
            <a:pPr>
              <a:buFont typeface="Arial" panose="020B0604020202020204" pitchFamily="34" charset="0"/>
              <a:buChar char="•"/>
            </a:pPr>
            <a:r>
              <a:rPr lang="en-GB" dirty="0"/>
              <a:t>Picture snaps into the correct coach. </a:t>
            </a:r>
          </a:p>
          <a:p>
            <a:pPr>
              <a:buFont typeface="Arial" panose="020B0604020202020204" pitchFamily="34" charset="0"/>
              <a:buChar char="•"/>
            </a:pPr>
            <a:r>
              <a:rPr lang="en-GB" dirty="0"/>
              <a:t>Small confetti/sparkle. </a:t>
            </a:r>
          </a:p>
          <a:p>
            <a:pPr>
              <a:buFont typeface="Arial" panose="020B0604020202020204" pitchFamily="34" charset="0"/>
              <a:buChar char="•"/>
            </a:pPr>
            <a:r>
              <a:rPr lang="en-GB" dirty="0"/>
              <a:t>No VO required. </a:t>
            </a:r>
          </a:p>
          <a:p>
            <a:r>
              <a:rPr lang="en-GB" b="1" dirty="0"/>
              <a:t>Completion</a:t>
            </a:r>
          </a:p>
          <a:p>
            <a:pPr>
              <a:buFont typeface="Arial" panose="020B0604020202020204" pitchFamily="34" charset="0"/>
              <a:buChar char="•"/>
            </a:pPr>
            <a:r>
              <a:rPr lang="en-GB" dirty="0"/>
              <a:t>Once all pictures are correctly sorted: </a:t>
            </a:r>
          </a:p>
          <a:p>
            <a:pPr marL="742950" lvl="1" indent="-285750">
              <a:buFont typeface="Arial" panose="020B0604020202020204" pitchFamily="34" charset="0"/>
              <a:buChar char="•"/>
            </a:pPr>
            <a:r>
              <a:rPr lang="en-GB" dirty="0"/>
              <a:t>all three coaches glow briefly, </a:t>
            </a:r>
          </a:p>
          <a:p>
            <a:pPr marL="742950" lvl="1" indent="-285750">
              <a:buFont typeface="Arial" panose="020B0604020202020204" pitchFamily="34" charset="0"/>
              <a:buChar char="•"/>
            </a:pPr>
            <a:r>
              <a:rPr lang="en-GB" dirty="0"/>
              <a:t>train gives a small whistle/steam animation, </a:t>
            </a:r>
          </a:p>
          <a:p>
            <a:pPr marL="742950" lvl="1" indent="-285750">
              <a:buFont typeface="Arial" panose="020B0604020202020204" pitchFamily="34" charset="0"/>
              <a:buChar char="•"/>
            </a:pPr>
            <a:r>
              <a:rPr lang="en-GB" b="1" dirty="0"/>
              <a:t>Next button becomes active</a:t>
            </a:r>
            <a:r>
              <a:rPr lang="en-GB" dirty="0"/>
              <a:t>. </a:t>
            </a:r>
          </a:p>
          <a:p>
            <a:r>
              <a:rPr lang="en-GB" b="1" dirty="0"/>
              <a:t>Animation</a:t>
            </a:r>
          </a:p>
          <a:p>
            <a:pPr>
              <a:buFont typeface="Arial" panose="020B0604020202020204" pitchFamily="34" charset="0"/>
              <a:buChar char="•"/>
            </a:pPr>
            <a:r>
              <a:rPr lang="en-GB" dirty="0"/>
              <a:t>Train enters </a:t>
            </a:r>
            <a:r>
              <a:rPr lang="en-GB" b="1" dirty="0"/>
              <a:t>right to left</a:t>
            </a:r>
            <a:r>
              <a:rPr lang="en-GB" dirty="0"/>
              <a:t> and stops at the centre. </a:t>
            </a:r>
          </a:p>
          <a:p>
            <a:pPr>
              <a:buFont typeface="Arial" panose="020B0604020202020204" pitchFamily="34" charset="0"/>
              <a:buChar char="•"/>
            </a:pPr>
            <a:r>
              <a:rPr lang="en-GB" dirty="0"/>
              <a:t>Coach labels </a:t>
            </a:r>
            <a:r>
              <a:rPr lang="en-GB" b="1" dirty="0"/>
              <a:t>आ (ा), इ (ि), ई (ी)</a:t>
            </a:r>
            <a:r>
              <a:rPr lang="en-GB" dirty="0"/>
              <a:t> appear one by one. </a:t>
            </a:r>
          </a:p>
          <a:p>
            <a:pPr>
              <a:buFont typeface="Arial" panose="020B0604020202020204" pitchFamily="34" charset="0"/>
              <a:buChar char="•"/>
            </a:pPr>
            <a:r>
              <a:rPr lang="en-GB" dirty="0"/>
              <a:t>Picture cards fade/slide up from the bottom. </a:t>
            </a:r>
          </a:p>
          <a:p>
            <a:pPr>
              <a:buFont typeface="Arial" panose="020B0604020202020204" pitchFamily="34" charset="0"/>
              <a:buChar char="•"/>
            </a:pPr>
            <a:r>
              <a:rPr lang="en-GB" dirty="0"/>
              <a:t>Keep animation subtle and do not add extra decorative elements.</a:t>
            </a:r>
          </a:p>
          <a:p>
            <a:endParaRPr lang="en-IN" dirty="0"/>
          </a:p>
        </p:txBody>
      </p:sp>
      <p:sp>
        <p:nvSpPr>
          <p:cNvPr id="4" name="Slide Number Placeholder 3"/>
          <p:cNvSpPr>
            <a:spLocks noGrp="1"/>
          </p:cNvSpPr>
          <p:nvPr>
            <p:ph type="sldNum" sz="quarter" idx="5"/>
          </p:nvPr>
        </p:nvSpPr>
        <p:spPr/>
        <p:txBody>
          <a:bodyPr/>
          <a:lstStyle/>
          <a:p>
            <a:fld id="{2E8D0E46-8C9D-41DC-B81C-31859D5EE714}" type="slidenum">
              <a:rPr lang="en-IN" smtClean="0"/>
              <a:t>17</a:t>
            </a:fld>
            <a:endParaRPr lang="en-IN"/>
          </a:p>
        </p:txBody>
      </p:sp>
    </p:spTree>
    <p:extLst>
      <p:ext uri="{BB962C8B-B14F-4D97-AF65-F5344CB8AC3E}">
        <p14:creationId xmlns:p14="http://schemas.microsoft.com/office/powerpoint/2010/main" val="36431347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Recommendation</a:t>
            </a:r>
          </a:p>
          <a:p>
            <a:r>
              <a:rPr lang="en-GB" b="1" dirty="0"/>
              <a:t>Activity Concept</a:t>
            </a:r>
          </a:p>
          <a:p>
            <a:r>
              <a:rPr lang="en-GB" dirty="0"/>
              <a:t>Use this as a </a:t>
            </a:r>
            <a:r>
              <a:rPr lang="en-GB" b="1" dirty="0"/>
              <a:t>final “</a:t>
            </a:r>
            <a:r>
              <a:rPr lang="en-GB" b="1" dirty="0" err="1"/>
              <a:t>मात्रा</a:t>
            </a:r>
            <a:r>
              <a:rPr lang="en-GB" b="1" dirty="0"/>
              <a:t> </a:t>
            </a:r>
            <a:r>
              <a:rPr lang="en-GB" b="1" dirty="0" err="1"/>
              <a:t>खोजो</a:t>
            </a:r>
            <a:r>
              <a:rPr lang="en-GB" b="1" dirty="0"/>
              <a:t>” challenge</a:t>
            </a:r>
            <a:r>
              <a:rPr lang="en-GB" dirty="0"/>
              <a:t>.</a:t>
            </a:r>
          </a:p>
          <a:p>
            <a:r>
              <a:rPr lang="en-GB" dirty="0"/>
              <a:t>Keep the focus only on:</a:t>
            </a:r>
          </a:p>
          <a:p>
            <a:pPr>
              <a:buFont typeface="Arial" panose="020B0604020202020204" pitchFamily="34" charset="0"/>
              <a:buChar char="•"/>
            </a:pPr>
            <a:r>
              <a:rPr lang="en-GB" dirty="0"/>
              <a:t>poem card </a:t>
            </a:r>
          </a:p>
          <a:p>
            <a:pPr>
              <a:buFont typeface="Arial" panose="020B0604020202020204" pitchFamily="34" charset="0"/>
              <a:buChar char="•"/>
            </a:pPr>
            <a:r>
              <a:rPr lang="en-GB" dirty="0"/>
              <a:t>magnifying glass </a:t>
            </a:r>
          </a:p>
          <a:p>
            <a:pPr>
              <a:buFont typeface="Arial" panose="020B0604020202020204" pitchFamily="34" charset="0"/>
              <a:buChar char="•"/>
            </a:pPr>
            <a:r>
              <a:rPr lang="en-GB" dirty="0"/>
              <a:t>target words </a:t>
            </a:r>
          </a:p>
          <a:p>
            <a:pPr>
              <a:buFont typeface="Arial" panose="020B0604020202020204" pitchFamily="34" charset="0"/>
              <a:buChar char="•"/>
            </a:pPr>
            <a:r>
              <a:rPr lang="en-GB" dirty="0"/>
              <a:t>ghost animation feedback </a:t>
            </a:r>
          </a:p>
          <a:p>
            <a:r>
              <a:rPr lang="en-GB" dirty="0"/>
              <a:t>Remove extra decorative elements like:</a:t>
            </a:r>
          </a:p>
          <a:p>
            <a:pPr>
              <a:buFont typeface="Arial" panose="020B0604020202020204" pitchFamily="34" charset="0"/>
              <a:buChar char="•"/>
            </a:pPr>
            <a:r>
              <a:rPr lang="en-GB" dirty="0"/>
              <a:t>Ravi </a:t>
            </a:r>
          </a:p>
          <a:p>
            <a:pPr>
              <a:buFont typeface="Arial" panose="020B0604020202020204" pitchFamily="34" charset="0"/>
              <a:buChar char="•"/>
            </a:pPr>
            <a:r>
              <a:rPr lang="en-GB" dirty="0"/>
              <a:t>kite </a:t>
            </a:r>
          </a:p>
          <a:p>
            <a:pPr>
              <a:buFont typeface="Arial" panose="020B0604020202020204" pitchFamily="34" charset="0"/>
              <a:buChar char="•"/>
            </a:pPr>
            <a:r>
              <a:rPr lang="en-GB" dirty="0"/>
              <a:t>girl </a:t>
            </a:r>
          </a:p>
          <a:p>
            <a:pPr>
              <a:buFont typeface="Arial" panose="020B0604020202020204" pitchFamily="34" charset="0"/>
              <a:buChar char="•"/>
            </a:pPr>
            <a:r>
              <a:rPr lang="en-GB" dirty="0"/>
              <a:t>tree </a:t>
            </a:r>
          </a:p>
          <a:p>
            <a:pPr>
              <a:buFont typeface="Arial" panose="020B0604020202020204" pitchFamily="34" charset="0"/>
              <a:buChar char="•"/>
            </a:pPr>
            <a:r>
              <a:rPr lang="en-GB" dirty="0"/>
              <a:t>unnecessary background objects </a:t>
            </a:r>
          </a:p>
          <a:p>
            <a:r>
              <a:rPr lang="en-GB" dirty="0"/>
              <a:t>Use a clean version of the existing UI so the child’s attention stays on the activity.</a:t>
            </a:r>
          </a:p>
          <a:p>
            <a:r>
              <a:rPr lang="en-GB" b="1" dirty="0"/>
              <a:t>Poem on Screen</a:t>
            </a:r>
          </a:p>
          <a:p>
            <a:r>
              <a:rPr lang="en-GB" b="1" dirty="0" err="1"/>
              <a:t>रवि</a:t>
            </a:r>
            <a:r>
              <a:rPr lang="en-GB" b="1" dirty="0"/>
              <a:t> </a:t>
            </a:r>
            <a:r>
              <a:rPr lang="en-GB" b="1" dirty="0" err="1"/>
              <a:t>लाया</a:t>
            </a:r>
            <a:r>
              <a:rPr lang="en-GB" b="1" dirty="0"/>
              <a:t> </a:t>
            </a:r>
            <a:r>
              <a:rPr lang="en-GB" b="1" dirty="0" err="1"/>
              <a:t>लाल</a:t>
            </a:r>
            <a:r>
              <a:rPr lang="en-GB" b="1" dirty="0"/>
              <a:t> </a:t>
            </a:r>
            <a:r>
              <a:rPr lang="en-GB" b="1" dirty="0" err="1"/>
              <a:t>पतंग</a:t>
            </a:r>
            <a:r>
              <a:rPr lang="en-GB" b="1" dirty="0"/>
              <a:t>,</a:t>
            </a:r>
            <a:br>
              <a:rPr lang="en-GB" dirty="0"/>
            </a:br>
            <a:r>
              <a:rPr lang="en-GB" b="1" dirty="0" err="1"/>
              <a:t>दिन</a:t>
            </a:r>
            <a:r>
              <a:rPr lang="en-GB" b="1" dirty="0"/>
              <a:t> </a:t>
            </a:r>
            <a:r>
              <a:rPr lang="en-GB" b="1" dirty="0" err="1"/>
              <a:t>में</a:t>
            </a:r>
            <a:r>
              <a:rPr lang="en-GB" b="1" dirty="0"/>
              <a:t> </a:t>
            </a:r>
            <a:r>
              <a:rPr lang="en-GB" b="1" dirty="0" err="1"/>
              <a:t>चमकी</a:t>
            </a:r>
            <a:r>
              <a:rPr lang="en-GB" b="1" dirty="0"/>
              <a:t> </a:t>
            </a:r>
            <a:r>
              <a:rPr lang="en-GB" b="1" dirty="0" err="1"/>
              <a:t>सूरज</a:t>
            </a:r>
            <a:r>
              <a:rPr lang="en-GB" b="1" dirty="0"/>
              <a:t> </a:t>
            </a:r>
            <a:r>
              <a:rPr lang="en-GB" b="1" dirty="0" err="1"/>
              <a:t>की</a:t>
            </a:r>
            <a:r>
              <a:rPr lang="en-GB" b="1" dirty="0"/>
              <a:t> </a:t>
            </a:r>
            <a:r>
              <a:rPr lang="en-GB" b="1" dirty="0" err="1"/>
              <a:t>किरण</a:t>
            </a:r>
            <a:r>
              <a:rPr lang="en-GB" b="1" dirty="0"/>
              <a:t>।</a:t>
            </a:r>
            <a:br>
              <a:rPr lang="en-GB" dirty="0"/>
            </a:br>
            <a:r>
              <a:rPr lang="en-GB" b="1" dirty="0" err="1"/>
              <a:t>नीम</a:t>
            </a:r>
            <a:r>
              <a:rPr lang="en-GB" b="1" dirty="0"/>
              <a:t> </a:t>
            </a:r>
            <a:r>
              <a:rPr lang="en-GB" b="1" dirty="0" err="1"/>
              <a:t>तले</a:t>
            </a:r>
            <a:r>
              <a:rPr lang="en-GB" b="1" dirty="0"/>
              <a:t> </a:t>
            </a:r>
            <a:r>
              <a:rPr lang="en-GB" b="1" dirty="0" err="1"/>
              <a:t>मीना</a:t>
            </a:r>
            <a:r>
              <a:rPr lang="en-GB" b="1" dirty="0"/>
              <a:t> </a:t>
            </a:r>
            <a:r>
              <a:rPr lang="en-GB" b="1" dirty="0" err="1"/>
              <a:t>गाए</a:t>
            </a:r>
            <a:r>
              <a:rPr lang="en-GB" b="1" dirty="0"/>
              <a:t> </a:t>
            </a:r>
            <a:r>
              <a:rPr lang="en-GB" b="1" dirty="0" err="1"/>
              <a:t>संग</a:t>
            </a:r>
            <a:r>
              <a:rPr lang="en-GB" b="1" dirty="0"/>
              <a:t>।</a:t>
            </a:r>
            <a:endParaRPr lang="en-GB" dirty="0"/>
          </a:p>
          <a:p>
            <a:r>
              <a:rPr lang="en-GB" b="1" dirty="0"/>
              <a:t>VO Flow</a:t>
            </a:r>
          </a:p>
          <a:p>
            <a:r>
              <a:rPr lang="en-GB" b="1" dirty="0"/>
              <a:t>Round 1 VO:</a:t>
            </a:r>
            <a:br>
              <a:rPr lang="en-GB" dirty="0"/>
            </a:br>
            <a:r>
              <a:rPr lang="en-GB" dirty="0"/>
              <a:t>“आ </a:t>
            </a:r>
            <a:r>
              <a:rPr lang="en-GB" dirty="0" err="1"/>
              <a:t>की</a:t>
            </a:r>
            <a:r>
              <a:rPr lang="en-GB" dirty="0"/>
              <a:t> </a:t>
            </a:r>
            <a:r>
              <a:rPr lang="en-GB" dirty="0" err="1"/>
              <a:t>मात्रा</a:t>
            </a:r>
            <a:r>
              <a:rPr lang="en-GB" dirty="0"/>
              <a:t> </a:t>
            </a:r>
            <a:r>
              <a:rPr lang="en-GB" dirty="0" err="1"/>
              <a:t>वाले</a:t>
            </a:r>
            <a:r>
              <a:rPr lang="en-GB" dirty="0"/>
              <a:t> </a:t>
            </a:r>
            <a:r>
              <a:rPr lang="en-GB" dirty="0" err="1"/>
              <a:t>शब्द</a:t>
            </a:r>
            <a:r>
              <a:rPr lang="en-GB" dirty="0"/>
              <a:t> </a:t>
            </a:r>
            <a:r>
              <a:rPr lang="en-GB" dirty="0" err="1"/>
              <a:t>ढूँढो</a:t>
            </a:r>
            <a:r>
              <a:rPr lang="en-GB" dirty="0"/>
              <a:t>।”</a:t>
            </a:r>
          </a:p>
          <a:p>
            <a:r>
              <a:rPr lang="en-GB" b="1" dirty="0"/>
              <a:t>Round 2 VO:</a:t>
            </a:r>
            <a:br>
              <a:rPr lang="en-GB" dirty="0"/>
            </a:br>
            <a:r>
              <a:rPr lang="en-GB" dirty="0"/>
              <a:t>“</a:t>
            </a:r>
            <a:r>
              <a:rPr lang="en-GB" dirty="0" err="1"/>
              <a:t>अब</a:t>
            </a:r>
            <a:r>
              <a:rPr lang="en-GB" dirty="0"/>
              <a:t> </a:t>
            </a:r>
            <a:r>
              <a:rPr lang="en-GB" dirty="0" err="1"/>
              <a:t>छोटी</a:t>
            </a:r>
            <a:r>
              <a:rPr lang="en-GB" dirty="0"/>
              <a:t> इ </a:t>
            </a:r>
            <a:r>
              <a:rPr lang="en-GB" dirty="0" err="1"/>
              <a:t>की</a:t>
            </a:r>
            <a:r>
              <a:rPr lang="en-GB" dirty="0"/>
              <a:t> </a:t>
            </a:r>
            <a:r>
              <a:rPr lang="en-GB" dirty="0" err="1"/>
              <a:t>मात्रा</a:t>
            </a:r>
            <a:r>
              <a:rPr lang="en-GB" dirty="0"/>
              <a:t> </a:t>
            </a:r>
            <a:r>
              <a:rPr lang="en-GB" dirty="0" err="1"/>
              <a:t>वाले</a:t>
            </a:r>
            <a:r>
              <a:rPr lang="en-GB" dirty="0"/>
              <a:t> </a:t>
            </a:r>
            <a:r>
              <a:rPr lang="en-GB" dirty="0" err="1"/>
              <a:t>शब्द</a:t>
            </a:r>
            <a:r>
              <a:rPr lang="en-GB" dirty="0"/>
              <a:t> </a:t>
            </a:r>
            <a:r>
              <a:rPr lang="en-GB" dirty="0" err="1"/>
              <a:t>ढूँढो</a:t>
            </a:r>
            <a:r>
              <a:rPr lang="en-GB" dirty="0"/>
              <a:t>।”</a:t>
            </a:r>
          </a:p>
          <a:p>
            <a:r>
              <a:rPr lang="en-GB" b="1" dirty="0"/>
              <a:t>Round 3 VO:</a:t>
            </a:r>
            <a:br>
              <a:rPr lang="en-GB" dirty="0"/>
            </a:br>
            <a:r>
              <a:rPr lang="en-GB" dirty="0"/>
              <a:t>“</a:t>
            </a:r>
            <a:r>
              <a:rPr lang="en-GB" dirty="0" err="1"/>
              <a:t>अब</a:t>
            </a:r>
            <a:r>
              <a:rPr lang="en-GB" dirty="0"/>
              <a:t> </a:t>
            </a:r>
            <a:r>
              <a:rPr lang="en-GB" dirty="0" err="1"/>
              <a:t>बड़ी</a:t>
            </a:r>
            <a:r>
              <a:rPr lang="en-GB" dirty="0"/>
              <a:t> ई </a:t>
            </a:r>
            <a:r>
              <a:rPr lang="en-GB" dirty="0" err="1"/>
              <a:t>की</a:t>
            </a:r>
            <a:r>
              <a:rPr lang="en-GB" dirty="0"/>
              <a:t> </a:t>
            </a:r>
            <a:r>
              <a:rPr lang="en-GB" dirty="0" err="1"/>
              <a:t>मात्रा</a:t>
            </a:r>
            <a:r>
              <a:rPr lang="en-GB" dirty="0"/>
              <a:t> </a:t>
            </a:r>
            <a:r>
              <a:rPr lang="en-GB" dirty="0" err="1"/>
              <a:t>वाले</a:t>
            </a:r>
            <a:r>
              <a:rPr lang="en-GB" dirty="0"/>
              <a:t> </a:t>
            </a:r>
            <a:r>
              <a:rPr lang="en-GB" dirty="0" err="1"/>
              <a:t>शब्द</a:t>
            </a:r>
            <a:r>
              <a:rPr lang="en-GB" dirty="0"/>
              <a:t> </a:t>
            </a:r>
            <a:r>
              <a:rPr lang="en-GB" dirty="0" err="1"/>
              <a:t>ढूँढो</a:t>
            </a:r>
            <a:r>
              <a:rPr lang="en-GB" dirty="0"/>
              <a:t>।”</a:t>
            </a:r>
          </a:p>
          <a:p>
            <a:r>
              <a:rPr lang="en-GB" b="1" dirty="0"/>
              <a:t>Target Words</a:t>
            </a:r>
          </a:p>
          <a:p>
            <a:r>
              <a:rPr lang="en-GB" dirty="0"/>
              <a:t>For </a:t>
            </a:r>
            <a:r>
              <a:rPr lang="en-GB" b="1" dirty="0"/>
              <a:t>आ </a:t>
            </a:r>
            <a:r>
              <a:rPr lang="en-GB" b="1" dirty="0" err="1"/>
              <a:t>की</a:t>
            </a:r>
            <a:r>
              <a:rPr lang="en-GB" b="1" dirty="0"/>
              <a:t> </a:t>
            </a:r>
            <a:r>
              <a:rPr lang="en-GB" b="1" dirty="0" err="1"/>
              <a:t>मात्रा</a:t>
            </a:r>
            <a:r>
              <a:rPr lang="en-GB" b="1" dirty="0"/>
              <a:t> (ा)</a:t>
            </a:r>
            <a:r>
              <a:rPr lang="en-GB" dirty="0"/>
              <a:t>:</a:t>
            </a:r>
          </a:p>
          <a:p>
            <a:pPr>
              <a:buFont typeface="Arial" panose="020B0604020202020204" pitchFamily="34" charset="0"/>
              <a:buChar char="•"/>
            </a:pPr>
            <a:r>
              <a:rPr lang="en-GB" dirty="0" err="1"/>
              <a:t>लाया</a:t>
            </a:r>
            <a:r>
              <a:rPr lang="en-GB" dirty="0"/>
              <a:t> </a:t>
            </a:r>
          </a:p>
          <a:p>
            <a:pPr>
              <a:buFont typeface="Arial" panose="020B0604020202020204" pitchFamily="34" charset="0"/>
              <a:buChar char="•"/>
            </a:pPr>
            <a:r>
              <a:rPr lang="en-GB" dirty="0" err="1"/>
              <a:t>लाल</a:t>
            </a:r>
            <a:r>
              <a:rPr lang="en-GB" dirty="0"/>
              <a:t> </a:t>
            </a:r>
          </a:p>
          <a:p>
            <a:r>
              <a:rPr lang="en-GB" dirty="0"/>
              <a:t>For </a:t>
            </a:r>
            <a:r>
              <a:rPr lang="en-GB" b="1" dirty="0" err="1"/>
              <a:t>छोटी</a:t>
            </a:r>
            <a:r>
              <a:rPr lang="en-GB" b="1" dirty="0"/>
              <a:t> इ </a:t>
            </a:r>
            <a:r>
              <a:rPr lang="en-GB" b="1" dirty="0" err="1"/>
              <a:t>की</a:t>
            </a:r>
            <a:r>
              <a:rPr lang="en-GB" b="1" dirty="0"/>
              <a:t> </a:t>
            </a:r>
            <a:r>
              <a:rPr lang="en-GB" b="1" dirty="0" err="1"/>
              <a:t>मात्रा</a:t>
            </a:r>
            <a:r>
              <a:rPr lang="en-GB" b="1" dirty="0"/>
              <a:t> (ि)</a:t>
            </a:r>
            <a:r>
              <a:rPr lang="en-GB" dirty="0"/>
              <a:t>:</a:t>
            </a:r>
          </a:p>
          <a:p>
            <a:pPr>
              <a:buFont typeface="Arial" panose="020B0604020202020204" pitchFamily="34" charset="0"/>
              <a:buChar char="•"/>
            </a:pPr>
            <a:r>
              <a:rPr lang="en-GB" dirty="0" err="1"/>
              <a:t>रवि</a:t>
            </a:r>
            <a:r>
              <a:rPr lang="en-GB" dirty="0"/>
              <a:t> </a:t>
            </a:r>
          </a:p>
          <a:p>
            <a:pPr>
              <a:buFont typeface="Arial" panose="020B0604020202020204" pitchFamily="34" charset="0"/>
              <a:buChar char="•"/>
            </a:pPr>
            <a:r>
              <a:rPr lang="en-GB" dirty="0" err="1"/>
              <a:t>दिन</a:t>
            </a:r>
            <a:r>
              <a:rPr lang="en-GB" dirty="0"/>
              <a:t> </a:t>
            </a:r>
          </a:p>
          <a:p>
            <a:pPr>
              <a:buFont typeface="Arial" panose="020B0604020202020204" pitchFamily="34" charset="0"/>
              <a:buChar char="•"/>
            </a:pPr>
            <a:r>
              <a:rPr lang="en-GB" dirty="0" err="1"/>
              <a:t>किरण</a:t>
            </a:r>
            <a:r>
              <a:rPr lang="en-GB" dirty="0"/>
              <a:t> </a:t>
            </a:r>
          </a:p>
          <a:p>
            <a:r>
              <a:rPr lang="en-GB" dirty="0"/>
              <a:t>For </a:t>
            </a:r>
            <a:r>
              <a:rPr lang="en-GB" b="1" dirty="0" err="1"/>
              <a:t>बड़ी</a:t>
            </a:r>
            <a:r>
              <a:rPr lang="en-GB" b="1" dirty="0"/>
              <a:t> ई </a:t>
            </a:r>
            <a:r>
              <a:rPr lang="en-GB" b="1" dirty="0" err="1"/>
              <a:t>की</a:t>
            </a:r>
            <a:r>
              <a:rPr lang="en-GB" b="1" dirty="0"/>
              <a:t> </a:t>
            </a:r>
            <a:r>
              <a:rPr lang="en-GB" b="1" dirty="0" err="1"/>
              <a:t>मात्रा</a:t>
            </a:r>
            <a:r>
              <a:rPr lang="en-GB" b="1" dirty="0"/>
              <a:t> (ी)</a:t>
            </a:r>
            <a:r>
              <a:rPr lang="en-GB" dirty="0"/>
              <a:t>:</a:t>
            </a:r>
          </a:p>
          <a:p>
            <a:pPr>
              <a:buFont typeface="Arial" panose="020B0604020202020204" pitchFamily="34" charset="0"/>
              <a:buChar char="•"/>
            </a:pPr>
            <a:r>
              <a:rPr lang="en-GB" dirty="0" err="1"/>
              <a:t>नीम</a:t>
            </a:r>
            <a:r>
              <a:rPr lang="en-GB" dirty="0"/>
              <a:t> </a:t>
            </a:r>
          </a:p>
          <a:p>
            <a:pPr>
              <a:buFont typeface="Arial" panose="020B0604020202020204" pitchFamily="34" charset="0"/>
              <a:buChar char="•"/>
            </a:pPr>
            <a:r>
              <a:rPr lang="en-GB" dirty="0" err="1"/>
              <a:t>मीना</a:t>
            </a:r>
            <a:r>
              <a:rPr lang="en-GB" dirty="0"/>
              <a:t> </a:t>
            </a:r>
          </a:p>
          <a:p>
            <a:r>
              <a:rPr lang="en-GB" b="1" dirty="0"/>
              <a:t>Magnifying Glass Interaction</a:t>
            </a:r>
          </a:p>
          <a:p>
            <a:pPr>
              <a:buFont typeface="Arial" panose="020B0604020202020204" pitchFamily="34" charset="0"/>
              <a:buChar char="•"/>
            </a:pPr>
            <a:r>
              <a:rPr lang="en-GB" dirty="0"/>
              <a:t>A large magnifying glass appears at the bottom-right. </a:t>
            </a:r>
          </a:p>
          <a:p>
            <a:pPr>
              <a:buFont typeface="Arial" panose="020B0604020202020204" pitchFamily="34" charset="0"/>
              <a:buChar char="•"/>
            </a:pPr>
            <a:r>
              <a:rPr lang="en-GB" dirty="0"/>
              <a:t>Child drags the magnifying glass over the poem. </a:t>
            </a:r>
          </a:p>
          <a:p>
            <a:pPr>
              <a:buFont typeface="Arial" panose="020B0604020202020204" pitchFamily="34" charset="0"/>
              <a:buChar char="•"/>
            </a:pPr>
            <a:r>
              <a:rPr lang="en-GB" dirty="0"/>
              <a:t>Any word under the glass slightly enlarges. </a:t>
            </a:r>
          </a:p>
          <a:p>
            <a:pPr>
              <a:buFont typeface="Arial" panose="020B0604020202020204" pitchFamily="34" charset="0"/>
              <a:buChar char="•"/>
            </a:pPr>
            <a:r>
              <a:rPr lang="en-GB" dirty="0"/>
              <a:t>Child taps/selects the word through the magnifying glass. </a:t>
            </a:r>
          </a:p>
          <a:p>
            <a:pPr>
              <a:buFont typeface="Arial" panose="020B0604020202020204" pitchFamily="34" charset="0"/>
              <a:buChar char="•"/>
            </a:pPr>
            <a:r>
              <a:rPr lang="en-GB" dirty="0"/>
              <a:t>Correct words remain highlighted. </a:t>
            </a:r>
          </a:p>
          <a:p>
            <a:r>
              <a:rPr lang="en-GB" b="1" dirty="0"/>
              <a:t>Ghost Animation</a:t>
            </a:r>
          </a:p>
          <a:p>
            <a:r>
              <a:rPr lang="en-GB" dirty="0"/>
              <a:t>Use a small friendly </a:t>
            </a:r>
            <a:r>
              <a:rPr lang="en-GB" b="1" dirty="0"/>
              <a:t>ghost character/effect as a search guide</a:t>
            </a:r>
            <a:r>
              <a:rPr lang="en-GB" dirty="0"/>
              <a:t>, not as decoration.</a:t>
            </a:r>
          </a:p>
          <a:p>
            <a:r>
              <a:rPr lang="en-GB" b="1" dirty="0"/>
              <a:t>Entry animation:</a:t>
            </a:r>
            <a:endParaRPr lang="en-GB" dirty="0"/>
          </a:p>
          <a:p>
            <a:pPr>
              <a:buFont typeface="Arial" panose="020B0604020202020204" pitchFamily="34" charset="0"/>
              <a:buChar char="•"/>
            </a:pPr>
            <a:r>
              <a:rPr lang="en-GB" dirty="0"/>
              <a:t>When the activity begins, a small ghost floats in from one side. </a:t>
            </a:r>
          </a:p>
          <a:p>
            <a:pPr>
              <a:buFont typeface="Arial" panose="020B0604020202020204" pitchFamily="34" charset="0"/>
              <a:buChar char="•"/>
            </a:pPr>
            <a:r>
              <a:rPr lang="en-GB" dirty="0"/>
              <a:t>It briefly circles around the magnifying glass. </a:t>
            </a:r>
          </a:p>
          <a:p>
            <a:pPr>
              <a:buFont typeface="Arial" panose="020B0604020202020204" pitchFamily="34" charset="0"/>
              <a:buChar char="•"/>
            </a:pPr>
            <a:r>
              <a:rPr lang="en-GB" dirty="0"/>
              <a:t>Then it fades slightly or moves to a corner. </a:t>
            </a:r>
          </a:p>
          <a:p>
            <a:r>
              <a:rPr lang="en-GB" b="1" dirty="0"/>
              <a:t>During search:</a:t>
            </a:r>
            <a:endParaRPr lang="en-GB" dirty="0"/>
          </a:p>
          <a:p>
            <a:pPr>
              <a:buFont typeface="Arial" panose="020B0604020202020204" pitchFamily="34" charset="0"/>
              <a:buChar char="•"/>
            </a:pPr>
            <a:r>
              <a:rPr lang="en-GB" dirty="0"/>
              <a:t>If the child is idle for a few seconds, the ghost appears near the magnifying glass and gently moves toward the poem. </a:t>
            </a:r>
          </a:p>
          <a:p>
            <a:pPr>
              <a:buFont typeface="Arial" panose="020B0604020202020204" pitchFamily="34" charset="0"/>
              <a:buChar char="•"/>
            </a:pPr>
            <a:r>
              <a:rPr lang="en-GB" dirty="0"/>
              <a:t>This works as a visual cue: “start searching”. </a:t>
            </a:r>
          </a:p>
          <a:p>
            <a:r>
              <a:rPr lang="en-GB" b="1" dirty="0"/>
              <a:t>On correct answer:</a:t>
            </a:r>
            <a:endParaRPr lang="en-GB" dirty="0"/>
          </a:p>
          <a:p>
            <a:pPr>
              <a:buFont typeface="Arial" panose="020B0604020202020204" pitchFamily="34" charset="0"/>
              <a:buChar char="•"/>
            </a:pPr>
            <a:r>
              <a:rPr lang="en-GB" dirty="0"/>
              <a:t>Ghost pops up happily near the correct word. </a:t>
            </a:r>
          </a:p>
          <a:p>
            <a:pPr>
              <a:buFont typeface="Arial" panose="020B0604020202020204" pitchFamily="34" charset="0"/>
              <a:buChar char="•"/>
            </a:pPr>
            <a:r>
              <a:rPr lang="en-GB" dirty="0"/>
              <a:t>Small sparkle appears. </a:t>
            </a:r>
          </a:p>
          <a:p>
            <a:pPr>
              <a:buFont typeface="Arial" panose="020B0604020202020204" pitchFamily="34" charset="0"/>
              <a:buChar char="•"/>
            </a:pPr>
            <a:r>
              <a:rPr lang="en-GB" dirty="0"/>
              <a:t>Ghost can do a short happy bounce and disappear. </a:t>
            </a:r>
          </a:p>
          <a:p>
            <a:pPr>
              <a:buFont typeface="Arial" panose="020B0604020202020204" pitchFamily="34" charset="0"/>
              <a:buChar char="•"/>
            </a:pPr>
            <a:r>
              <a:rPr lang="en-GB" dirty="0"/>
              <a:t>VO: </a:t>
            </a:r>
            <a:r>
              <a:rPr lang="en-GB" b="1" dirty="0"/>
              <a:t>“</a:t>
            </a:r>
            <a:r>
              <a:rPr lang="en-GB" b="1" dirty="0" err="1"/>
              <a:t>शाबाश</a:t>
            </a:r>
            <a:r>
              <a:rPr lang="en-GB" b="1" dirty="0"/>
              <a:t>!”</a:t>
            </a:r>
            <a:r>
              <a:rPr lang="en-GB" dirty="0"/>
              <a:t> </a:t>
            </a:r>
          </a:p>
          <a:p>
            <a:r>
              <a:rPr lang="en-GB" b="1" dirty="0"/>
              <a:t>On 1st wrong attempt:</a:t>
            </a:r>
            <a:endParaRPr lang="en-GB" dirty="0"/>
          </a:p>
          <a:p>
            <a:pPr>
              <a:buFont typeface="Arial" panose="020B0604020202020204" pitchFamily="34" charset="0"/>
              <a:buChar char="•"/>
            </a:pPr>
            <a:r>
              <a:rPr lang="en-GB" dirty="0"/>
              <a:t>Wrong word gives a small </a:t>
            </a:r>
            <a:r>
              <a:rPr lang="en-GB" b="1" dirty="0"/>
              <a:t>wiggle/shake</a:t>
            </a:r>
            <a:r>
              <a:rPr lang="en-GB" dirty="0"/>
              <a:t>. </a:t>
            </a:r>
          </a:p>
          <a:p>
            <a:pPr>
              <a:buFont typeface="Arial" panose="020B0604020202020204" pitchFamily="34" charset="0"/>
              <a:buChar char="•"/>
            </a:pPr>
            <a:r>
              <a:rPr lang="en-GB" dirty="0"/>
              <a:t>Ghost briefly appears with a thinking expression. </a:t>
            </a:r>
          </a:p>
          <a:p>
            <a:pPr>
              <a:buFont typeface="Arial" panose="020B0604020202020204" pitchFamily="34" charset="0"/>
              <a:buChar char="•"/>
            </a:pPr>
            <a:r>
              <a:rPr lang="en-GB" dirty="0"/>
              <a:t>No hand nudge. </a:t>
            </a:r>
          </a:p>
          <a:p>
            <a:pPr>
              <a:buFont typeface="Arial" panose="020B0604020202020204" pitchFamily="34" charset="0"/>
              <a:buChar char="•"/>
            </a:pPr>
            <a:r>
              <a:rPr lang="en-GB" dirty="0"/>
              <a:t>VO: </a:t>
            </a:r>
            <a:r>
              <a:rPr lang="en-GB" b="1" dirty="0"/>
              <a:t>“</a:t>
            </a:r>
            <a:r>
              <a:rPr lang="en-GB" b="1" dirty="0" err="1"/>
              <a:t>फिर</a:t>
            </a:r>
            <a:r>
              <a:rPr lang="en-GB" b="1" dirty="0"/>
              <a:t> </a:t>
            </a:r>
            <a:r>
              <a:rPr lang="en-GB" b="1" dirty="0" err="1"/>
              <a:t>से</a:t>
            </a:r>
            <a:r>
              <a:rPr lang="en-GB" b="1" dirty="0"/>
              <a:t> </a:t>
            </a:r>
            <a:r>
              <a:rPr lang="en-GB" b="1" dirty="0" err="1"/>
              <a:t>देखो</a:t>
            </a:r>
            <a:r>
              <a:rPr lang="en-GB" b="1" dirty="0"/>
              <a:t>।”</a:t>
            </a:r>
            <a:r>
              <a:rPr lang="en-GB" dirty="0"/>
              <a:t> </a:t>
            </a:r>
          </a:p>
          <a:p>
            <a:r>
              <a:rPr lang="en-GB" b="1" dirty="0"/>
              <a:t>On 2nd wrong attempt:</a:t>
            </a:r>
            <a:endParaRPr lang="en-GB" dirty="0"/>
          </a:p>
          <a:p>
            <a:pPr>
              <a:buFont typeface="Arial" panose="020B0604020202020204" pitchFamily="34" charset="0"/>
              <a:buChar char="•"/>
            </a:pPr>
            <a:r>
              <a:rPr lang="en-GB" dirty="0"/>
              <a:t>Wrong word shakes again. </a:t>
            </a:r>
          </a:p>
          <a:p>
            <a:pPr>
              <a:buFont typeface="Arial" panose="020B0604020202020204" pitchFamily="34" charset="0"/>
              <a:buChar char="•"/>
            </a:pPr>
            <a:r>
              <a:rPr lang="en-GB" dirty="0"/>
              <a:t>Ghost floats toward one correct target word. </a:t>
            </a:r>
          </a:p>
          <a:p>
            <a:pPr>
              <a:buFont typeface="Arial" panose="020B0604020202020204" pitchFamily="34" charset="0"/>
              <a:buChar char="•"/>
            </a:pPr>
            <a:r>
              <a:rPr lang="en-GB" dirty="0"/>
              <a:t>It gently points/pulses near that word. </a:t>
            </a:r>
          </a:p>
          <a:p>
            <a:pPr>
              <a:buFont typeface="Arial" panose="020B0604020202020204" pitchFamily="34" charset="0"/>
              <a:buChar char="•"/>
            </a:pPr>
            <a:r>
              <a:rPr lang="en-GB" dirty="0"/>
              <a:t>This acts as the hint instead of adding extra text. </a:t>
            </a:r>
          </a:p>
          <a:p>
            <a:pPr>
              <a:buFont typeface="Arial" panose="020B0604020202020204" pitchFamily="34" charset="0"/>
              <a:buChar char="•"/>
            </a:pPr>
            <a:r>
              <a:rPr lang="en-GB" dirty="0"/>
              <a:t>VO: </a:t>
            </a:r>
            <a:r>
              <a:rPr lang="en-GB" b="1" dirty="0"/>
              <a:t>“</a:t>
            </a:r>
            <a:r>
              <a:rPr lang="en-GB" b="1" dirty="0" err="1"/>
              <a:t>ध्यान</a:t>
            </a:r>
            <a:r>
              <a:rPr lang="en-GB" b="1" dirty="0"/>
              <a:t> </a:t>
            </a:r>
            <a:r>
              <a:rPr lang="en-GB" b="1" dirty="0" err="1"/>
              <a:t>से</a:t>
            </a:r>
            <a:r>
              <a:rPr lang="en-GB" b="1" dirty="0"/>
              <a:t> </a:t>
            </a:r>
            <a:r>
              <a:rPr lang="en-GB" b="1" dirty="0" err="1"/>
              <a:t>मात्रा</a:t>
            </a:r>
            <a:r>
              <a:rPr lang="en-GB" b="1" dirty="0"/>
              <a:t> </a:t>
            </a:r>
            <a:r>
              <a:rPr lang="en-GB" b="1" dirty="0" err="1"/>
              <a:t>पहचानो</a:t>
            </a:r>
            <a:r>
              <a:rPr lang="en-GB" b="1" dirty="0"/>
              <a:t>।”</a:t>
            </a:r>
            <a:r>
              <a:rPr lang="en-GB" dirty="0"/>
              <a:t> </a:t>
            </a:r>
          </a:p>
          <a:p>
            <a:r>
              <a:rPr lang="en-GB" b="1" dirty="0"/>
              <a:t>Round Completion</a:t>
            </a:r>
          </a:p>
          <a:p>
            <a:r>
              <a:rPr lang="en-GB" dirty="0"/>
              <a:t>When all target words for one </a:t>
            </a:r>
            <a:r>
              <a:rPr lang="en-GB" dirty="0" err="1"/>
              <a:t>matra</a:t>
            </a:r>
            <a:r>
              <a:rPr lang="en-GB" dirty="0"/>
              <a:t> are found:</a:t>
            </a:r>
          </a:p>
          <a:p>
            <a:pPr>
              <a:buFont typeface="Arial" panose="020B0604020202020204" pitchFamily="34" charset="0"/>
              <a:buChar char="•"/>
            </a:pPr>
            <a:r>
              <a:rPr lang="en-GB" dirty="0"/>
              <a:t>Correct words glow together. </a:t>
            </a:r>
          </a:p>
          <a:p>
            <a:pPr>
              <a:buFont typeface="Arial" panose="020B0604020202020204" pitchFamily="34" charset="0"/>
              <a:buChar char="•"/>
            </a:pPr>
            <a:r>
              <a:rPr lang="en-GB" dirty="0"/>
              <a:t>Ghost flies across the selected words with a sparkle trail. </a:t>
            </a:r>
          </a:p>
          <a:p>
            <a:pPr>
              <a:buFont typeface="Arial" panose="020B0604020202020204" pitchFamily="34" charset="0"/>
              <a:buChar char="•"/>
            </a:pPr>
            <a:r>
              <a:rPr lang="en-GB" dirty="0"/>
              <a:t>Soft success chime plays. </a:t>
            </a:r>
          </a:p>
          <a:p>
            <a:pPr>
              <a:buFont typeface="Arial" panose="020B0604020202020204" pitchFamily="34" charset="0"/>
              <a:buChar char="•"/>
            </a:pPr>
            <a:r>
              <a:rPr lang="en-GB" dirty="0"/>
              <a:t>Next target VO starts automatically. </a:t>
            </a:r>
          </a:p>
          <a:p>
            <a:r>
              <a:rPr lang="en-GB" b="1" dirty="0"/>
              <a:t>Final Completion</a:t>
            </a:r>
          </a:p>
          <a:p>
            <a:r>
              <a:rPr lang="en-GB" dirty="0"/>
              <a:t>After all three </a:t>
            </a:r>
            <a:r>
              <a:rPr lang="en-GB" dirty="0" err="1"/>
              <a:t>matra</a:t>
            </a:r>
            <a:r>
              <a:rPr lang="en-GB" dirty="0"/>
              <a:t> rounds:</a:t>
            </a:r>
          </a:p>
          <a:p>
            <a:pPr>
              <a:buFont typeface="Arial" panose="020B0604020202020204" pitchFamily="34" charset="0"/>
              <a:buChar char="•"/>
            </a:pPr>
            <a:r>
              <a:rPr lang="en-GB" dirty="0"/>
              <a:t>All correct words stay highlighted. </a:t>
            </a:r>
          </a:p>
          <a:p>
            <a:pPr>
              <a:buFont typeface="Arial" panose="020B0604020202020204" pitchFamily="34" charset="0"/>
              <a:buChar char="•"/>
            </a:pPr>
            <a:r>
              <a:rPr lang="en-GB" dirty="0"/>
              <a:t>Ghost appears once in the centre, celebrates with a small spin/sparkle. </a:t>
            </a:r>
          </a:p>
          <a:p>
            <a:pPr>
              <a:buFont typeface="Arial" panose="020B0604020202020204" pitchFamily="34" charset="0"/>
              <a:buChar char="•"/>
            </a:pPr>
            <a:r>
              <a:rPr lang="en-GB" dirty="0"/>
              <a:t>Magnifying glass gives a final glow. </a:t>
            </a:r>
          </a:p>
          <a:p>
            <a:pPr>
              <a:buFont typeface="Arial" panose="020B0604020202020204" pitchFamily="34" charset="0"/>
              <a:buChar char="•"/>
            </a:pPr>
            <a:r>
              <a:rPr lang="en-GB" b="1" dirty="0"/>
              <a:t>Next button becomes active.</a:t>
            </a:r>
            <a:r>
              <a:rPr lang="en-GB" dirty="0"/>
              <a:t> </a:t>
            </a:r>
          </a:p>
          <a:p>
            <a:r>
              <a:rPr lang="en-GB" b="1" dirty="0"/>
              <a:t>Animation</a:t>
            </a:r>
          </a:p>
          <a:p>
            <a:pPr>
              <a:buFont typeface="Arial" panose="020B0604020202020204" pitchFamily="34" charset="0"/>
              <a:buChar char="•"/>
            </a:pPr>
            <a:r>
              <a:rPr lang="en-GB" dirty="0"/>
              <a:t>Poem card fades in first. </a:t>
            </a:r>
          </a:p>
          <a:p>
            <a:pPr>
              <a:buFont typeface="Arial" panose="020B0604020202020204" pitchFamily="34" charset="0"/>
              <a:buChar char="•"/>
            </a:pPr>
            <a:r>
              <a:rPr lang="en-GB" dirty="0"/>
              <a:t>Magnifying glass slides in from the bottom. </a:t>
            </a:r>
          </a:p>
          <a:p>
            <a:pPr>
              <a:buFont typeface="Arial" panose="020B0604020202020204" pitchFamily="34" charset="0"/>
              <a:buChar char="•"/>
            </a:pPr>
            <a:r>
              <a:rPr lang="en-GB" dirty="0"/>
              <a:t>Ghost enters after the magnifying glass. </a:t>
            </a:r>
          </a:p>
          <a:p>
            <a:pPr>
              <a:buFont typeface="Arial" panose="020B0604020202020204" pitchFamily="34" charset="0"/>
              <a:buChar char="•"/>
            </a:pPr>
            <a:r>
              <a:rPr lang="en-GB" dirty="0"/>
              <a:t>Keep ghost motion slow and soft, not distracting. </a:t>
            </a:r>
          </a:p>
          <a:p>
            <a:pPr>
              <a:buFont typeface="Arial" panose="020B0604020202020204" pitchFamily="34" charset="0"/>
              <a:buChar char="•"/>
            </a:pPr>
            <a:r>
              <a:rPr lang="en-GB" dirty="0"/>
              <a:t>Do not keep ghost constantly moving on screen. </a:t>
            </a:r>
          </a:p>
          <a:p>
            <a:r>
              <a:rPr lang="en-GB" b="1" dirty="0"/>
              <a:t>UI/UX Note</a:t>
            </a:r>
          </a:p>
          <a:p>
            <a:r>
              <a:rPr lang="en-GB" dirty="0"/>
              <a:t>Keep the screen minimal:</a:t>
            </a:r>
          </a:p>
          <a:p>
            <a:pPr>
              <a:buFont typeface="Arial" panose="020B0604020202020204" pitchFamily="34" charset="0"/>
              <a:buChar char="•"/>
            </a:pPr>
            <a:r>
              <a:rPr lang="en-GB" dirty="0"/>
              <a:t>plain/light background </a:t>
            </a:r>
          </a:p>
          <a:p>
            <a:pPr>
              <a:buFont typeface="Arial" panose="020B0604020202020204" pitchFamily="34" charset="0"/>
              <a:buChar char="•"/>
            </a:pPr>
            <a:r>
              <a:rPr lang="en-GB" dirty="0"/>
              <a:t>central poem card </a:t>
            </a:r>
          </a:p>
          <a:p>
            <a:pPr>
              <a:buFont typeface="Arial" panose="020B0604020202020204" pitchFamily="34" charset="0"/>
              <a:buChar char="•"/>
            </a:pPr>
            <a:r>
              <a:rPr lang="en-GB" dirty="0"/>
              <a:t>magnifying glass </a:t>
            </a:r>
          </a:p>
          <a:p>
            <a:pPr>
              <a:buFont typeface="Arial" panose="020B0604020202020204" pitchFamily="34" charset="0"/>
              <a:buChar char="•"/>
            </a:pPr>
            <a:r>
              <a:rPr lang="en-GB" dirty="0"/>
              <a:t>small ghost </a:t>
            </a:r>
          </a:p>
          <a:p>
            <a:pPr>
              <a:buFont typeface="Arial" panose="020B0604020202020204" pitchFamily="34" charset="0"/>
              <a:buChar char="•"/>
            </a:pPr>
            <a:r>
              <a:rPr lang="en-GB" dirty="0"/>
              <a:t>mascot/audio button if required </a:t>
            </a:r>
          </a:p>
          <a:p>
            <a:pPr>
              <a:buFont typeface="Arial" panose="020B0604020202020204" pitchFamily="34" charset="0"/>
              <a:buChar char="•"/>
            </a:pPr>
            <a:r>
              <a:rPr lang="en-GB" dirty="0"/>
              <a:t>next button </a:t>
            </a:r>
          </a:p>
          <a:p>
            <a:r>
              <a:rPr lang="en-GB" dirty="0"/>
              <a:t>Remove the large scenic illustrations. The main learning focus should be:</a:t>
            </a:r>
          </a:p>
          <a:p>
            <a:r>
              <a:rPr lang="en-GB" b="1" dirty="0"/>
              <a:t>VO target → scan poem → find correct word → tap → highlight</a:t>
            </a:r>
            <a:endParaRPr lang="en-GB" dirty="0"/>
          </a:p>
          <a:p>
            <a:endParaRPr lang="en-GB" dirty="0"/>
          </a:p>
        </p:txBody>
      </p:sp>
      <p:sp>
        <p:nvSpPr>
          <p:cNvPr id="4" name="Slide Number Placeholder 3"/>
          <p:cNvSpPr>
            <a:spLocks noGrp="1"/>
          </p:cNvSpPr>
          <p:nvPr>
            <p:ph type="sldNum" sz="quarter" idx="5"/>
          </p:nvPr>
        </p:nvSpPr>
        <p:spPr/>
        <p:txBody>
          <a:bodyPr/>
          <a:lstStyle/>
          <a:p>
            <a:fld id="{2E8D0E46-8C9D-41DC-B81C-31859D5EE714}" type="slidenum">
              <a:rPr lang="en-IN" smtClean="0"/>
              <a:t>18</a:t>
            </a:fld>
            <a:endParaRPr lang="en-IN"/>
          </a:p>
        </p:txBody>
      </p:sp>
    </p:spTree>
    <p:extLst>
      <p:ext uri="{BB962C8B-B14F-4D97-AF65-F5344CB8AC3E}">
        <p14:creationId xmlns:p14="http://schemas.microsoft.com/office/powerpoint/2010/main" val="4237404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377440"/>
            <a:ext cx="10728655" cy="2011680"/>
          </a:xfrm>
          <a:prstGeom prst="rect">
            <a:avLst/>
          </a:prstGeom>
          <a:noFill/>
        </p:spPr>
        <p:txBody>
          <a:bodyPr wrap="square">
            <a:spAutoFit/>
          </a:bodyPr>
          <a:lstStyle/>
          <a:p>
            <a:pPr algn="ctr"/>
            <a:r>
              <a:rPr sz="4000" b="1">
                <a:solidFill>
                  <a:srgbClr val="0B3D8C"/>
                </a:solidFill>
              </a:rPr>
              <a:t>HI02H11_L02_S01 — आ, इ और ई की मात्रा · SME review</a:t>
            </a:r>
          </a:p>
          <a:p>
            <a:pPr algn="ctr"/>
            <a:r>
              <a:rPr sz="1800">
                <a:solidFill>
                  <a:srgbClr val="5A6678"/>
                </a:solidFill>
              </a:rPr>
              <a:t>Page-by-page review · 20 pages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7200"/>
            <a:ext cx="10911535" cy="822960"/>
          </a:xfrm>
          <a:prstGeom prst="rect">
            <a:avLst/>
          </a:prstGeom>
          <a:noFill/>
        </p:spPr>
        <p:txBody>
          <a:bodyPr wrap="none">
            <a:spAutoFit/>
          </a:bodyPr>
          <a:lstStyle/>
          <a:p>
            <a:r>
              <a:rPr sz="2800" b="1">
                <a:solidFill>
                  <a:srgbClr val="0B3D8C"/>
                </a:solidFill>
              </a:rPr>
              <a:t>Overall recommendations &amp; open questions</a:t>
            </a:r>
          </a:p>
        </p:txBody>
      </p:sp>
      <p:sp>
        <p:nvSpPr>
          <p:cNvPr id="3" name="TextBox 2"/>
          <p:cNvSpPr txBox="1"/>
          <p:nvPr/>
        </p:nvSpPr>
        <p:spPr>
          <a:xfrm>
            <a:off x="822960" y="1463040"/>
            <a:ext cx="10545775" cy="4937760"/>
          </a:xfrm>
          <a:prstGeom prst="rect">
            <a:avLst/>
          </a:prstGeom>
          <a:noFill/>
        </p:spPr>
        <p:txBody>
          <a:bodyPr wrap="square">
            <a:spAutoFit/>
          </a:bodyPr>
          <a:lstStyle/>
          <a:p>
            <a:pPr>
              <a:spcAft>
                <a:spcPts val="800"/>
              </a:spcAft>
            </a:pPr>
            <a:r>
              <a:rPr sz="1700">
                <a:solidFill>
                  <a:srgbClr val="1B2A44"/>
                </a:solidFill>
              </a:rPr>
              <a:t>• WHAT THIS IS. Your 14-screen design for HI02H11_L02_S01, built: 19 slides (4 teach / 6 guided / 9 practice), all 13 illustrations generated, all 95 voice clips generated, walked page by page. Asset receipt is 0 FAIL / 0 WARN. Every screen you specified is present, and your final check is your exact set — राम, पिन, सीप, बाल, first-try scored.</a:t>
            </a:r>
          </a:p>
          <a:p>
            <a:pPr>
              <a:spcAft>
                <a:spcPts val="800"/>
              </a:spcAft>
            </a:pPr>
            <a:r>
              <a:rPr sz="1700">
                <a:solidFill>
                  <a:srgbClr val="1B2A44"/>
                </a:solidFill>
              </a:rPr>
              <a:t>• YOUR HINT LADDER IS AUTHORED VERBATIM, on every pick slide: first wrong → «फिर से सुनो, दिन।», second wrong → «दि-न। 'दि' में कौन-सी मात्रा सुनाई दे रही है?», then reveal. The only change is a comma where you wrote a dash, and that is a synthesis fix, not an edit — see the punctuation note below.</a:t>
            </a:r>
          </a:p>
          <a:p>
            <a:pPr>
              <a:spcAft>
                <a:spcPts val="800"/>
              </a:spcAft>
            </a:pPr>
            <a:r>
              <a:rPr sz="1700">
                <a:solidFill>
                  <a:srgbClr val="1B2A44"/>
                </a:solidFill>
              </a:rPr>
              <a:t>• THE MATRA HIGHLIGHT: TWO OF YOUR THREE WORK IN-WORD. You asked for the matra alone to be highlighted inside the word. ा (नाक) and ी (तीर) now colour RED INSIDE THE WORD — ी only because I added it to the engine's list in this game's own engine copy; it was missing, not impossible. ि (दिन) CANNOT: it is a reordering matra, drawn before the consonant it follows, so the engine's pixel-column highlight lands on part of the द. I built it, rendered it, saw the red on the wrong glyph, and reverted. ि uses the engine's «इस शब्द की मात्रा — ◌ि» callout instead, and the demo hand points at that and speaks the matra. I would rather tell you than show a child the wrong shape as «the matra».</a:t>
            </a:r>
          </a:p>
          <a:p>
            <a:pPr>
              <a:spcAft>
                <a:spcPts val="800"/>
              </a:spcAft>
            </a:pPr>
            <a:r>
              <a:rPr sz="1700">
                <a:solidFill>
                  <a:srgbClr val="1B2A44"/>
                </a:solidFill>
              </a:rPr>
              <a:t>• THREE THINGS IN YOUR BRIEF THE ENGINE CANNOT DO, AND WHAT I DID INSTEAD — none of them faked. (1) Screens 1-3's «क + ा = का» BUILD BEAT: the module that taps an akshara to hear its sound cannot be voiced at all — a bare akshara is refused by the TTS model (क, न, द, त all HTTP 400) and carrier forms work for some letters and not others, so it would ship silent tiles on some and spoken ones on others. The beat is now SPOKEN at the top of each word slide, so «न के साथ बड़ी आ की मात्रा लगी, तो बना ना» lands immediately before नाक. (2) Screens 5-7's DRAG-A-MATRA-INTO-«न _ क»: no module renders a word with a matra slot — I checked all 59 in this engine and every module in the reference engines. Built as the choice half (नाक · निक · नक) plus the sorts and drags for the produce half. (3) Screen 12's TAP THE MATRA INSIDE THE WORD: needs the word split into tappable parts; nothing does that for a matra. Page 13 is one tap away — the word read with no picture at all. If you want the literal drag-into-blank, that is a new engine module (MATRA_FILL) and a dev ask — say so and I will write it up instead of keeping the substitution.</a:t>
            </a:r>
          </a:p>
          <a:p>
            <a:pPr>
              <a:spcAft>
                <a:spcPts val="800"/>
              </a:spcAft>
            </a:pPr>
            <a:r>
              <a:rPr sz="1700">
                <a:solidFill>
                  <a:srgbClr val="1B2A44"/>
                </a:solidFill>
              </a:rPr>
              <a:t>• EVERY WRONG OPTION IS ONE OF YOUR TWO NAMED MISCONCEPTIONS, never a random word. Each pick offers the real word, the ि/ी POSITION SWAP, and the DROPPED MATRA — नाक · निक · नक; दिन · दीन · दन; सीप · सिप · सप. So a wrong tap is diagnostic: it tells us which error the child made rather than just that they missed. This shape is copied from your Grade 1 sibling HI01H11_L03_S02 (चीनी · चिनि · चनन), which is already signed off.</a:t>
            </a:r>
          </a:p>
          <a:p>
            <a:pPr>
              <a:spcAft>
                <a:spcPts val="800"/>
              </a:spcAft>
            </a:pPr>
            <a:r>
              <a:rPr sz="1700">
                <a:solidFill>
                  <a:srgbClr val="1B2A44"/>
                </a:solidFill>
              </a:rPr>
              <a:t>• PLEASE CHECK 1 — PUNCTUATION TURNED OUT TO BE LOAD-BEARING, and it changed your text by one character. «फिर से सुनो — दिन।» with an em-dash SYNTHESISES TRUNCATED: measured 0.69-1.29 s across four takes for a line that cannot be said in under about 1.5 s. I probed the three punctuations head to head on the same words — em-dash 0.73-1.05 s, comma 1.53-2.21 s, danda 1.13-2.01 s. Every short line now uses a comma. Your WORDS are untouched; only the dash between them moved. It also cut the refusal rate sharply: 33 clips were regenerated after the change and all 33 came back on the lesson's own voice, though a later duration check still caught 4 of them short and those were re-taken. Tell me if you want the dash back and I will flag those clips for human recording instead.</a:t>
            </a:r>
          </a:p>
          <a:p>
            <a:pPr>
              <a:spcAft>
                <a:spcPts val="800"/>
              </a:spcAft>
            </a:pPr>
            <a:r>
              <a:rPr sz="1700">
                <a:solidFill>
                  <a:srgbClr val="1B2A44"/>
                </a:solidFill>
              </a:rPr>
              <a:t>• PLEASE CHECK 2 — ONE WORD SWAPPED FROM YOUR LIST. सिर → हिरण. सिर (head) and बाल (hair) would be nearly identical pictures at 116px on a sort tile, and बाल is in your required final set, so सिर is the one that moved. हिरण is also a single-ि word and is unmistakable as a picture. Nothing else in your word choices or wording changed. Say the word and I will put सिर back with a clearer illustration brief.</a:t>
            </a:r>
          </a:p>
          <a:p>
            <a:pPr>
              <a:spcAft>
                <a:spcPts val="800"/>
              </a:spcAft>
            </a:pPr>
            <a:r>
              <a:rPr sz="1700">
                <a:solidFill>
                  <a:srgbClr val="1B2A44"/>
                </a:solidFill>
              </a:rPr>
              <a:t>• PLEASE CHECK 3 — THE LANDING GREETING DIFFERS FROM THE SIBLING'S BY TWO WORDS, deliberately, and both are still your open ruling. This lesson says «स्विफ्टी» in Devanagari and «सीखेंगे»; the sibling lesson carries «swiftee» in Latin and «जानेगें», recorded verbatim from your note and never corrected without your say. One ruling settles both lessons.</a:t>
            </a:r>
          </a:p>
          <a:p>
            <a:pPr>
              <a:spcAft>
                <a:spcPts val="800"/>
              </a:spcAft>
            </a:pPr>
            <a:r>
              <a:rPr sz="1700">
                <a:solidFill>
                  <a:srgbClr val="1B2A44"/>
                </a:solidFill>
              </a:rPr>
              <a:t>• REGISTER IS TUM throughout, matching the Grade 2 sibling. The three phase-gate clips the engine plays BETWEEN phases are shared across the whole fleet and are still recorded in AAP («ध्यान से देखिए…», «अब आपकी बारी»), so Grade 2 still switches register at each gate. Same open ruling as the sibling lesson — one decision covers G2 and G3.</a:t>
            </a:r>
          </a:p>
          <a:p>
            <a:pPr>
              <a:spcAft>
                <a:spcPts val="800"/>
              </a:spcAft>
            </a:pPr>
            <a:r>
              <a:rPr sz="1700">
                <a:solidFill>
                  <a:srgbClr val="1B2A44"/>
                </a:solidFill>
              </a:rPr>
              <a:t>• TWO VOICE CLIPS ARE ON A DIFFERENT VOICE and it needs a wording tweak rather than a retry. The lesson is voiced by Kore. «फिर से सुनो, दिन।» and «यह दिन है। इसमें छोटी इ की मात्रा है।» are both truncated by the model on Kore no matter how many times they are retried — the word दिन specifically triggers it — and recovered on Aoede at full length. The other 85 clips recorded for this lesson are all on Kore (the remaining 8 are the shared phase-gate and sound-effect files, which are copied, not recorded). Reword those two lines and they come back on the lesson voice.</a:t>
            </a:r>
          </a:p>
          <a:p>
            <a:pPr>
              <a:spcAft>
                <a:spcPts val="800"/>
              </a:spcAft>
            </a:pPr>
            <a:r>
              <a:rPr sz="1700">
                <a:solidFill>
                  <a:srgbClr val="1B2A44"/>
                </a:solidFill>
              </a:rPr>
              <a:t>• MECHANIC MIX IS CHECKED AT BUILD TIME, not discovered afterwards. 14 test slides: drag 6 (43%), pick 8 (57%), against a 60% ceiling — two gesture families and two produce mechanics (the matra sort and the word-to-picture drag). The build now FAILS if that regresses, because the sibling lesson's first receipt flagged this gate after the art and voice had already been paid for.</a:t>
            </a:r>
          </a:p>
          <a:p>
            <a:pPr>
              <a:spcAft>
                <a:spcPts val="800"/>
              </a:spcAft>
            </a:pPr>
            <a:r>
              <a:rPr sz="1700">
                <a:solidFill>
                  <a:srgbClr val="1B2A44"/>
                </a:solidFill>
              </a:rPr>
              <a:t>• FOUR DEFECTS WERE FOUND AND FIXED DURING THE BUILD, all of which pass a naive check. (1) The landing letter strip rendered EMPTY and silently — this engine copy had no `letter` case in its tile renderer, even though it carries the same version string as the copy that does. (2) Two illustrations were WRONG rather than missing: the दिन sun came back as a plain yellow smiley with no rays, which reads as an emoji and not as «day», and the retry came back BLANK because separated rays defeat the background keying. (3) Six voice clips were TRUNCATED — present on disk, correct size, and cut off mid-sentence. (4) Four clips had their text edited while keeping the same clip id, so the OLD audio stayed on disk with nothing flagging it. The bundle now carries a checker for each of these; details on the last page.</a:t>
            </a:r>
          </a:p>
          <a:p>
            <a:pPr>
              <a:spcAft>
                <a:spcPts val="800"/>
              </a:spcAft>
            </a:pPr>
            <a:r>
              <a:rPr sz="1700">
                <a:solidFill>
                  <a:srgbClr val="1B2A44"/>
                </a:solidFill>
              </a:rPr>
              <a:t>• WHAT IS NOT DONE. The literal drag-a-matra-into-a-blank (your Screens 5-7) and tapping a matra inside a rendered word (your Screen 12) are engine asks, not card work, and I have not approximated them. Also still upstream: adding ी to the shared engine's right-spacing matra list so every lesson gets that highlight, and the concept_strip landing glow, which affects all 11 reference bundles that use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 · 01_landing.png</a:t>
            </a:r>
          </a:p>
        </p:txBody>
      </p:sp>
      <p:pic>
        <p:nvPicPr>
          <p:cNvPr id="3" name="Picture 2" descr="01_landing.png"/>
          <p:cNvPicPr>
            <a:picLocks noChangeAspect="1"/>
          </p:cNvPicPr>
          <p:nvPr/>
        </p:nvPicPr>
        <p:blipFill>
          <a:blip r:embed="rId3"/>
          <a:stretch>
            <a:fillRect/>
          </a:stretch>
        </p:blipFill>
        <p:spPr>
          <a:xfrm>
            <a:off x="174396" y="553967"/>
            <a:ext cx="7680960" cy="4298571"/>
          </a:xfrm>
          <a:prstGeom prst="rect">
            <a:avLst/>
          </a:prstGeom>
        </p:spPr>
      </p:pic>
      <p:pic>
        <p:nvPicPr>
          <p:cNvPr id="6" name="Picture 5" descr="A cartoon train with colorful boxes&#10;&#10;Description automatically generated">
            <a:extLst>
              <a:ext uri="{FF2B5EF4-FFF2-40B4-BE49-F238E27FC236}">
                <a16:creationId xmlns:a16="http://schemas.microsoft.com/office/drawing/2014/main" id="{476FC83B-31D8-D3DE-4650-CAB8D1F9BE5A}"/>
              </a:ext>
            </a:extLst>
          </p:cNvPr>
          <p:cNvPicPr>
            <a:picLocks noChangeAspect="1"/>
          </p:cNvPicPr>
          <p:nvPr/>
        </p:nvPicPr>
        <p:blipFill>
          <a:blip r:embed="rId4"/>
          <a:stretch>
            <a:fillRect/>
          </a:stretch>
        </p:blipFill>
        <p:spPr>
          <a:xfrm>
            <a:off x="7251622" y="4038550"/>
            <a:ext cx="4765982" cy="2682290"/>
          </a:xfrm>
          <a:prstGeom prst="rect">
            <a:avLst/>
          </a:prstGeom>
        </p:spPr>
      </p:pic>
      <p:sp>
        <p:nvSpPr>
          <p:cNvPr id="4" name="AutoShape 2" descr="Generated image">
            <a:extLst>
              <a:ext uri="{FF2B5EF4-FFF2-40B4-BE49-F238E27FC236}">
                <a16:creationId xmlns:a16="http://schemas.microsoft.com/office/drawing/2014/main" id="{56BEB108-9CB7-997B-D282-866B9EA258B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descr="A cartoon train with letters and numbers&#10;&#10;Description automatically generated">
            <a:extLst>
              <a:ext uri="{FF2B5EF4-FFF2-40B4-BE49-F238E27FC236}">
                <a16:creationId xmlns:a16="http://schemas.microsoft.com/office/drawing/2014/main" id="{3F000343-C753-CBAA-C915-B47FD2D7D99C}"/>
              </a:ext>
            </a:extLst>
          </p:cNvPr>
          <p:cNvPicPr>
            <a:picLocks noChangeAspect="1"/>
          </p:cNvPicPr>
          <p:nvPr/>
        </p:nvPicPr>
        <p:blipFill>
          <a:blip r:embed="rId5"/>
          <a:stretch>
            <a:fillRect/>
          </a:stretch>
        </p:blipFill>
        <p:spPr>
          <a:xfrm>
            <a:off x="7343775" y="1102607"/>
            <a:ext cx="4765980" cy="268228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2 · 02_INTRO.png</a:t>
            </a:r>
          </a:p>
        </p:txBody>
      </p:sp>
      <p:pic>
        <p:nvPicPr>
          <p:cNvPr id="3" name="Picture 2" descr="02_INTRO.png"/>
          <p:cNvPicPr>
            <a:picLocks noChangeAspect="1"/>
          </p:cNvPicPr>
          <p:nvPr/>
        </p:nvPicPr>
        <p:blipFill>
          <a:blip r:embed="rId3"/>
          <a:stretch>
            <a:fillRect/>
          </a:stretch>
        </p:blipFill>
        <p:spPr>
          <a:xfrm>
            <a:off x="365760" y="731520"/>
            <a:ext cx="7680960" cy="429857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dirty="0">
                <a:solidFill>
                  <a:srgbClr val="0B3D8C"/>
                </a:solidFill>
              </a:rPr>
              <a:t>Page 3 · 03_MEET_LETTER.png</a:t>
            </a:r>
          </a:p>
        </p:txBody>
      </p:sp>
      <p:pic>
        <p:nvPicPr>
          <p:cNvPr id="8" name="Picture 7" descr="A screenshot of a video game&#10;&#10;Description automatically generated">
            <a:extLst>
              <a:ext uri="{FF2B5EF4-FFF2-40B4-BE49-F238E27FC236}">
                <a16:creationId xmlns:a16="http://schemas.microsoft.com/office/drawing/2014/main" id="{37DE9595-8E8C-25E8-E25B-07ADF6F6AD0E}"/>
              </a:ext>
            </a:extLst>
          </p:cNvPr>
          <p:cNvPicPr>
            <a:picLocks noChangeAspect="1"/>
          </p:cNvPicPr>
          <p:nvPr/>
        </p:nvPicPr>
        <p:blipFill>
          <a:blip r:embed="rId3"/>
          <a:stretch>
            <a:fillRect/>
          </a:stretch>
        </p:blipFill>
        <p:spPr>
          <a:xfrm>
            <a:off x="365760" y="685800"/>
            <a:ext cx="8188894" cy="460870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video game&#10;&#10;Description automatically generated">
            <a:extLst>
              <a:ext uri="{FF2B5EF4-FFF2-40B4-BE49-F238E27FC236}">
                <a16:creationId xmlns:a16="http://schemas.microsoft.com/office/drawing/2014/main" id="{B0BD876A-D20D-3655-5051-FE90843FB906}"/>
              </a:ext>
            </a:extLst>
          </p:cNvPr>
          <p:cNvPicPr>
            <a:picLocks noChangeAspect="1"/>
          </p:cNvPicPr>
          <p:nvPr/>
        </p:nvPicPr>
        <p:blipFill>
          <a:blip r:embed="rId3"/>
          <a:stretch>
            <a:fillRect/>
          </a:stretch>
        </p:blipFill>
        <p:spPr>
          <a:xfrm>
            <a:off x="904240" y="642526"/>
            <a:ext cx="8646160" cy="4837733"/>
          </a:xfrm>
          <a:prstGeom prst="rect">
            <a:avLst/>
          </a:prstGeom>
        </p:spPr>
      </p:pic>
    </p:spTree>
    <p:extLst>
      <p:ext uri="{BB962C8B-B14F-4D97-AF65-F5344CB8AC3E}">
        <p14:creationId xmlns:p14="http://schemas.microsoft.com/office/powerpoint/2010/main" val="3474178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video game&#10;&#10;Description automatically generated">
            <a:extLst>
              <a:ext uri="{FF2B5EF4-FFF2-40B4-BE49-F238E27FC236}">
                <a16:creationId xmlns:a16="http://schemas.microsoft.com/office/drawing/2014/main" id="{5D7DEDE5-5415-0918-BF68-B7099783B10F}"/>
              </a:ext>
            </a:extLst>
          </p:cNvPr>
          <p:cNvPicPr>
            <a:picLocks noChangeAspect="1"/>
          </p:cNvPicPr>
          <p:nvPr/>
        </p:nvPicPr>
        <p:blipFill>
          <a:blip r:embed="rId3"/>
          <a:stretch>
            <a:fillRect/>
          </a:stretch>
        </p:blipFill>
        <p:spPr>
          <a:xfrm>
            <a:off x="165164" y="0"/>
            <a:ext cx="8885276" cy="5000625"/>
          </a:xfrm>
          <a:prstGeom prst="rect">
            <a:avLst/>
          </a:prstGeom>
        </p:spPr>
      </p:pic>
    </p:spTree>
    <p:extLst>
      <p:ext uri="{BB962C8B-B14F-4D97-AF65-F5344CB8AC3E}">
        <p14:creationId xmlns:p14="http://schemas.microsoft.com/office/powerpoint/2010/main" val="3183665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4 · 04_MEET_LETTER.png</a:t>
            </a:r>
          </a:p>
        </p:txBody>
      </p:sp>
      <p:pic>
        <p:nvPicPr>
          <p:cNvPr id="3" name="Picture 2" descr="04_MEET_LETTER.png"/>
          <p:cNvPicPr>
            <a:picLocks noChangeAspect="1"/>
          </p:cNvPicPr>
          <p:nvPr/>
        </p:nvPicPr>
        <p:blipFill>
          <a:blip r:embed="rId3"/>
          <a:stretch>
            <a:fillRect/>
          </a:stretch>
        </p:blipFill>
        <p:spPr>
          <a:xfrm>
            <a:off x="365760" y="731520"/>
            <a:ext cx="7680960" cy="429857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video game&#10;&#10;Description automatically generated">
            <a:extLst>
              <a:ext uri="{FF2B5EF4-FFF2-40B4-BE49-F238E27FC236}">
                <a16:creationId xmlns:a16="http://schemas.microsoft.com/office/drawing/2014/main" id="{22BD4D79-0BBF-F75B-88BA-8C7591513F41}"/>
              </a:ext>
            </a:extLst>
          </p:cNvPr>
          <p:cNvPicPr>
            <a:picLocks noChangeAspect="1"/>
          </p:cNvPicPr>
          <p:nvPr/>
        </p:nvPicPr>
        <p:blipFill>
          <a:blip r:embed="rId3"/>
          <a:stretch>
            <a:fillRect/>
          </a:stretch>
        </p:blipFill>
        <p:spPr>
          <a:xfrm>
            <a:off x="127064" y="0"/>
            <a:ext cx="8462168" cy="4762500"/>
          </a:xfrm>
          <a:prstGeom prst="rect">
            <a:avLst/>
          </a:prstGeom>
        </p:spPr>
      </p:pic>
    </p:spTree>
    <p:extLst>
      <p:ext uri="{BB962C8B-B14F-4D97-AF65-F5344CB8AC3E}">
        <p14:creationId xmlns:p14="http://schemas.microsoft.com/office/powerpoint/2010/main" val="1702458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5 · 05_MEET_LETTER.png</a:t>
            </a:r>
          </a:p>
        </p:txBody>
      </p:sp>
      <p:pic>
        <p:nvPicPr>
          <p:cNvPr id="3" name="Picture 2" descr="05_MEET_LETTER.png"/>
          <p:cNvPicPr>
            <a:picLocks noChangeAspect="1"/>
          </p:cNvPicPr>
          <p:nvPr/>
        </p:nvPicPr>
        <p:blipFill>
          <a:blip r:embed="rId3"/>
          <a:stretch>
            <a:fillRect/>
          </a:stretch>
        </p:blipFill>
        <p:spPr>
          <a:xfrm>
            <a:off x="365760" y="731520"/>
            <a:ext cx="7680960" cy="42985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6 · 06_TAP_LETTER_BY_PICTURE.png</a:t>
            </a:r>
          </a:p>
        </p:txBody>
      </p:sp>
      <p:pic>
        <p:nvPicPr>
          <p:cNvPr id="3" name="Picture 2" descr="06_TAP_LETTER_BY_PICTURE.png"/>
          <p:cNvPicPr>
            <a:picLocks noChangeAspect="1"/>
          </p:cNvPicPr>
          <p:nvPr/>
        </p:nvPicPr>
        <p:blipFill>
          <a:blip r:embed="rId3"/>
          <a:stretch>
            <a:fillRect/>
          </a:stretch>
        </p:blipFill>
        <p:spPr>
          <a:xfrm>
            <a:off x="365760" y="731520"/>
            <a:ext cx="7680960" cy="4298571"/>
          </a:xfrm>
          <a:prstGeom prst="rect">
            <a:avLst/>
          </a:prstGeom>
        </p:spPr>
      </p:pic>
      <p:sp>
        <p:nvSpPr>
          <p:cNvPr id="5" name="AutoShape 2" descr="Image 20">
            <a:extLst>
              <a:ext uri="{FF2B5EF4-FFF2-40B4-BE49-F238E27FC236}">
                <a16:creationId xmlns:a16="http://schemas.microsoft.com/office/drawing/2014/main" id="{664FC71B-5BE2-9249-8036-AD3FB24635F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descr="A cartoon train with colorful train cars&#10;&#10;Description automatically generated">
            <a:extLst>
              <a:ext uri="{FF2B5EF4-FFF2-40B4-BE49-F238E27FC236}">
                <a16:creationId xmlns:a16="http://schemas.microsoft.com/office/drawing/2014/main" id="{3C297169-36BE-4759-4D28-B6AEB6F07402}"/>
              </a:ext>
            </a:extLst>
          </p:cNvPr>
          <p:cNvPicPr>
            <a:picLocks noChangeAspect="1"/>
          </p:cNvPicPr>
          <p:nvPr/>
        </p:nvPicPr>
        <p:blipFill>
          <a:blip r:embed="rId4"/>
          <a:stretch>
            <a:fillRect/>
          </a:stretch>
        </p:blipFill>
        <p:spPr>
          <a:xfrm>
            <a:off x="365760" y="731520"/>
            <a:ext cx="7680960" cy="432283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6 · 06_TAP_LETTER_BY_PICTURE.png</a:t>
            </a:r>
          </a:p>
        </p:txBody>
      </p:sp>
      <p:pic>
        <p:nvPicPr>
          <p:cNvPr id="3" name="Picture 2" descr="06_TAP_LETTER_BY_PICTURE.png"/>
          <p:cNvPicPr>
            <a:picLocks noChangeAspect="1"/>
          </p:cNvPicPr>
          <p:nvPr/>
        </p:nvPicPr>
        <p:blipFill>
          <a:blip r:embed="rId3"/>
          <a:stretch>
            <a:fillRect/>
          </a:stretch>
        </p:blipFill>
        <p:spPr>
          <a:xfrm>
            <a:off x="365760" y="731520"/>
            <a:ext cx="7680960" cy="4298571"/>
          </a:xfrm>
          <a:prstGeom prst="rect">
            <a:avLst/>
          </a:prstGeom>
        </p:spPr>
      </p:pic>
      <p:sp>
        <p:nvSpPr>
          <p:cNvPr id="5" name="AutoShape 2" descr="Image 20">
            <a:extLst>
              <a:ext uri="{FF2B5EF4-FFF2-40B4-BE49-F238E27FC236}">
                <a16:creationId xmlns:a16="http://schemas.microsoft.com/office/drawing/2014/main" id="{664FC71B-5BE2-9249-8036-AD3FB24635F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descr="A cartoon train with colorful train cars&#10;&#10;Description automatically generated">
            <a:extLst>
              <a:ext uri="{FF2B5EF4-FFF2-40B4-BE49-F238E27FC236}">
                <a16:creationId xmlns:a16="http://schemas.microsoft.com/office/drawing/2014/main" id="{3C297169-36BE-4759-4D28-B6AEB6F07402}"/>
              </a:ext>
            </a:extLst>
          </p:cNvPr>
          <p:cNvPicPr>
            <a:picLocks noChangeAspect="1"/>
          </p:cNvPicPr>
          <p:nvPr/>
        </p:nvPicPr>
        <p:blipFill>
          <a:blip r:embed="rId4"/>
          <a:stretch>
            <a:fillRect/>
          </a:stretch>
        </p:blipFill>
        <p:spPr>
          <a:xfrm>
            <a:off x="259228" y="731520"/>
            <a:ext cx="7637844" cy="4298571"/>
          </a:xfrm>
          <a:prstGeom prst="rect">
            <a:avLst/>
          </a:prstGeom>
        </p:spPr>
      </p:pic>
    </p:spTree>
    <p:extLst>
      <p:ext uri="{BB962C8B-B14F-4D97-AF65-F5344CB8AC3E}">
        <p14:creationId xmlns:p14="http://schemas.microsoft.com/office/powerpoint/2010/main" val="1557019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6 · 06_TAP_LETTER_BY_PICTURE.png</a:t>
            </a:r>
          </a:p>
        </p:txBody>
      </p:sp>
      <p:pic>
        <p:nvPicPr>
          <p:cNvPr id="3" name="Picture 2" descr="06_TAP_LETTER_BY_PICTURE.png"/>
          <p:cNvPicPr>
            <a:picLocks noChangeAspect="1"/>
          </p:cNvPicPr>
          <p:nvPr/>
        </p:nvPicPr>
        <p:blipFill>
          <a:blip r:embed="rId3"/>
          <a:stretch>
            <a:fillRect/>
          </a:stretch>
        </p:blipFill>
        <p:spPr>
          <a:xfrm>
            <a:off x="365760" y="731520"/>
            <a:ext cx="7680960" cy="4298571"/>
          </a:xfrm>
          <a:prstGeom prst="rect">
            <a:avLst/>
          </a:prstGeom>
        </p:spPr>
      </p:pic>
      <p:sp>
        <p:nvSpPr>
          <p:cNvPr id="5" name="AutoShape 2" descr="Image 20">
            <a:extLst>
              <a:ext uri="{FF2B5EF4-FFF2-40B4-BE49-F238E27FC236}">
                <a16:creationId xmlns:a16="http://schemas.microsoft.com/office/drawing/2014/main" id="{664FC71B-5BE2-9249-8036-AD3FB24635F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descr="A cartoon train with colorful train cars&#10;&#10;Description automatically generated">
            <a:extLst>
              <a:ext uri="{FF2B5EF4-FFF2-40B4-BE49-F238E27FC236}">
                <a16:creationId xmlns:a16="http://schemas.microsoft.com/office/drawing/2014/main" id="{3C297169-36BE-4759-4D28-B6AEB6F07402}"/>
              </a:ext>
            </a:extLst>
          </p:cNvPr>
          <p:cNvPicPr>
            <a:picLocks noChangeAspect="1"/>
          </p:cNvPicPr>
          <p:nvPr/>
        </p:nvPicPr>
        <p:blipFill>
          <a:blip r:embed="rId4"/>
          <a:stretch>
            <a:fillRect/>
          </a:stretch>
        </p:blipFill>
        <p:spPr>
          <a:xfrm>
            <a:off x="365760" y="2831680"/>
            <a:ext cx="6774992" cy="3812959"/>
          </a:xfrm>
          <a:prstGeom prst="rect">
            <a:avLst/>
          </a:prstGeom>
        </p:spPr>
      </p:pic>
    </p:spTree>
    <p:extLst>
      <p:ext uri="{BB962C8B-B14F-4D97-AF65-F5344CB8AC3E}">
        <p14:creationId xmlns:p14="http://schemas.microsoft.com/office/powerpoint/2010/main" val="3512650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9 · 09_SORT_VACHAN.png</a:t>
            </a:r>
          </a:p>
        </p:txBody>
      </p:sp>
      <p:pic>
        <p:nvPicPr>
          <p:cNvPr id="3" name="Picture 2" descr="09_SORT_VACHAN.png"/>
          <p:cNvPicPr>
            <a:picLocks noChangeAspect="1"/>
          </p:cNvPicPr>
          <p:nvPr/>
        </p:nvPicPr>
        <p:blipFill>
          <a:blip r:embed="rId3"/>
          <a:stretch>
            <a:fillRect/>
          </a:stretch>
        </p:blipFill>
        <p:spPr>
          <a:xfrm>
            <a:off x="365760" y="731520"/>
            <a:ext cx="7680960" cy="4298571"/>
          </a:xfrm>
          <a:prstGeom prst="rect">
            <a:avLst/>
          </a:prstGeom>
        </p:spPr>
      </p:pic>
      <p:sp>
        <p:nvSpPr>
          <p:cNvPr id="4" name="TextBox 3"/>
          <p:cNvSpPr txBox="1"/>
          <p:nvPr/>
        </p:nvSpPr>
        <p:spPr>
          <a:xfrm>
            <a:off x="8229600" y="731520"/>
            <a:ext cx="3596335" cy="292388"/>
          </a:xfrm>
          <a:prstGeom prst="rect">
            <a:avLst/>
          </a:prstGeom>
          <a:noFill/>
        </p:spPr>
        <p:txBody>
          <a:bodyPr wrap="square">
            <a:spAutoFit/>
          </a:bodyPr>
          <a:lstStyle/>
          <a:p>
            <a:endParaRPr sz="1300" dirty="0">
              <a:solidFill>
                <a:srgbClr val="1B2A44"/>
              </a:solidFill>
            </a:endParaRPr>
          </a:p>
        </p:txBody>
      </p:sp>
      <p:pic>
        <p:nvPicPr>
          <p:cNvPr id="6" name="Picture 5">
            <a:extLst>
              <a:ext uri="{FF2B5EF4-FFF2-40B4-BE49-F238E27FC236}">
                <a16:creationId xmlns:a16="http://schemas.microsoft.com/office/drawing/2014/main" id="{CEF3B9B7-C963-97E2-7F9B-F91711E592DB}"/>
              </a:ext>
            </a:extLst>
          </p:cNvPr>
          <p:cNvPicPr>
            <a:picLocks noChangeAspect="1"/>
          </p:cNvPicPr>
          <p:nvPr/>
        </p:nvPicPr>
        <p:blipFill>
          <a:blip r:embed="rId4"/>
          <a:stretch>
            <a:fillRect/>
          </a:stretch>
        </p:blipFill>
        <p:spPr>
          <a:xfrm>
            <a:off x="365760" y="442861"/>
            <a:ext cx="9449359" cy="531809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artoon train with letters on it&#10;&#10;Description automatically generated">
            <a:extLst>
              <a:ext uri="{FF2B5EF4-FFF2-40B4-BE49-F238E27FC236}">
                <a16:creationId xmlns:a16="http://schemas.microsoft.com/office/drawing/2014/main" id="{464A74D2-78E1-D585-1A64-C22F0F0961E0}"/>
              </a:ext>
            </a:extLst>
          </p:cNvPr>
          <p:cNvPicPr>
            <a:picLocks noChangeAspect="1"/>
          </p:cNvPicPr>
          <p:nvPr/>
        </p:nvPicPr>
        <p:blipFill>
          <a:blip r:embed="rId3"/>
          <a:stretch>
            <a:fillRect/>
          </a:stretch>
        </p:blipFill>
        <p:spPr>
          <a:xfrm>
            <a:off x="190720" y="237744"/>
            <a:ext cx="9017289" cy="5074920"/>
          </a:xfrm>
          <a:prstGeom prst="rect">
            <a:avLst/>
          </a:prstGeom>
        </p:spPr>
      </p:pic>
    </p:spTree>
    <p:extLst>
      <p:ext uri="{BB962C8B-B14F-4D97-AF65-F5344CB8AC3E}">
        <p14:creationId xmlns:p14="http://schemas.microsoft.com/office/powerpoint/2010/main" val="1002956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artoon train on a track&#10;&#10;Description automatically generated">
            <a:extLst>
              <a:ext uri="{FF2B5EF4-FFF2-40B4-BE49-F238E27FC236}">
                <a16:creationId xmlns:a16="http://schemas.microsoft.com/office/drawing/2014/main" id="{5FAF6A67-E1C6-E4FB-297B-A9591F321A00}"/>
              </a:ext>
            </a:extLst>
          </p:cNvPr>
          <p:cNvPicPr>
            <a:picLocks noChangeAspect="1"/>
          </p:cNvPicPr>
          <p:nvPr/>
        </p:nvPicPr>
        <p:blipFill>
          <a:blip r:embed="rId3"/>
          <a:stretch>
            <a:fillRect/>
          </a:stretch>
        </p:blipFill>
        <p:spPr>
          <a:xfrm>
            <a:off x="215582" y="259084"/>
            <a:ext cx="9468593" cy="5328916"/>
          </a:xfrm>
          <a:prstGeom prst="rect">
            <a:avLst/>
          </a:prstGeom>
        </p:spPr>
      </p:pic>
    </p:spTree>
    <p:extLst>
      <p:ext uri="{BB962C8B-B14F-4D97-AF65-F5344CB8AC3E}">
        <p14:creationId xmlns:p14="http://schemas.microsoft.com/office/powerpoint/2010/main" val="5604754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artoon train with different colored boxes&#10;&#10;Description automatically generated">
            <a:extLst>
              <a:ext uri="{FF2B5EF4-FFF2-40B4-BE49-F238E27FC236}">
                <a16:creationId xmlns:a16="http://schemas.microsoft.com/office/drawing/2014/main" id="{2B708665-6FFB-0F00-1D42-98472303F014}"/>
              </a:ext>
            </a:extLst>
          </p:cNvPr>
          <p:cNvPicPr>
            <a:picLocks noChangeAspect="1"/>
          </p:cNvPicPr>
          <p:nvPr/>
        </p:nvPicPr>
        <p:blipFill>
          <a:blip r:embed="rId3"/>
          <a:stretch>
            <a:fillRect/>
          </a:stretch>
        </p:blipFill>
        <p:spPr>
          <a:xfrm>
            <a:off x="422339" y="228599"/>
            <a:ext cx="8005212" cy="4505325"/>
          </a:xfrm>
          <a:prstGeom prst="rect">
            <a:avLst/>
          </a:prstGeom>
        </p:spPr>
      </p:pic>
    </p:spTree>
    <p:extLst>
      <p:ext uri="{BB962C8B-B14F-4D97-AF65-F5344CB8AC3E}">
        <p14:creationId xmlns:p14="http://schemas.microsoft.com/office/powerpoint/2010/main" val="3749678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game&#10;&#10;Description automatically generated">
            <a:extLst>
              <a:ext uri="{FF2B5EF4-FFF2-40B4-BE49-F238E27FC236}">
                <a16:creationId xmlns:a16="http://schemas.microsoft.com/office/drawing/2014/main" id="{B6318631-E198-98FB-7AB4-7E606DB0DAB4}"/>
              </a:ext>
            </a:extLst>
          </p:cNvPr>
          <p:cNvPicPr>
            <a:picLocks noChangeAspect="1"/>
          </p:cNvPicPr>
          <p:nvPr/>
        </p:nvPicPr>
        <p:blipFill>
          <a:blip r:embed="rId3"/>
          <a:stretch>
            <a:fillRect/>
          </a:stretch>
        </p:blipFill>
        <p:spPr>
          <a:xfrm>
            <a:off x="203265" y="219074"/>
            <a:ext cx="8462170" cy="4762501"/>
          </a:xfrm>
          <a:prstGeom prst="rect">
            <a:avLst/>
          </a:prstGeom>
        </p:spPr>
      </p:pic>
    </p:spTree>
    <p:extLst>
      <p:ext uri="{BB962C8B-B14F-4D97-AF65-F5344CB8AC3E}">
        <p14:creationId xmlns:p14="http://schemas.microsoft.com/office/powerpoint/2010/main" val="851614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20 · 20_CELEBRATION.png</a:t>
            </a:r>
          </a:p>
        </p:txBody>
      </p:sp>
      <p:pic>
        <p:nvPicPr>
          <p:cNvPr id="3" name="Picture 2" descr="20_CELEBRATION.png"/>
          <p:cNvPicPr>
            <a:picLocks noChangeAspect="1"/>
          </p:cNvPicPr>
          <p:nvPr/>
        </p:nvPicPr>
        <p:blipFill>
          <a:blip r:embed="rId2"/>
          <a:stretch>
            <a:fillRect/>
          </a:stretch>
        </p:blipFill>
        <p:spPr>
          <a:xfrm>
            <a:off x="365760" y="731520"/>
            <a:ext cx="7680960" cy="4298571"/>
          </a:xfrm>
          <a:prstGeom prst="rect">
            <a:avLst/>
          </a:prstGeom>
        </p:spPr>
      </p:pic>
      <p:sp>
        <p:nvSpPr>
          <p:cNvPr id="4" name="TextBox 3"/>
          <p:cNvSpPr txBox="1"/>
          <p:nvPr/>
        </p:nvSpPr>
        <p:spPr>
          <a:xfrm>
            <a:off x="8229600" y="731520"/>
            <a:ext cx="3596335" cy="5760720"/>
          </a:xfrm>
          <a:prstGeom prst="rect">
            <a:avLst/>
          </a:prstGeom>
          <a:noFill/>
        </p:spPr>
        <p:txBody>
          <a:bodyPr wrap="square">
            <a:spAutoFit/>
          </a:bodyPr>
          <a:lstStyle/>
          <a:p>
            <a:r>
              <a:rPr sz="1600" b="1">
                <a:solidFill>
                  <a:srgbClr val="0B3D8C"/>
                </a:solidFill>
              </a:rPr>
              <a:t>Recommendations</a:t>
            </a:r>
          </a:p>
          <a:p>
            <a:r>
              <a:rPr sz="1300">
                <a:solidFill>
                  <a:srgbClr val="1B2A44"/>
                </a:solidFill>
              </a:rPr>
              <a:t>• CELEBRATION — recaps the SKILL, not just the three matras: «आज हमने सीखा — आ, इ और ई की मात्रा पहचानना, और मात्रा वाले शब्द पढ़ना।» No score, no timer, no stars shown to the child (house rule); first-try data goes to telemetry only.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1853</TotalTime>
  <Words>6713</Words>
  <Application>Microsoft Office PowerPoint</Application>
  <PresentationFormat>Widescreen</PresentationFormat>
  <Paragraphs>710</Paragraphs>
  <Slides>19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Aamir .</cp:lastModifiedBy>
  <cp:revision>5</cp:revision>
  <dcterms:created xsi:type="dcterms:W3CDTF">2013-01-27T09:14:16Z</dcterms:created>
  <dcterms:modified xsi:type="dcterms:W3CDTF">2026-09-16T17:02:02Z</dcterms:modified>
  <cp:category/>
</cp:coreProperties>
</file>