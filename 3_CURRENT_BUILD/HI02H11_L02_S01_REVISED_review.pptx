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377440"/>
            <a:ext cx="1072865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0B3D8C"/>
                </a:solidFill>
              </a:rPr>
              <a:t>HI02H11_L02_S01 — मात्राओं की रेल</a:t>
            </a:r>
          </a:p>
          <a:p>
            <a:pPr algn="ctr"/>
            <a:r>
              <a:rPr sz="1800">
                <a:solidFill>
                  <a:srgbClr val="5A6678"/>
                </a:solidFill>
              </a:rPr>
              <a:t>Page-by-page review · 17 pages</a:t>
            </a:r>
          </a:p>
          <a:p>
            <a:pPr algn="ctr"/>
            <a:r>
              <a:rPr sz="1200">
                <a:solidFill>
                  <a:srgbClr val="5A6678"/>
                </a:solidFill>
              </a:rPr>
              <a:t>reviewing build a1e0bddfe622  (HI02H11_L02_S01.html)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B3D8C"/>
                </a:solidFill>
              </a:rPr>
              <a:t>Page 1 · 00_landing.png</a:t>
            </a:r>
          </a:p>
        </p:txBody>
      </p:sp>
      <p:pic>
        <p:nvPicPr>
          <p:cNvPr id="3" name="Picture 2" descr="00_lan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31520"/>
            <a:ext cx="7680960" cy="371283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0" y="731520"/>
            <a:ext cx="3596335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B3D8C"/>
                </a:solidFill>
              </a:rPr>
              <a:t>Recommendations</a:t>
            </a:r>
          </a:p>
          <a:p>
            <a:r>
              <a:rPr sz="1300">
                <a:solidFill>
                  <a:srgbClr val="1B2A44"/>
                </a:solidFill>
              </a:rPr>
              <a:t>• Cover — deck page 3. Title «मात्राओं की रेल», all extra text removed. YOUR animated train (train.gif, re-encoded to 287KB) with the three matra boxes ा ि ी on its coach panels; they appear one by one after the landing VO ends. Right-to-left entry + arrival SFX.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B3D8C"/>
                </a:solidFill>
              </a:rPr>
              <a:t>Page 2 · 01_T1_MATRA_PAIRS.png</a:t>
            </a:r>
          </a:p>
        </p:txBody>
      </p:sp>
      <p:pic>
        <p:nvPicPr>
          <p:cNvPr id="3" name="Picture 2" descr="01_T1_MATRA_PAI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31520"/>
            <a:ext cx="7680960" cy="371283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0" y="731520"/>
            <a:ext cx="3596335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B3D8C"/>
                </a:solidFill>
              </a:rPr>
              <a:t>Recommendations</a:t>
            </a:r>
          </a:p>
          <a:p>
            <a:r>
              <a:rPr sz="1300">
                <a:solidFill>
                  <a:srgbClr val="1B2A44"/>
                </a:solidFill>
              </a:rPr>
              <a:t>• Screen 1 · MATRA_PAIRS — deck page 4, reworked. Nothing on screen at mount; the LETTER lands alone first, then its matra pops in beside it with a soft glow. Matras are now BRIGHT ORANGE (#FF8A00); letters and arrows unchanged. Taught pairs fade slightly and stay faded. No card frames. Next disabled until all three are shown AND spoken.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B3D8C"/>
                </a:solidFill>
              </a:rPr>
              <a:t>Page 3 · 02_T2_MATRA_BUILD.png</a:t>
            </a:r>
          </a:p>
        </p:txBody>
      </p:sp>
      <p:pic>
        <p:nvPicPr>
          <p:cNvPr id="3" name="Picture 2" descr="02_T2_MATRA_BUI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31520"/>
            <a:ext cx="7680960" cy="371283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0" y="731520"/>
            <a:ext cx="3596335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B3D8C"/>
                </a:solidFill>
              </a:rPr>
              <a:t>Recommendations</a:t>
            </a:r>
          </a:p>
          <a:p>
            <a:r>
              <a:rPr sz="1300">
                <a:solidFill>
                  <a:srgbClr val="1B2A44"/>
                </a:solidFill>
              </a:rPr>
              <a:t>• Screen 2 · MATRA_BUILD जल→जा→जाल — rows #25-#39. Ten-step staging, each step gated on the previous clip ENDING.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B3D8C"/>
                </a:solidFill>
              </a:rPr>
              <a:t>Page 4 · 03_T3_MEET_EXAMPLES.png</a:t>
            </a:r>
          </a:p>
        </p:txBody>
      </p:sp>
      <p:pic>
        <p:nvPicPr>
          <p:cNvPr id="3" name="Picture 2" descr="03_T3_MEET_EXAMP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31520"/>
            <a:ext cx="7680960" cy="371283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0" y="731520"/>
            <a:ext cx="3596335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B3D8C"/>
                </a:solidFill>
              </a:rPr>
              <a:t>Recommendations</a:t>
            </a:r>
          </a:p>
          <a:p>
            <a:r>
              <a:rPr sz="1300">
                <a:solidFill>
                  <a:srgbClr val="1B2A44"/>
                </a:solidFill>
              </a:rPr>
              <a:t>• Screen 3 · examples नाक / मटका — rows #40-#50.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B3D8C"/>
                </a:solidFill>
              </a:rPr>
              <a:t>Page 5 · 04_T4_MATRA_BUILD.png</a:t>
            </a:r>
          </a:p>
        </p:txBody>
      </p:sp>
      <p:pic>
        <p:nvPicPr>
          <p:cNvPr id="3" name="Picture 2" descr="04_T4_MATRA_BUI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31520"/>
            <a:ext cx="7680960" cy="371283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0" y="731520"/>
            <a:ext cx="3596335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B3D8C"/>
                </a:solidFill>
              </a:rPr>
              <a:t>Recommendations</a:t>
            </a:r>
          </a:p>
          <a:p>
            <a:r>
              <a:rPr sz="1300">
                <a:solidFill>
                  <a:srgbClr val="1B2A44"/>
                </a:solidFill>
              </a:rPr>
              <a:t>• Screen 4 · MATRA_BUILD बल→बि→बिल — rows #51-#62. The ि travels to the LEFT of ब. It cannot be highlighted inside बिल (reordering matra), so it uses the ◌ि callout — rows #56/#70 flagged.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B3D8C"/>
                </a:solidFill>
              </a:rPr>
              <a:t>Page 6 · 05_T5_MEET_EXAMPLES.png</a:t>
            </a:r>
          </a:p>
        </p:txBody>
      </p:sp>
      <p:pic>
        <p:nvPicPr>
          <p:cNvPr id="3" name="Picture 2" descr="05_T5_MEET_EXAMP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31520"/>
            <a:ext cx="7680960" cy="371283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0" y="731520"/>
            <a:ext cx="3596335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B3D8C"/>
                </a:solidFill>
              </a:rPr>
              <a:t>Recommendations</a:t>
            </a:r>
          </a:p>
          <a:p>
            <a:r>
              <a:rPr sz="1300">
                <a:solidFill>
                  <a:srgbClr val="1B2A44"/>
                </a:solidFill>
              </a:rPr>
              <a:t>• Screen 5 · examples दिन / गति — rows #63-#72.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B3D8C"/>
                </a:solidFill>
              </a:rPr>
              <a:t>Page 7 · 06_T6_MATRA_BUILD.png</a:t>
            </a:r>
          </a:p>
        </p:txBody>
      </p:sp>
      <p:pic>
        <p:nvPicPr>
          <p:cNvPr id="3" name="Picture 2" descr="06_T6_MATRA_BUI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31520"/>
            <a:ext cx="7680960" cy="371283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0" y="731520"/>
            <a:ext cx="3596335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B3D8C"/>
                </a:solidFill>
              </a:rPr>
              <a:t>Recommendations</a:t>
            </a:r>
          </a:p>
          <a:p>
            <a:r>
              <a:rPr sz="1300">
                <a:solidFill>
                  <a:srgbClr val="1B2A44"/>
                </a:solidFill>
              </a:rPr>
              <a:t>• Screen 6 · MATRA_BUILD कल→की→कील — rows #73-#84.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B3D8C"/>
                </a:solidFill>
              </a:rPr>
              <a:t>Page 8 · 07_T7_MEET_EXAMPLES.png</a:t>
            </a:r>
          </a:p>
        </p:txBody>
      </p:sp>
      <p:pic>
        <p:nvPicPr>
          <p:cNvPr id="3" name="Picture 2" descr="07_T7_MEET_EXAMP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31520"/>
            <a:ext cx="7680960" cy="371283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0" y="731520"/>
            <a:ext cx="3596335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B3D8C"/>
                </a:solidFill>
              </a:rPr>
              <a:t>Recommendations</a:t>
            </a:r>
          </a:p>
          <a:p>
            <a:r>
              <a:rPr sz="1300">
                <a:solidFill>
                  <a:srgbClr val="1B2A44"/>
                </a:solidFill>
              </a:rPr>
              <a:t>• Screen 7 · examples तीर / लड़की — rows #85-#94.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B3D8C"/>
                </a:solidFill>
              </a:rPr>
              <a:t>Page 9 · 08_G1_TRAIN_TAP.png</a:t>
            </a:r>
          </a:p>
        </p:txBody>
      </p:sp>
      <p:pic>
        <p:nvPicPr>
          <p:cNvPr id="3" name="Picture 2" descr="08_G1_TRAIN_T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31520"/>
            <a:ext cx="7680960" cy="371283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0" y="731520"/>
            <a:ext cx="3596335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B3D8C"/>
                </a:solidFill>
              </a:rPr>
              <a:t>Recommendations</a:t>
            </a:r>
          </a:p>
          <a:p>
            <a:r>
              <a:rPr sz="1300">
                <a:solidFill>
                  <a:srgbClr val="1B2A44"/>
                </a:solidFill>
              </a:rPr>
              <a:t>• Screen 8 · TRAIN_TAP आ — rows #95-#106. Ladder proven by walk: rung1 hint + NO hand · rung2 hint + hand, nothing revealed · 3rd correct silent · 3rd wrong reaches the never-stuck reveal.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B3D8C"/>
                </a:solidFill>
              </a:rPr>
              <a:t>Page 10 · 09_G2_TRAIN_TAP.png</a:t>
            </a:r>
          </a:p>
        </p:txBody>
      </p:sp>
      <p:pic>
        <p:nvPicPr>
          <p:cNvPr id="3" name="Picture 2" descr="09_G2_TRAIN_T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31520"/>
            <a:ext cx="7680960" cy="371283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0" y="731520"/>
            <a:ext cx="3596335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B3D8C"/>
                </a:solidFill>
              </a:rPr>
              <a:t>Recommendations</a:t>
            </a:r>
          </a:p>
          <a:p>
            <a:r>
              <a:rPr sz="1300">
                <a:solidFill>
                  <a:srgbClr val="1B2A44"/>
                </a:solidFill>
              </a:rPr>
              <a:t>• Screen 9 · TRAIN_TAP छोटी इ — rows #107-#115, incl. your «छोटी इ not छोटी ई» correction.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B3D8C"/>
                </a:solidFill>
              </a:rPr>
              <a:t>Page 11 · 10_G3_TRAIN_TAP.png</a:t>
            </a:r>
          </a:p>
        </p:txBody>
      </p:sp>
      <p:pic>
        <p:nvPicPr>
          <p:cNvPr id="3" name="Picture 2" descr="10_G3_TRAIN_T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31520"/>
            <a:ext cx="7680960" cy="371283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0" y="731520"/>
            <a:ext cx="3596335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B3D8C"/>
                </a:solidFill>
              </a:rPr>
              <a:t>Recommendations</a:t>
            </a:r>
          </a:p>
          <a:p>
            <a:r>
              <a:rPr sz="1300">
                <a:solidFill>
                  <a:srgbClr val="1B2A44"/>
                </a:solidFill>
              </a:rPr>
              <a:t>• Screen 10 · TRAIN_TAP बड़ी ई — rows #116-#123. पानी carries both ा and ी — correct here, but the only non-single-matra test item.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B3D8C"/>
                </a:solidFill>
              </a:rPr>
              <a:t>Page 12 · 11_G4_TRAIN_SORT.png</a:t>
            </a:r>
          </a:p>
        </p:txBody>
      </p:sp>
      <p:pic>
        <p:nvPicPr>
          <p:cNvPr id="3" name="Picture 2" descr="11_G4_TRAIN_S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31520"/>
            <a:ext cx="7680960" cy="371283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0" y="731520"/>
            <a:ext cx="3596335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B3D8C"/>
                </a:solidFill>
              </a:rPr>
              <a:t>Recommendations</a:t>
            </a:r>
          </a:p>
          <a:p>
            <a:r>
              <a:rPr sz="1300">
                <a:solidFill>
                  <a:srgbClr val="1B2A44"/>
                </a:solidFill>
              </a:rPr>
              <a:t>• Screen 11 · TRAIN_SORT word→matra — rows #124-#136. Coach labels use your literal «आ (ा)» form.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B3D8C"/>
                </a:solidFill>
              </a:rPr>
              <a:t>Page 13 · 12_P1_TRAIN_SORT.png</a:t>
            </a:r>
          </a:p>
        </p:txBody>
      </p:sp>
      <p:pic>
        <p:nvPicPr>
          <p:cNvPr id="3" name="Picture 2" descr="12_P1_TRAIN_S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31520"/>
            <a:ext cx="7680960" cy="371283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0" y="731520"/>
            <a:ext cx="3596335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B3D8C"/>
                </a:solidFill>
              </a:rPr>
              <a:t>Recommendations</a:t>
            </a:r>
          </a:p>
          <a:p>
            <a:r>
              <a:rPr sz="1300">
                <a:solidFill>
                  <a:srgbClr val="1B2A44"/>
                </a:solidFill>
              </a:rPr>
              <a:t>• Screen 12 · TRAIN_SORT matra→word — rows #137-#145, the reverse mapping.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B3D8C"/>
                </a:solidFill>
              </a:rPr>
              <a:t>Page 14 · 13_P2_MATRA_FILL.png</a:t>
            </a:r>
          </a:p>
        </p:txBody>
      </p:sp>
      <p:pic>
        <p:nvPicPr>
          <p:cNvPr id="3" name="Picture 2" descr="13_P2_MATRA_FI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31520"/>
            <a:ext cx="7680960" cy="371283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0" y="731520"/>
            <a:ext cx="3596335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B3D8C"/>
                </a:solidFill>
              </a:rPr>
              <a:t>Recommendations</a:t>
            </a:r>
          </a:p>
          <a:p>
            <a:r>
              <a:rPr sz="1300">
                <a:solidFill>
                  <a:srgbClr val="1B2A44"/>
                </a:solidFill>
              </a:rPr>
              <a:t>• Screen 13 · MATRA_FILL — rows #146-#161. हीरा CORRECTED to हिरण. The blank sits in the matra's DRAWN position; the finished word re-renders as one shaped run so हिरण reads correctly.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B3D8C"/>
                </a:solidFill>
              </a:rPr>
              <a:t>Page 15 · 14_P3_TRAIN_SORT.png</a:t>
            </a:r>
          </a:p>
        </p:txBody>
      </p:sp>
      <p:pic>
        <p:nvPicPr>
          <p:cNvPr id="3" name="Picture 2" descr="14_P3_TRAIN_S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31520"/>
            <a:ext cx="7680960" cy="371283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0" y="731520"/>
            <a:ext cx="3596335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B3D8C"/>
                </a:solidFill>
              </a:rPr>
              <a:t>Recommendations</a:t>
            </a:r>
          </a:p>
          <a:p>
            <a:r>
              <a:rPr sz="1300">
                <a:solidFill>
                  <a:srgbClr val="1B2A44"/>
                </a:solidFill>
              </a:rPr>
              <a:t>• Screen 14 · TRAIN_SORT pictures only — rows #162-#176. No word text at any point.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B3D8C"/>
                </a:solidFill>
              </a:rPr>
              <a:t>Page 16 · 15_P4_POEM_SEARCH.png</a:t>
            </a:r>
          </a:p>
        </p:txBody>
      </p:sp>
      <p:pic>
        <p:nvPicPr>
          <p:cNvPr id="3" name="Picture 2" descr="15_P4_POEM_SE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31520"/>
            <a:ext cx="7680960" cy="371283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0" y="731520"/>
            <a:ext cx="3596335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B3D8C"/>
                </a:solidFill>
              </a:rPr>
              <a:t>Recommendations</a:t>
            </a:r>
          </a:p>
          <a:p>
            <a:r>
              <a:rPr sz="1300">
                <a:solidFill>
                  <a:srgbClr val="1B2A44"/>
                </a:solidFill>
              </a:rPr>
              <a:t>• Screen 15 · POEM_SEARCH — rows #177-#193. Scenery removed; lens + ghost guide. Target list completed per §4 Option 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B3D8C"/>
                </a:solidFill>
              </a:rPr>
              <a:t>Page 17 · 16_CEL_CELEBRATION.png</a:t>
            </a:r>
          </a:p>
        </p:txBody>
      </p:sp>
      <p:pic>
        <p:nvPicPr>
          <p:cNvPr id="3" name="Picture 2" descr="16_CEL_CELEB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31520"/>
            <a:ext cx="7680960" cy="371283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0" y="731520"/>
            <a:ext cx="3596335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B3D8C"/>
                </a:solidFill>
              </a:rPr>
              <a:t>Recommendations</a:t>
            </a:r>
          </a:p>
          <a:p>
            <a:r>
              <a:rPr sz="1300">
                <a:solidFill>
                  <a:srgbClr val="1B2A44"/>
                </a:solidFill>
              </a:rPr>
              <a:t>• Celebration — row #194. N/C, ships as built.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reviewing build a1e0bddfe622  (HI02H11_L02_S01.html)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